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Al Quoz unit is a working production facility. Do not use the website's 400+ figure — it reads as headcount and is qualified as teams and partnerships.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hinge. Stated once and never repeated — slide 16 echoes it without restating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tiles with client marks once naming consent is confirmed per client. A logo on a 2022 website is not consent to name a client in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Ramadan · Eid al-Fitr · Eid al-Adha · Diwali. Each an entire programme, not a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Confirmed by the client: KGS and Ferronato are two brands in one group. This slide is the hinge of the range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 the PR record and this slide is finished: publications with dates and tier, retail doors, awareness study, influencer reach, and which markets US and EU distribution covers.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films exist. Stills or the films themselves are the strongest asset on this case after the boutique photography.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Consent required — OPEC is intergovernmental and the Ministry federal. Still needed: the year, scope delivered, attendance. The website says 'OPEC events' plural.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argument. Everything after this slide is administration.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the limit alongside the claim is the house move. Confirm which disciplines are in-house. Also reconcile: the website publishes three pillars, the old deck five practices, this six.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rule must be true today, or it comes out. It is the easiest claim in the deck for a client's technical lead to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definition stage is real practice, and paid.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to five named people, not the org chart. Also state how many work in Arabic to professional standard — buyers ask and most UAE agencies answer vaguely.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eov-wordmar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381098"/>
            <a:ext cx="2476195" cy="82844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3619195"/>
            <a:ext cx="1082009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marketing  ·  Abu Dhabi and Dubai  ·  Since 2006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504749"/>
            <a:ext cx="108200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4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  ·  2026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6238951"/>
            <a:ext cx="7619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 · [TITLE] · [EMAIL] · [PHONE]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0"/>
            <a:ext cx="6248370" cy="685800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28893" y="3238805"/>
            <a:ext cx="5676870" cy="381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OR OFFICE PHOTOGRAPH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4749"/>
            <a:ext cx="108200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00100"/>
            <a:ext cx="4762195" cy="1904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80"/>
              </a:lnSpc>
              <a:buNone/>
            </a:pPr>
            <a:r>
              <a:rPr lang="en-US" sz="2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Emirati-founded integrated marketing agency, working in the UAE since 2006.</a:t>
            </a:r>
            <a:endParaRPr lang="en-US" sz="25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952598"/>
            <a:ext cx="476219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Abu Dhabi office · Dubai production facility. Six disciplines under one team.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095598"/>
            <a:ext cx="1447495" cy="437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572000"/>
            <a:ext cx="14100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2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EMIRATES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4095598"/>
            <a:ext cx="1447495" cy="437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85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4572000"/>
            <a:ext cx="14100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2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DISCIPLINES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86200" y="4095598"/>
            <a:ext cx="1447495" cy="437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850" dirty="0"/>
          </a:p>
        </p:txBody>
      </p:sp>
      <p:sp>
        <p:nvSpPr>
          <p:cNvPr id="12" name="Text 10"/>
          <p:cNvSpPr txBox="1"/>
          <p:nvPr/>
        </p:nvSpPr>
        <p:spPr>
          <a:xfrm>
            <a:off x="3886200" y="4572000"/>
            <a:ext cx="14100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2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</a:t>
            </a:r>
            <a:endParaRPr lang="en-US" sz="950" dirty="0"/>
          </a:p>
        </p:txBody>
      </p:sp>
      <p:pic>
        <p:nvPicPr>
          <p:cNvPr id="13" name="Image 0" descr="assets/eov-wordmark-blac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38951"/>
            <a:ext cx="571500" cy="19019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0668305" y="6238951"/>
            <a:ext cx="8385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4749"/>
            <a:ext cx="108200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PREMISE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0100"/>
            <a:ext cx="10820095" cy="1428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5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bought in pieces.</a:t>
            </a:r>
            <a:endParaRPr lang="en-US" sz="3400" dirty="0"/>
          </a:p>
          <a:p>
            <a:pPr indent="0" marL="0">
              <a:lnSpc>
                <a:spcPts val="405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answerable for the whole.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476195"/>
            <a:ext cx="7239305" cy="533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from one supplier, media from another, the website from a third. Each part is delivered competently. The value is lost in the joins.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3810305"/>
            <a:ext cx="10820095" cy="1143000"/>
          </a:xfrm>
          <a:prstGeom prst="roundRect">
            <a:avLst>
              <a:gd name="adj" fmla="val 8320"/>
            </a:avLst>
          </a:prstGeom>
          <a:solidFill>
            <a:srgbClr val="11111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67105" y="3810305"/>
            <a:ext cx="10058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works — until something cannot be done twice.</a:t>
            </a:r>
            <a:endParaRPr lang="en-US" sz="1900" dirty="0"/>
          </a:p>
        </p:txBody>
      </p:sp>
      <p:pic>
        <p:nvPicPr>
          <p:cNvPr id="7" name="Image 0" descr="assets/eov-wordmark-blac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38951"/>
            <a:ext cx="571500" cy="19019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68305" y="6238951"/>
            <a:ext cx="8385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4749"/>
            <a:ext cx="108200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4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EOV IS FOR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0100"/>
            <a:ext cx="10820095" cy="2190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95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Twenty years of work that had to be right the first time.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429000"/>
            <a:ext cx="8382305" cy="533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B9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national event staged abroad on a fixed date. A retail season that arrives whether the work is ready or not. A category-first launch with one window.</a:t>
            </a:r>
            <a:endParaRPr lang="en-US" sz="1300" dirty="0"/>
          </a:p>
        </p:txBody>
      </p:sp>
      <p:pic>
        <p:nvPicPr>
          <p:cNvPr id="5" name="Image 0" descr="assets/eov-wordmar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38951"/>
            <a:ext cx="571500" cy="19019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668305" y="6238951"/>
            <a:ext cx="8385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667305"/>
            <a:ext cx="10820095" cy="856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work.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714293"/>
            <a:ext cx="1082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4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CLIENTS · RISING STAKES</a:t>
            </a:r>
            <a:endParaRPr lang="en-US" sz="950" dirty="0"/>
          </a:p>
        </p:txBody>
      </p:sp>
      <p:pic>
        <p:nvPicPr>
          <p:cNvPr id="4" name="Image 0" descr="assets/eov-wordmar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38951"/>
            <a:ext cx="571500" cy="19019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668305" y="6238951"/>
            <a:ext cx="8385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4749"/>
            <a:ext cx="108200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0100"/>
            <a:ext cx="10820095" cy="666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50"/>
              </a:lnSpc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Twenty years across government, luxury, retail and industry.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685800" y="2048256"/>
            <a:ext cx="1695298" cy="1257300"/>
          </a:xfrm>
          <a:prstGeom prst="roundRect">
            <a:avLst>
              <a:gd name="adj" fmla="val 7564"/>
            </a:avLst>
          </a:prstGeom>
          <a:solidFill>
            <a:srgbClr val="F4F6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80898" y="2048256"/>
            <a:ext cx="1505102" cy="1257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OPEC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514600" y="2048256"/>
            <a:ext cx="1695298" cy="1257300"/>
          </a:xfrm>
          <a:prstGeom prst="roundRect">
            <a:avLst>
              <a:gd name="adj" fmla="val 7564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609698" y="2048256"/>
            <a:ext cx="1505102" cy="1257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MUBADALA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343400" y="2048256"/>
            <a:ext cx="1695298" cy="1257300"/>
          </a:xfrm>
          <a:prstGeom prst="roundRect">
            <a:avLst>
              <a:gd name="adj" fmla="val 7564"/>
            </a:avLst>
          </a:prstGeom>
          <a:solidFill>
            <a:srgbClr val="F4F6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8498" y="2048256"/>
            <a:ext cx="1505102" cy="1257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ADNOC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172200" y="2048256"/>
            <a:ext cx="1695298" cy="1257300"/>
          </a:xfrm>
          <a:prstGeom prst="roundRect">
            <a:avLst>
              <a:gd name="adj" fmla="val 7564"/>
            </a:avLst>
          </a:prstGeom>
          <a:solidFill>
            <a:srgbClr val="F4F6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67298" y="2048256"/>
            <a:ext cx="1505102" cy="1257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RTA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01000" y="2048256"/>
            <a:ext cx="1695298" cy="1257300"/>
          </a:xfrm>
          <a:prstGeom prst="roundRect">
            <a:avLst>
              <a:gd name="adj" fmla="val 7564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96098" y="2048256"/>
            <a:ext cx="1505102" cy="1257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DEWA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829800" y="2048256"/>
            <a:ext cx="1695298" cy="1257300"/>
          </a:xfrm>
          <a:prstGeom prst="roundRect">
            <a:avLst>
              <a:gd name="adj" fmla="val 7564"/>
            </a:avLst>
          </a:prstGeom>
          <a:solidFill>
            <a:srgbClr val="F4F6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924898" y="2048256"/>
            <a:ext cx="1505102" cy="1257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ESMA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85800" y="3476549"/>
            <a:ext cx="1695298" cy="1257300"/>
          </a:xfrm>
          <a:prstGeom prst="roundRect">
            <a:avLst>
              <a:gd name="adj" fmla="val 7564"/>
            </a:avLst>
          </a:prstGeom>
          <a:solidFill>
            <a:srgbClr val="F4F6F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0898" y="3476549"/>
            <a:ext cx="1505102" cy="1257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MIN. OF ENERGY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514600" y="3476549"/>
            <a:ext cx="1695298" cy="1257300"/>
          </a:xfrm>
          <a:prstGeom prst="roundRect">
            <a:avLst>
              <a:gd name="adj" fmla="val 7564"/>
            </a:avLst>
          </a:prstGeom>
          <a:solidFill>
            <a:srgbClr val="F4F6F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609698" y="3476549"/>
            <a:ext cx="1505102" cy="1257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MIN. OF ECONOMY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343400" y="3476549"/>
            <a:ext cx="1695298" cy="1257300"/>
          </a:xfrm>
          <a:prstGeom prst="roundRect">
            <a:avLst>
              <a:gd name="adj" fmla="val 7564"/>
            </a:avLst>
          </a:prstGeom>
          <a:solidFill>
            <a:srgbClr val="F4F6F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438498" y="3476549"/>
            <a:ext cx="1505102" cy="1257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FCA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172200" y="3476549"/>
            <a:ext cx="1695298" cy="1257300"/>
          </a:xfrm>
          <a:prstGeom prst="roundRect">
            <a:avLst>
              <a:gd name="adj" fmla="val 7564"/>
            </a:avLst>
          </a:prstGeom>
          <a:solidFill>
            <a:srgbClr val="F4F6F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67298" y="3476549"/>
            <a:ext cx="1505102" cy="1257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DAMAC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01000" y="3476549"/>
            <a:ext cx="1695298" cy="1257300"/>
          </a:xfrm>
          <a:prstGeom prst="roundRect">
            <a:avLst>
              <a:gd name="adj" fmla="val 7564"/>
            </a:avLst>
          </a:prstGeom>
          <a:solidFill>
            <a:srgbClr val="F4F6F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96098" y="3476549"/>
            <a:ext cx="1505102" cy="1257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9829800" y="3476549"/>
            <a:ext cx="1695298" cy="1257300"/>
          </a:xfrm>
          <a:prstGeom prst="roundRect">
            <a:avLst>
              <a:gd name="adj" fmla="val 7564"/>
            </a:avLst>
          </a:prstGeom>
          <a:solidFill>
            <a:srgbClr val="F4F6F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924898" y="3476549"/>
            <a:ext cx="1505102" cy="1257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MBR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5095951"/>
            <a:ext cx="1082009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SPSA · MOPA · ADAEGP · POD/DCD · Pension Fund · ADAFSA · Department of Economic Development</a:t>
            </a:r>
            <a:endParaRPr lang="en-US" sz="1150" dirty="0"/>
          </a:p>
        </p:txBody>
      </p:sp>
      <p:pic>
        <p:nvPicPr>
          <p:cNvPr id="29" name="Image 0" descr="assets/eov-wordmark-blac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38951"/>
            <a:ext cx="571500" cy="19019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0668305" y="6238951"/>
            <a:ext cx="8385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0"/>
            <a:ext cx="6248370" cy="685800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28893" y="3238805"/>
            <a:ext cx="5676870" cy="381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AND RETAIL PHOTOGRAPHY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4749"/>
            <a:ext cx="108200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FORREY &amp; GALLAND · LUXURY CONFECTIONERY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00100"/>
            <a:ext cx="4762195" cy="1809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80"/>
              </a:lnSpc>
              <a:buNone/>
            </a:pPr>
            <a:r>
              <a:rPr lang="en-US" sz="2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visibility up 3.4×, with no paid media.</a:t>
            </a:r>
            <a:endParaRPr lang="en-US" sz="25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57500"/>
            <a:ext cx="4762195" cy="856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Visibility built structurally rather than bought. The occasion calendar moves roughly eleven days a year, so the plan is rebuilt annually rather than repeated.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095598"/>
            <a:ext cx="1447495" cy="437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3.4×</a:t>
            </a:r>
            <a:endParaRPr lang="en-US" sz="28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572000"/>
            <a:ext cx="14100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2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VISIBILITY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4095598"/>
            <a:ext cx="1447495" cy="437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285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4572000"/>
            <a:ext cx="14100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2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SEARCH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86200" y="4095598"/>
            <a:ext cx="1447495" cy="437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1,510</a:t>
            </a:r>
            <a:endParaRPr lang="en-US" sz="2850" dirty="0"/>
          </a:p>
        </p:txBody>
      </p:sp>
      <p:sp>
        <p:nvSpPr>
          <p:cNvPr id="12" name="Text 10"/>
          <p:cNvSpPr txBox="1"/>
          <p:nvPr/>
        </p:nvSpPr>
        <p:spPr>
          <a:xfrm>
            <a:off x="3886200" y="4572000"/>
            <a:ext cx="14100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2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VISITS</a:t>
            </a:r>
            <a:endParaRPr lang="en-US" sz="950" dirty="0"/>
          </a:p>
        </p:txBody>
      </p:sp>
      <p:pic>
        <p:nvPicPr>
          <p:cNvPr id="13" name="Image 0" descr="assets/eov-wordmark-blac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38951"/>
            <a:ext cx="571500" cy="19019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0668305" y="6238951"/>
            <a:ext cx="8385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239305" cy="6858000"/>
          </a:xfrm>
          <a:prstGeom prst="roundRect">
            <a:avLst>
              <a:gd name="adj" fmla="val 1387"/>
            </a:avLst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33502" y="3258007"/>
            <a:ext cx="69723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 PHOTOGRAPHY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7315200" y="0"/>
            <a:ext cx="4876770" cy="3391052"/>
          </a:xfrm>
          <a:prstGeom prst="roundRect">
            <a:avLst>
              <a:gd name="adj" fmla="val 2804"/>
            </a:avLst>
          </a:prstGeom>
          <a:solidFill>
            <a:srgbClr val="11111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48702" y="1524533"/>
            <a:ext cx="4609765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SHOOT STILLS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0" y="3466948"/>
            <a:ext cx="4876770" cy="3391052"/>
          </a:xfrm>
          <a:prstGeom prst="roundRect">
            <a:avLst>
              <a:gd name="adj" fmla="val 2804"/>
            </a:avLst>
          </a:prstGeom>
          <a:solidFill>
            <a:srgbClr val="11111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48702" y="4991481"/>
            <a:ext cx="4609765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AND EVENT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0" y="4762195"/>
            <a:ext cx="7239305" cy="2095805"/>
          </a:xfrm>
          <a:prstGeom prst="rect">
            <a:avLst/>
          </a:prstGeom>
          <a:solidFill>
            <a:srgbClr val="000000">
              <a:alpha val="86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3095" y="5219395"/>
            <a:ext cx="61914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4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FORREY &amp; GALLAND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33095" y="5543093"/>
            <a:ext cx="61914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business built on occasions, the calendar is the strategy.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4749"/>
            <a:ext cx="108200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4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FERRONATO KGS GROUP · LUGANO, 1906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0100"/>
            <a:ext cx="10820095" cy="1238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group. Engineers on one side, luxury buyers on the other.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90902"/>
            <a:ext cx="8572500" cy="533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B9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leading manufacturer of flexible diamond abrasives and metallised fabrics, entering the lifestyle category on its own industrial technology.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047695"/>
            <a:ext cx="1943100" cy="437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1906</a:t>
            </a:r>
            <a:endParaRPr lang="en-US" sz="28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24098"/>
            <a:ext cx="1905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220" kern="0" dirty="0">
                <a:solidFill>
                  <a:srgbClr val="54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FOUNDED, LUGANO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2781605" y="3047695"/>
            <a:ext cx="1943100" cy="437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4th</a:t>
            </a:r>
            <a:endParaRPr lang="en-US" sz="2850" dirty="0"/>
          </a:p>
        </p:txBody>
      </p:sp>
      <p:sp>
        <p:nvSpPr>
          <p:cNvPr id="8" name="Text 6"/>
          <p:cNvSpPr txBox="1"/>
          <p:nvPr/>
        </p:nvSpPr>
        <p:spPr>
          <a:xfrm>
            <a:off x="2781605" y="3524098"/>
            <a:ext cx="1905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220" kern="0" dirty="0">
                <a:solidFill>
                  <a:srgbClr val="54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877410" y="3047695"/>
            <a:ext cx="1943100" cy="437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2850" dirty="0"/>
          </a:p>
        </p:txBody>
      </p:sp>
      <p:sp>
        <p:nvSpPr>
          <p:cNvPr id="10" name="Text 8"/>
          <p:cNvSpPr txBox="1"/>
          <p:nvPr/>
        </p:nvSpPr>
        <p:spPr>
          <a:xfrm>
            <a:off x="4877410" y="3524098"/>
            <a:ext cx="1905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220" kern="0" dirty="0">
                <a:solidFill>
                  <a:srgbClr val="54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973214" y="3047695"/>
            <a:ext cx="1943100" cy="437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2850" dirty="0"/>
          </a:p>
        </p:txBody>
      </p:sp>
      <p:sp>
        <p:nvSpPr>
          <p:cNvPr id="12" name="Text 10"/>
          <p:cNvSpPr txBox="1"/>
          <p:nvPr/>
        </p:nvSpPr>
        <p:spPr>
          <a:xfrm>
            <a:off x="6973214" y="3524098"/>
            <a:ext cx="1905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220" kern="0" dirty="0">
                <a:solidFill>
                  <a:srgbClr val="54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MARKETS SUPPLIED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85800" y="4476902"/>
            <a:ext cx="5257800" cy="1524305"/>
          </a:xfrm>
          <a:prstGeom prst="roundRect">
            <a:avLst>
              <a:gd name="adj" fmla="val 6239"/>
            </a:avLst>
          </a:prstGeom>
          <a:solidFill>
            <a:srgbClr val="11111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9302" y="5068062"/>
            <a:ext cx="4990795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METALLISED FABRIC · INDUSTRIAL APPLICATION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48095" y="4476902"/>
            <a:ext cx="5257800" cy="1524305"/>
          </a:xfrm>
          <a:prstGeom prst="roundRect">
            <a:avLst>
              <a:gd name="adj" fmla="val 6239"/>
            </a:avLst>
          </a:prstGeom>
          <a:solidFill>
            <a:srgbClr val="11111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81598" y="5068062"/>
            <a:ext cx="4990795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PRODUCT · CONSUMER RANGE</a:t>
            </a:r>
            <a:endParaRPr lang="en-US" sz="950" dirty="0"/>
          </a:p>
        </p:txBody>
      </p:sp>
      <p:pic>
        <p:nvPicPr>
          <p:cNvPr id="17" name="Image 0" descr="assets/eov-wordmar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38951"/>
            <a:ext cx="571500" cy="19019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668305" y="6238951"/>
            <a:ext cx="8385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0"/>
            <a:ext cx="6248370" cy="685800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28893" y="3238805"/>
            <a:ext cx="5676870" cy="381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IMAGERY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4749"/>
            <a:ext cx="108200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KGS · METAFAB® · INDUSTRIAL B2B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00100"/>
            <a:ext cx="4762195" cy="1809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80"/>
              </a:lnSpc>
              <a:buNone/>
            </a:pPr>
            <a:r>
              <a:rPr lang="en-US" sz="2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a material that shields naval vessels.</a:t>
            </a:r>
            <a:endParaRPr lang="en-US" sz="25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57500"/>
            <a:ext cx="4762195" cy="856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Metallised fabric attenuating EMF, EMI and RF at material level. Sold to engineers working to specification, on cycles measured in quarters. Most agencies decline this brief.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095598"/>
            <a:ext cx="1447495" cy="437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5.6×</a:t>
            </a:r>
            <a:endParaRPr lang="en-US" sz="28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572000"/>
            <a:ext cx="14100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2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VISIBILITY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4095598"/>
            <a:ext cx="1447495" cy="437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</a:t>
            </a:r>
            <a:endParaRPr lang="en-US" sz="285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4572000"/>
            <a:ext cx="14100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2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86200" y="4095598"/>
            <a:ext cx="1447495" cy="437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40–90</a:t>
            </a:r>
            <a:endParaRPr lang="en-US" sz="2850" dirty="0"/>
          </a:p>
        </p:txBody>
      </p:sp>
      <p:sp>
        <p:nvSpPr>
          <p:cNvPr id="12" name="Text 10"/>
          <p:cNvSpPr txBox="1"/>
          <p:nvPr/>
        </p:nvSpPr>
        <p:spPr>
          <a:xfrm>
            <a:off x="3886200" y="4572000"/>
            <a:ext cx="14100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2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SHIELDING</a:t>
            </a:r>
            <a:endParaRPr lang="en-US" sz="950" dirty="0"/>
          </a:p>
        </p:txBody>
      </p:sp>
      <p:pic>
        <p:nvPicPr>
          <p:cNvPr id="13" name="Image 0" descr="assets/eov-wordmark-blac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38951"/>
            <a:ext cx="571500" cy="19019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0668305" y="6238951"/>
            <a:ext cx="8385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239305" cy="6858000"/>
          </a:xfrm>
          <a:prstGeom prst="roundRect">
            <a:avLst>
              <a:gd name="adj" fmla="val 1387"/>
            </a:avLst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33502" y="3258007"/>
            <a:ext cx="69723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VESSEL OR INSTALLATION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7315200" y="0"/>
            <a:ext cx="4876770" cy="3391052"/>
          </a:xfrm>
          <a:prstGeom prst="roundRect">
            <a:avLst>
              <a:gd name="adj" fmla="val 2804"/>
            </a:avLst>
          </a:prstGeom>
          <a:solidFill>
            <a:srgbClr val="11111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48702" y="1524533"/>
            <a:ext cx="4609765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AIRCRAFT WIRING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0" y="3466948"/>
            <a:ext cx="4876770" cy="3391052"/>
          </a:xfrm>
          <a:prstGeom prst="roundRect">
            <a:avLst>
              <a:gd name="adj" fmla="val 2804"/>
            </a:avLst>
          </a:prstGeom>
          <a:solidFill>
            <a:srgbClr val="11111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48702" y="4991481"/>
            <a:ext cx="4609765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DETAIL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0" y="4762195"/>
            <a:ext cx="7239305" cy="2095805"/>
          </a:xfrm>
          <a:prstGeom prst="rect">
            <a:avLst/>
          </a:prstGeom>
          <a:solidFill>
            <a:srgbClr val="000000">
              <a:alpha val="86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3095" y="5219395"/>
            <a:ext cx="61914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4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KGS · METAFAB®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33095" y="5543093"/>
            <a:ext cx="61914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Naval vessels. Aircraft wiring. Secure courtrooms.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0"/>
            <a:ext cx="6248370" cy="685800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28893" y="3238805"/>
            <a:ext cx="5676870" cy="381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AND BOUTIQUE PHOTOGRAPHY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4749"/>
            <a:ext cx="108200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FERRONATO SWITZERLAND · SMART ACCESSORIES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00100"/>
            <a:ext cx="4762195" cy="1809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80"/>
              </a:lnSpc>
              <a:buNone/>
            </a:pPr>
            <a:r>
              <a:rPr lang="en-US" sz="2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as a product, not a promise.</a:t>
            </a:r>
            <a:endParaRPr lang="en-US" sz="25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57500"/>
            <a:ext cx="4762195" cy="856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Sleeves, pouches, totes and briefcases in metallised fabric. The benefit is physical, which is what made it provable. Global debut at the Swiss Pavilion, Expo 2020 Dubai.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095598"/>
            <a:ext cx="1447495" cy="437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300k+</a:t>
            </a:r>
            <a:endParaRPr lang="en-US" sz="28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572000"/>
            <a:ext cx="14100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2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PAVILION VISITORS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4095598"/>
            <a:ext cx="1447495" cy="437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285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4572000"/>
            <a:ext cx="14100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2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BOUTIQUE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86200" y="4095598"/>
            <a:ext cx="1447495" cy="437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50" dirty="0"/>
          </a:p>
        </p:txBody>
      </p:sp>
      <p:sp>
        <p:nvSpPr>
          <p:cNvPr id="12" name="Text 10"/>
          <p:cNvSpPr txBox="1"/>
          <p:nvPr/>
        </p:nvSpPr>
        <p:spPr>
          <a:xfrm>
            <a:off x="3886200" y="4572000"/>
            <a:ext cx="14100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2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LINES</a:t>
            </a:r>
            <a:endParaRPr lang="en-US" sz="950" dirty="0"/>
          </a:p>
        </p:txBody>
      </p:sp>
      <p:pic>
        <p:nvPicPr>
          <p:cNvPr id="13" name="Image 0" descr="assets/eov-wordmark-blac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38951"/>
            <a:ext cx="571500" cy="19019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0668305" y="6238951"/>
            <a:ext cx="8385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239305" cy="6858000"/>
          </a:xfrm>
          <a:prstGeom prst="roundRect">
            <a:avLst>
              <a:gd name="adj" fmla="val 1387"/>
            </a:avLst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33502" y="3258007"/>
            <a:ext cx="69723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FERRONATO SWITZERLAND BOUTIQUE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7315200" y="0"/>
            <a:ext cx="4876770" cy="3391052"/>
          </a:xfrm>
          <a:prstGeom prst="roundRect">
            <a:avLst>
              <a:gd name="adj" fmla="val 2804"/>
            </a:avLst>
          </a:prstGeom>
          <a:solidFill>
            <a:srgbClr val="11111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48702" y="1524533"/>
            <a:ext cx="4609765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 PHOTOGRAPHY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0" y="3466948"/>
            <a:ext cx="4876770" cy="3391052"/>
          </a:xfrm>
          <a:prstGeom prst="roundRect">
            <a:avLst>
              <a:gd name="adj" fmla="val 2804"/>
            </a:avLst>
          </a:prstGeom>
          <a:solidFill>
            <a:srgbClr val="11111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48702" y="4991481"/>
            <a:ext cx="4609765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ATELIER DISPLAY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0" y="4762195"/>
            <a:ext cx="7239305" cy="2095805"/>
          </a:xfrm>
          <a:prstGeom prst="rect">
            <a:avLst/>
          </a:prstGeom>
          <a:solidFill>
            <a:srgbClr val="000000">
              <a:alpha val="86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3095" y="5219395"/>
            <a:ext cx="61914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4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FERRONATO SWITZERLAND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33095" y="5543093"/>
            <a:ext cx="61914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brand system across retail, film and product.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4749"/>
            <a:ext cx="108200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FERRONATO SWITZERLAND · CAMPAIGN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0100"/>
            <a:ext cx="10820095" cy="666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50"/>
              </a:lnSpc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festive films, one idea.</a:t>
            </a:r>
            <a:endParaRPr lang="en-US" sz="28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14500"/>
            <a:ext cx="85725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Going untraceable, told through Santa.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381098"/>
            <a:ext cx="3400654" cy="1904695"/>
          </a:xfrm>
          <a:prstGeom prst="roundRect">
            <a:avLst>
              <a:gd name="adj" fmla="val 4993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19302" y="3162452"/>
            <a:ext cx="3133649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FILM STILL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457700"/>
            <a:ext cx="3400654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Gift of Privacy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62602" y="2381098"/>
            <a:ext cx="3400654" cy="1904695"/>
          </a:xfrm>
          <a:prstGeom prst="roundRect">
            <a:avLst>
              <a:gd name="adj" fmla="val 4993"/>
            </a:avLst>
          </a:prstGeom>
          <a:solidFill>
            <a:srgbClr val="F4F6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96105" y="3162452"/>
            <a:ext cx="3133649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FILM STILL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362602" y="4457700"/>
            <a:ext cx="3400654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Disconnect and Connect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39405" y="2381098"/>
            <a:ext cx="3400654" cy="1904695"/>
          </a:xfrm>
          <a:prstGeom prst="roundRect">
            <a:avLst>
              <a:gd name="adj" fmla="val 4993"/>
            </a:avLst>
          </a:prstGeom>
          <a:solidFill>
            <a:srgbClr val="F4F6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172907" y="3162452"/>
            <a:ext cx="3133649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FILM STILL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039405" y="4457700"/>
            <a:ext cx="3400654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off-grid</a:t>
            </a:r>
            <a:endParaRPr lang="en-US" sz="1400" dirty="0"/>
          </a:p>
        </p:txBody>
      </p:sp>
      <p:pic>
        <p:nvPicPr>
          <p:cNvPr id="14" name="Image 0" descr="assets/eov-wordmark-blac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38951"/>
            <a:ext cx="571500" cy="190195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0668305" y="6238951"/>
            <a:ext cx="8385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0"/>
            <a:ext cx="6248370" cy="685800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28893" y="3238805"/>
            <a:ext cx="5676870" cy="381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PHOTOGRAPHY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4749"/>
            <a:ext cx="108200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OPEC · UAE NIGHT, VIENNA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00100"/>
            <a:ext cx="4762195" cy="1809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national event, delivered in a foreign capital.</a:t>
            </a:r>
            <a:endParaRPr lang="en-US" sz="28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57500"/>
            <a:ext cx="4762195" cy="856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Organised by EOV in partnership with H.E. Suhail Al Mazrouei, Minister of Energy, around the OPEC calendar.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095598"/>
            <a:ext cx="1447495" cy="437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Vienna</a:t>
            </a:r>
            <a:endParaRPr lang="en-US" sz="28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572000"/>
            <a:ext cx="14100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2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FOREIGN CAPITAL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4095598"/>
            <a:ext cx="1447495" cy="437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</a:t>
            </a:r>
            <a:endParaRPr lang="en-US" sz="285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4572000"/>
            <a:ext cx="14100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2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86200" y="4095598"/>
            <a:ext cx="1447495" cy="437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H.E.</a:t>
            </a:r>
            <a:endParaRPr lang="en-US" sz="2850" dirty="0"/>
          </a:p>
        </p:txBody>
      </p:sp>
      <p:sp>
        <p:nvSpPr>
          <p:cNvPr id="12" name="Text 10"/>
          <p:cNvSpPr txBox="1"/>
          <p:nvPr/>
        </p:nvSpPr>
        <p:spPr>
          <a:xfrm>
            <a:off x="3886200" y="4572000"/>
            <a:ext cx="14100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22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MINISTERIAL PARTNER</a:t>
            </a:r>
            <a:endParaRPr lang="en-US" sz="950" dirty="0"/>
          </a:p>
        </p:txBody>
      </p:sp>
      <p:pic>
        <p:nvPicPr>
          <p:cNvPr id="13" name="Image 0" descr="assets/eov-wordmark-blac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38951"/>
            <a:ext cx="571500" cy="19019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0668305" y="6238951"/>
            <a:ext cx="8385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239305" cy="6858000"/>
          </a:xfrm>
          <a:prstGeom prst="roundRect">
            <a:avLst>
              <a:gd name="adj" fmla="val 1387"/>
            </a:avLst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33502" y="3258007"/>
            <a:ext cx="69723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ARRIVAL OR VENUE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7315200" y="0"/>
            <a:ext cx="4876770" cy="3391052"/>
          </a:xfrm>
          <a:prstGeom prst="roundRect">
            <a:avLst>
              <a:gd name="adj" fmla="val 2804"/>
            </a:avLst>
          </a:prstGeom>
          <a:solidFill>
            <a:srgbClr val="11111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48702" y="1524533"/>
            <a:ext cx="4609765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ROOM, MID-EVENT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0" y="3466948"/>
            <a:ext cx="4876770" cy="3391052"/>
          </a:xfrm>
          <a:prstGeom prst="roundRect">
            <a:avLst>
              <a:gd name="adj" fmla="val 2804"/>
            </a:avLst>
          </a:prstGeom>
          <a:solidFill>
            <a:srgbClr val="11111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48702" y="4991481"/>
            <a:ext cx="4609765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MINISTERIAL MOMENT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0" y="4762195"/>
            <a:ext cx="7239305" cy="2095805"/>
          </a:xfrm>
          <a:prstGeom prst="rect">
            <a:avLst/>
          </a:prstGeom>
          <a:solidFill>
            <a:srgbClr val="000000">
              <a:alpha val="86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3095" y="5219395"/>
            <a:ext cx="61914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4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OPEC · UAE NIGHT, VIENNA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33095" y="5543093"/>
            <a:ext cx="61914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photographs and a film exist. None have been in a deck.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6305" cy="6858000"/>
          </a:xfrm>
          <a:prstGeom prst="roundRect">
            <a:avLst>
              <a:gd name="adj" fmla="val 1560"/>
            </a:avLst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33502" y="3258007"/>
            <a:ext cx="58293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VIENNA FILM, OR ITS STRONGEST FRAME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667805" y="2190902"/>
            <a:ext cx="4762195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fixed date · a foreign city · a country represented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667805" y="2857500"/>
            <a:ext cx="466709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5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about that brief allowed a second attempt.</a:t>
            </a:r>
            <a:endParaRPr lang="en-US" sz="3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4749"/>
            <a:ext cx="108200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PROJECTS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0100"/>
            <a:ext cx="10820095" cy="666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50"/>
              </a:lnSpc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work across government, industry and retail.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685800" y="2048256"/>
            <a:ext cx="1990649" cy="1333195"/>
          </a:xfrm>
          <a:prstGeom prst="roundRect">
            <a:avLst>
              <a:gd name="adj" fmla="val 7133"/>
            </a:avLst>
          </a:prstGeom>
          <a:solidFill>
            <a:srgbClr val="F4F6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9302" y="2543861"/>
            <a:ext cx="1723644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IMAGE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476549"/>
            <a:ext cx="199064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Arab SMIS Summit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895905" y="2048256"/>
            <a:ext cx="1990649" cy="1333195"/>
          </a:xfrm>
          <a:prstGeom prst="roundRect">
            <a:avLst>
              <a:gd name="adj" fmla="val 7133"/>
            </a:avLst>
          </a:prstGeom>
          <a:solidFill>
            <a:srgbClr val="F4F6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29407" y="2543861"/>
            <a:ext cx="1723644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IMAGE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2895905" y="3476549"/>
            <a:ext cx="199064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DEWA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106010" y="2048256"/>
            <a:ext cx="1990649" cy="1333195"/>
          </a:xfrm>
          <a:prstGeom prst="roundRect">
            <a:avLst>
              <a:gd name="adj" fmla="val 7133"/>
            </a:avLst>
          </a:prstGeom>
          <a:solidFill>
            <a:srgbClr val="F4F6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239512" y="2543861"/>
            <a:ext cx="1723644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IMAGE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5106010" y="3476549"/>
            <a:ext cx="199064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6114" y="2048256"/>
            <a:ext cx="1990649" cy="1333195"/>
          </a:xfrm>
          <a:prstGeom prst="roundRect">
            <a:avLst>
              <a:gd name="adj" fmla="val 7133"/>
            </a:avLst>
          </a:prstGeom>
          <a:solidFill>
            <a:srgbClr val="F4F6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49617" y="2543861"/>
            <a:ext cx="1723644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IMAGE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316114" y="3476549"/>
            <a:ext cx="199064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Ministry of Economy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526219" y="2048256"/>
            <a:ext cx="1990649" cy="1333195"/>
          </a:xfrm>
          <a:prstGeom prst="roundRect">
            <a:avLst>
              <a:gd name="adj" fmla="val 7133"/>
            </a:avLst>
          </a:prstGeom>
          <a:solidFill>
            <a:srgbClr val="F4F6F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59722" y="2543861"/>
            <a:ext cx="1723644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IMAGE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526219" y="3476549"/>
            <a:ext cx="199064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GITEX 2015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" y="3952951"/>
            <a:ext cx="1990649" cy="1333195"/>
          </a:xfrm>
          <a:prstGeom prst="roundRect">
            <a:avLst>
              <a:gd name="adj" fmla="val 7133"/>
            </a:avLst>
          </a:prstGeom>
          <a:solidFill>
            <a:srgbClr val="F4F6F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9302" y="4448556"/>
            <a:ext cx="1723644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IMAGE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381244"/>
            <a:ext cx="199064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 Programme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895905" y="3952951"/>
            <a:ext cx="1990649" cy="1333195"/>
          </a:xfrm>
          <a:prstGeom prst="roundRect">
            <a:avLst>
              <a:gd name="adj" fmla="val 7133"/>
            </a:avLst>
          </a:prstGeom>
          <a:solidFill>
            <a:srgbClr val="F4F6F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029407" y="4448556"/>
            <a:ext cx="1723644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IMAGE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2895905" y="5381244"/>
            <a:ext cx="199064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Montajat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106010" y="3952951"/>
            <a:ext cx="1990649" cy="1333195"/>
          </a:xfrm>
          <a:prstGeom prst="roundRect">
            <a:avLst>
              <a:gd name="adj" fmla="val 7133"/>
            </a:avLst>
          </a:prstGeom>
          <a:solidFill>
            <a:srgbClr val="F4F6F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239512" y="4448556"/>
            <a:ext cx="1723644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IMAGE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106010" y="5381244"/>
            <a:ext cx="199064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Dubai Challenge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316114" y="3952951"/>
            <a:ext cx="1990649" cy="1333195"/>
          </a:xfrm>
          <a:prstGeom prst="roundRect">
            <a:avLst>
              <a:gd name="adj" fmla="val 7133"/>
            </a:avLst>
          </a:prstGeom>
          <a:solidFill>
            <a:srgbClr val="F4F6F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449617" y="4448556"/>
            <a:ext cx="1723644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IMAGE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7316114" y="5381244"/>
            <a:ext cx="199064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SND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526219" y="3952951"/>
            <a:ext cx="1990649" cy="1333195"/>
          </a:xfrm>
          <a:prstGeom prst="roundRect">
            <a:avLst>
              <a:gd name="adj" fmla="val 7133"/>
            </a:avLst>
          </a:prstGeom>
          <a:solidFill>
            <a:srgbClr val="F4F6F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659722" y="4448556"/>
            <a:ext cx="1723644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IMAGE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9526219" y="5381244"/>
            <a:ext cx="199064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ILF</a:t>
            </a:r>
            <a:endParaRPr lang="en-US" sz="1150" dirty="0"/>
          </a:p>
        </p:txBody>
      </p:sp>
      <p:pic>
        <p:nvPicPr>
          <p:cNvPr id="34" name="Image 0" descr="assets/eov-wordmark-blac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38951"/>
            <a:ext cx="571500" cy="190195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0668305" y="6238951"/>
            <a:ext cx="8385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667305"/>
            <a:ext cx="10820095" cy="856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work runs.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714293"/>
            <a:ext cx="1082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4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FIRM · THE METHOD · THE FIRST STEP</a:t>
            </a:r>
            <a:endParaRPr lang="en-US" sz="950" dirty="0"/>
          </a:p>
        </p:txBody>
      </p:sp>
      <p:pic>
        <p:nvPicPr>
          <p:cNvPr id="4" name="Image 0" descr="assets/eov-wordmar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38951"/>
            <a:ext cx="571500" cy="19019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668305" y="6238951"/>
            <a:ext cx="8385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4749"/>
            <a:ext cx="108200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EOV DOES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0100"/>
            <a:ext cx="10820095" cy="666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50"/>
              </a:lnSpc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disciplines, one brief, one team.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685800" y="2048256"/>
            <a:ext cx="5257800" cy="3142793"/>
          </a:xfrm>
          <a:prstGeom prst="roundRect">
            <a:avLst>
              <a:gd name="adj" fmla="val 3026"/>
            </a:avLst>
          </a:prstGeom>
          <a:solidFill>
            <a:srgbClr val="F4F6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90295" y="2333549"/>
            <a:ext cx="4667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IN-HOUSE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90295" y="2809951"/>
            <a:ext cx="4667098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and research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90295" y="3209544"/>
            <a:ext cx="4667098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and creative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90295" y="3609137"/>
            <a:ext cx="4667098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and ecommerce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90295" y="4008730"/>
            <a:ext cx="4667098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Communications and PR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90295" y="4408322"/>
            <a:ext cx="4667098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planning and buying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90295" y="4807915"/>
            <a:ext cx="4667098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and events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48095" y="2048256"/>
            <a:ext cx="5257800" cy="3142793"/>
          </a:xfrm>
          <a:prstGeom prst="roundRect">
            <a:avLst>
              <a:gd name="adj" fmla="val 3026"/>
            </a:avLst>
          </a:prstGeom>
          <a:solidFill>
            <a:srgbClr val="11111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52590" y="2333549"/>
            <a:ext cx="4667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4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PARTNERED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552590" y="2809951"/>
            <a:ext cx="4667098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[CONFIRM WHICH]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552590" y="3209544"/>
            <a:ext cx="4667098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partners disclosed on every engagement.</a:t>
            </a:r>
            <a:endParaRPr lang="en-US" sz="1250" dirty="0"/>
          </a:p>
        </p:txBody>
      </p:sp>
      <p:pic>
        <p:nvPicPr>
          <p:cNvPr id="16" name="Image 0" descr="assets/eov-wordmark-blac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38951"/>
            <a:ext cx="571500" cy="19019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0668305" y="6238951"/>
            <a:ext cx="8385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4749"/>
            <a:ext cx="108200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EOV WORKS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0100"/>
            <a:ext cx="10820095" cy="666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50"/>
              </a:lnSpc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settled before anything goes live.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685800" y="2095805"/>
            <a:ext cx="10820095" cy="914400"/>
          </a:xfrm>
          <a:prstGeom prst="roundRect">
            <a:avLst>
              <a:gd name="adj" fmla="val 10400"/>
            </a:avLst>
          </a:prstGeom>
          <a:solidFill>
            <a:srgbClr val="F4F6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52805" y="2095805"/>
            <a:ext cx="5715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676095" y="2305202"/>
            <a:ext cx="400050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defined before spend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829300" y="2324405"/>
            <a:ext cx="5333695" cy="533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0"/>
              </a:lnSpc>
              <a:buNone/>
            </a:pPr>
            <a:r>
              <a:rPr lang="en-US" sz="11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objective, the audience and the measure are agreed and written down first.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3162910"/>
            <a:ext cx="10820095" cy="914400"/>
          </a:xfrm>
          <a:prstGeom prst="roundRect">
            <a:avLst>
              <a:gd name="adj" fmla="val 10400"/>
            </a:avLst>
          </a:prstGeom>
          <a:solidFill>
            <a:srgbClr val="F4F6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2805" y="3162910"/>
            <a:ext cx="5715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76095" y="3372307"/>
            <a:ext cx="400050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built before launch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829300" y="3391510"/>
            <a:ext cx="5333695" cy="533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0"/>
              </a:lnSpc>
              <a:buNone/>
            </a:pPr>
            <a:r>
              <a:rPr lang="en-US" sz="11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and reporting are built and tested before the first impression is bought.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4230014"/>
            <a:ext cx="10820095" cy="914400"/>
          </a:xfrm>
          <a:prstGeom prst="roundRect">
            <a:avLst>
              <a:gd name="adj" fmla="val 10400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52805" y="4230014"/>
            <a:ext cx="5715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676095" y="4439412"/>
            <a:ext cx="400050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 built in the client's name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829300" y="4458614"/>
            <a:ext cx="5333695" cy="533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0"/>
              </a:lnSpc>
              <a:buNone/>
            </a:pPr>
            <a:r>
              <a:rPr lang="en-US" sz="11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Platforms, advertising accounts, analytics and CRM are created under the client's entity.</a:t>
            </a:r>
            <a:endParaRPr lang="en-US" sz="1150" dirty="0"/>
          </a:p>
        </p:txBody>
      </p:sp>
      <p:pic>
        <p:nvPicPr>
          <p:cNvPr id="16" name="Image 0" descr="assets/eov-wordmark-blac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38951"/>
            <a:ext cx="571500" cy="19019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0668305" y="6238951"/>
            <a:ext cx="8385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4749"/>
            <a:ext cx="108200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AN ENGAGEMENT RUNS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0100"/>
            <a:ext cx="10820095" cy="666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50"/>
              </a:lnSpc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contract, one team, one point of accountability.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685800" y="2048256"/>
            <a:ext cx="3400654" cy="2857500"/>
          </a:xfrm>
          <a:prstGeom prst="roundRect">
            <a:avLst>
              <a:gd name="adj" fmla="val 3328"/>
            </a:avLst>
          </a:prstGeom>
          <a:solidFill>
            <a:srgbClr val="F4F6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52805" y="2333549"/>
            <a:ext cx="761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52805" y="28575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52805" y="3333902"/>
            <a:ext cx="2857500" cy="1333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0"/>
              </a:lnSpc>
              <a:buNone/>
            </a:pPr>
            <a:r>
              <a:rPr lang="en-US" sz="11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paid stage. Objective, audience and the measure of success, agreed and written down.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2602" y="2048256"/>
            <a:ext cx="3400654" cy="2857500"/>
          </a:xfrm>
          <a:prstGeom prst="roundRect">
            <a:avLst>
              <a:gd name="adj" fmla="val 3328"/>
            </a:avLst>
          </a:prstGeom>
          <a:solidFill>
            <a:srgbClr val="F4F6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29607" y="2333549"/>
            <a:ext cx="761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29607" y="28575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629607" y="3333902"/>
            <a:ext cx="2857500" cy="1333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0"/>
              </a:lnSpc>
              <a:buNone/>
            </a:pPr>
            <a:r>
              <a:rPr lang="en-US" sz="11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Platforms, measurement and creative built against that definition, in the client's name.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39405" y="2048256"/>
            <a:ext cx="3400654" cy="2857500"/>
          </a:xfrm>
          <a:prstGeom prst="roundRect">
            <a:avLst>
              <a:gd name="adj" fmla="val 3328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06410" y="2333549"/>
            <a:ext cx="761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06410" y="28575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306410" y="3333902"/>
            <a:ext cx="2857500" cy="1333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0"/>
              </a:lnSpc>
              <a:buNone/>
            </a:pPr>
            <a:r>
              <a:rPr lang="en-US" sz="11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and reporting on a fixed cadence, with one senior contact throughout.</a:t>
            </a:r>
            <a:endParaRPr lang="en-US" sz="1150" dirty="0"/>
          </a:p>
        </p:txBody>
      </p:sp>
      <p:pic>
        <p:nvPicPr>
          <p:cNvPr id="16" name="Image 0" descr="assets/eov-wordmark-blac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38951"/>
            <a:ext cx="571500" cy="19019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0668305" y="6238951"/>
            <a:ext cx="8385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4749"/>
            <a:ext cx="108200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0100"/>
            <a:ext cx="10820095" cy="666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50"/>
              </a:lnSpc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people on the account.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685800" y="2048256"/>
            <a:ext cx="2562149" cy="2667305"/>
          </a:xfrm>
          <a:prstGeom prst="roundRect">
            <a:avLst>
              <a:gd name="adj" fmla="val 3712"/>
            </a:avLst>
          </a:prstGeom>
          <a:solidFill>
            <a:srgbClr val="F4F6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9302" y="3210916"/>
            <a:ext cx="2295144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PORTRAIT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857293"/>
            <a:ext cx="256214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181905"/>
            <a:ext cx="256214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[Role]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67405" y="2048256"/>
            <a:ext cx="2562149" cy="2667305"/>
          </a:xfrm>
          <a:prstGeom prst="roundRect">
            <a:avLst>
              <a:gd name="adj" fmla="val 3712"/>
            </a:avLst>
          </a:prstGeom>
          <a:solidFill>
            <a:srgbClr val="F4F6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00907" y="3210916"/>
            <a:ext cx="2295144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PORTRAIT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467405" y="4857293"/>
            <a:ext cx="256214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67405" y="5181905"/>
            <a:ext cx="256214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[Role]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49010" y="2048256"/>
            <a:ext cx="2562149" cy="2667305"/>
          </a:xfrm>
          <a:prstGeom prst="roundRect">
            <a:avLst>
              <a:gd name="adj" fmla="val 3712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82512" y="3210916"/>
            <a:ext cx="2295144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PORTRAIT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249010" y="4857293"/>
            <a:ext cx="256214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49010" y="5181905"/>
            <a:ext cx="256214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[Role]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30614" y="2048256"/>
            <a:ext cx="2562149" cy="2667305"/>
          </a:xfrm>
          <a:prstGeom prst="roundRect">
            <a:avLst>
              <a:gd name="adj" fmla="val 3712"/>
            </a:avLst>
          </a:prstGeom>
          <a:solidFill>
            <a:srgbClr val="F4F6F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64117" y="3210916"/>
            <a:ext cx="2295144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PORTRAIT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030614" y="4857293"/>
            <a:ext cx="256214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030614" y="5181905"/>
            <a:ext cx="256214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[Role]</a:t>
            </a:r>
            <a:endParaRPr lang="en-US" sz="1150" dirty="0"/>
          </a:p>
        </p:txBody>
      </p:sp>
      <p:pic>
        <p:nvPicPr>
          <p:cNvPr id="20" name="Image 0" descr="assets/eov-wordmark-blac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38951"/>
            <a:ext cx="571500" cy="19019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0668305" y="6238951"/>
            <a:ext cx="8385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4749"/>
            <a:ext cx="108200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0100"/>
            <a:ext cx="10820095" cy="666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50"/>
              </a:lnSpc>
              <a:buNone/>
            </a:pPr>
            <a:r>
              <a:rPr lang="en-US" sz="2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 bought where it is better bought than built.</a:t>
            </a:r>
            <a:endParaRPr lang="en-US" sz="28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04695"/>
            <a:ext cx="85725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is the standing question asked of any agency this size. Named partners are disclosed on every engagement.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857500"/>
            <a:ext cx="3400654" cy="1999793"/>
          </a:xfrm>
          <a:prstGeom prst="roundRect">
            <a:avLst>
              <a:gd name="adj" fmla="val 4755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857500"/>
            <a:ext cx="2943454" cy="19997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Marcollin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362602" y="2857500"/>
            <a:ext cx="3400654" cy="1999793"/>
          </a:xfrm>
          <a:prstGeom prst="roundRect">
            <a:avLst>
              <a:gd name="adj" fmla="val 4755"/>
            </a:avLst>
          </a:prstGeom>
          <a:solidFill>
            <a:srgbClr val="F4F6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1202" y="2857500"/>
            <a:ext cx="2943454" cy="19997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039405" y="2857500"/>
            <a:ext cx="3400654" cy="1999793"/>
          </a:xfrm>
          <a:prstGeom prst="roundRect">
            <a:avLst>
              <a:gd name="adj" fmla="val 4755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68005" y="2857500"/>
            <a:ext cx="2943454" cy="19997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Palo Alto Tribunal</a:t>
            </a:r>
            <a:endParaRPr lang="en-US" sz="1900" dirty="0"/>
          </a:p>
        </p:txBody>
      </p:sp>
      <p:pic>
        <p:nvPicPr>
          <p:cNvPr id="11" name="Image 0" descr="assets/eov-wordmark-blac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38951"/>
            <a:ext cx="571500" cy="19019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0668305" y="6238951"/>
            <a:ext cx="8385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4749"/>
            <a:ext cx="108200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4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0100"/>
            <a:ext cx="10820095" cy="1809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conversation is about what cannot be done twice.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3619195"/>
            <a:ext cx="10820095" cy="1428293"/>
          </a:xfrm>
          <a:prstGeom prst="roundRect">
            <a:avLst>
              <a:gd name="adj" fmla="val 6658"/>
            </a:avLst>
          </a:prstGeom>
          <a:solidFill>
            <a:srgbClr val="11111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67105" y="3886200"/>
            <a:ext cx="476219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[NAME], [TITLE]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67105" y="4229100"/>
            <a:ext cx="476219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E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[EMAIL]  ·  [PHONE]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067105" y="4552798"/>
            <a:ext cx="476219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eov.ae  ·  Abu Dhabi  ·  Dubai</a:t>
            </a:r>
            <a:endParaRPr lang="en-US" sz="1150" dirty="0"/>
          </a:p>
        </p:txBody>
      </p:sp>
      <p:pic>
        <p:nvPicPr>
          <p:cNvPr id="8" name="Image 0" descr="assets/eov-wordmar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805" y="4095598"/>
            <a:ext cx="1904695" cy="638251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" y="6238951"/>
            <a:ext cx="108200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3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EOV Technology Innovation  ·  Commercial-in-confidence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EOV Technology Innovation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EOV Credentials</dc:title>
  <dc:subject>PptxGenJS Presentation</dc:subject>
  <dc:creator>EOV</dc:creator>
  <cp:lastModifiedBy>EOV</cp:lastModifiedBy>
  <cp:revision>1</cp:revision>
  <dcterms:created xsi:type="dcterms:W3CDTF">2026-09-02T10:43:04Z</dcterms:created>
  <dcterms:modified xsi:type="dcterms:W3CDTF">2026-09-02T10:43:04Z</dcterms:modified>
</cp:coreProperties>
</file>