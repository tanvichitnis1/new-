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the Al Quoz unit is a working production facility. Do not use the website's 400+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 on the line that opens the claim. Do not summarise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hinge. Stated once and never repeated — slide 16 echoes it without restating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logo on a 2022 website is not 2026 consent. Confirm per client: contracted directly, subcontracted, or decorative.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Ramadan, Eid al-Fitr, Eid al-Adha, Diwali. Each an entire programme. The lunar calendar moves roughly eleven days a year, so the plan is rebuilt annually rather than repeated.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Send the PR record and this slide is finished: publications with dates and tier, retail doors, awareness study, influencer reach, and which markets US/EU covers.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Consent required — OPEC is intergovernmental and the Ministry federal. Strike the scope items that do not apply. The site says 'OPEC events' plural; if Vienna was not the only one, that is a stronger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Everything after this slide is administration.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tiles with project imagery as assets land. All ten are evidenced by files on eov.ae.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website publishes three pillars, the old deck five practices, this six disciplines. Pick one and change the other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line must be true today, or it comes out. Easiest claim in the deck to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the definition stage is real practice, and 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to five named people, not the org chart. Also state how many work in Arabic to professional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sit on EOV's own About page and have never appeared in a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21B14"/>
        </a:solidFill>
      </p:bgPr>
    </p:bg>
    <p:spTree>
      <p:nvGrpSpPr>
        <p:cNvPr id="1" name=""/>
        <p:cNvGrpSpPr/>
        <p:nvPr/>
      </p:nvGrpSpPr>
      <p:grpSpPr>
        <a:xfrm>
          <a:off x="0" y="0"/>
          <a:ext cx="0" cy="0"/>
          <a:chOff x="0" y="0"/>
          <a:chExt cx="0" cy="0"/>
        </a:xfrm>
      </p:grpSpPr>
      <p:sp>
        <p:nvSpPr>
          <p:cNvPr id="2" name="Text 0"/>
          <p:cNvSpPr txBox="1"/>
          <p:nvPr/>
        </p:nvSpPr>
        <p:spPr>
          <a:xfrm>
            <a:off x="777240" y="1371600"/>
            <a:ext cx="5486400" cy="1554480"/>
          </a:xfrm>
          <a:prstGeom prst="rect">
            <a:avLst/>
          </a:prstGeom>
          <a:noFill/>
          <a:ln/>
        </p:spPr>
        <p:txBody>
          <a:bodyPr wrap="square" lIns="0" tIns="0" rIns="0" bIns="0" rtlCol="0" anchor="ctr"/>
          <a:lstStyle/>
          <a:p>
            <a:pPr indent="0" marL="0">
              <a:buNone/>
            </a:pPr>
            <a:r>
              <a:rPr lang="en-US" sz="8000" b="1" spc="-200" kern="0" dirty="0">
                <a:solidFill>
                  <a:srgbClr val="EFE8DA"/>
                </a:solidFill>
                <a:latin typeface="Cambria" pitchFamily="34" charset="0"/>
                <a:ea typeface="Cambria" pitchFamily="34" charset="-122"/>
                <a:cs typeface="Cambria" pitchFamily="34" charset="-120"/>
              </a:rPr>
              <a:t>EOV</a:t>
            </a:r>
            <a:endParaRPr lang="en-US" sz="8000" dirty="0"/>
          </a:p>
        </p:txBody>
      </p:sp>
      <p:sp>
        <p:nvSpPr>
          <p:cNvPr id="3" name="Shape 1"/>
          <p:cNvSpPr/>
          <p:nvPr/>
        </p:nvSpPr>
        <p:spPr>
          <a:xfrm>
            <a:off x="777240" y="3200400"/>
            <a:ext cx="685800" cy="32004"/>
          </a:xfrm>
          <a:prstGeom prst="rect">
            <a:avLst/>
          </a:prstGeom>
          <a:solidFill>
            <a:srgbClr val="C29A5C"/>
          </a:solidFill>
          <a:ln/>
        </p:spPr>
      </p:sp>
      <p:sp>
        <p:nvSpPr>
          <p:cNvPr id="4" name="Text 2"/>
          <p:cNvSpPr txBox="1"/>
          <p:nvPr/>
        </p:nvSpPr>
        <p:spPr>
          <a:xfrm>
            <a:off x="777240" y="3566160"/>
            <a:ext cx="5943600" cy="1005840"/>
          </a:xfrm>
          <a:prstGeom prst="rect">
            <a:avLst/>
          </a:prstGeom>
          <a:noFill/>
          <a:ln/>
        </p:spPr>
        <p:txBody>
          <a:bodyPr wrap="square" lIns="0" tIns="0" rIns="0" bIns="0" rtlCol="0" anchor="ctr"/>
          <a:lstStyle/>
          <a:p>
            <a:pPr indent="0" marL="0">
              <a:lnSpc>
                <a:spcPts val="3000"/>
              </a:lnSpc>
              <a:buNone/>
            </a:pPr>
            <a:r>
              <a:rPr lang="en-US" sz="1900" dirty="0">
                <a:solidFill>
                  <a:srgbClr val="EFE8DA"/>
                </a:solidFill>
                <a:latin typeface="Calibri" pitchFamily="34" charset="0"/>
                <a:ea typeface="Calibri" pitchFamily="34" charset="-122"/>
                <a:cs typeface="Calibri" pitchFamily="34" charset="-120"/>
              </a:rPr>
              <a:t>Integrated marketing.</a:t>
            </a:r>
            <a:endParaRPr lang="en-US" sz="1900" dirty="0"/>
          </a:p>
          <a:p>
            <a:pPr indent="0" marL="0">
              <a:lnSpc>
                <a:spcPts val="3000"/>
              </a:lnSpc>
              <a:buNone/>
            </a:pPr>
            <a:r>
              <a:rPr lang="en-US" sz="1900" dirty="0">
                <a:solidFill>
                  <a:srgbClr val="EFE8DA"/>
                </a:solidFill>
                <a:latin typeface="Calibri" pitchFamily="34" charset="0"/>
                <a:ea typeface="Calibri" pitchFamily="34" charset="-122"/>
                <a:cs typeface="Calibri" pitchFamily="34" charset="-120"/>
              </a:rPr>
              <a:t>Abu Dhabi and Dubai. Since 2006.</a:t>
            </a:r>
            <a:endParaRPr lang="en-US" sz="1900" dirty="0"/>
          </a:p>
        </p:txBody>
      </p:sp>
      <p:sp>
        <p:nvSpPr>
          <p:cNvPr id="5" name="Text 3"/>
          <p:cNvSpPr txBox="1"/>
          <p:nvPr/>
        </p:nvSpPr>
        <p:spPr>
          <a:xfrm>
            <a:off x="777240" y="5806440"/>
            <a:ext cx="6400800" cy="320040"/>
          </a:xfrm>
          <a:prstGeom prst="rect">
            <a:avLst/>
          </a:prstGeom>
          <a:noFill/>
          <a:ln/>
        </p:spPr>
        <p:txBody>
          <a:bodyPr wrap="square" lIns="0" tIns="0" rIns="0" bIns="0" rtlCol="0" anchor="ctr"/>
          <a:lstStyle/>
          <a:p>
            <a:pPr indent="0" marL="0">
              <a:buNone/>
            </a:pPr>
            <a:r>
              <a:rPr lang="en-US" sz="1100" b="1" spc="100" kern="0" dirty="0">
                <a:solidFill>
                  <a:srgbClr val="A4988A"/>
                </a:solidFill>
                <a:latin typeface="Calibri" pitchFamily="34" charset="0"/>
                <a:ea typeface="Calibri" pitchFamily="34" charset="-122"/>
                <a:cs typeface="Calibri" pitchFamily="34" charset="-120"/>
              </a:rPr>
              <a:t>[NAME] · [TITLE] · [EMAIL] · [PHONE]</a:t>
            </a:r>
            <a:endParaRPr lang="en-US" sz="1100" dirty="0"/>
          </a:p>
        </p:txBody>
      </p:sp>
      <p:sp>
        <p:nvSpPr>
          <p:cNvPr id="6" name="Shape 4"/>
          <p:cNvSpPr/>
          <p:nvPr/>
        </p:nvSpPr>
        <p:spPr>
          <a:xfrm>
            <a:off x="6995160" y="1188720"/>
            <a:ext cx="4389120" cy="4480560"/>
          </a:xfrm>
          <a:prstGeom prst="rect">
            <a:avLst/>
          </a:prstGeom>
          <a:solidFill>
            <a:srgbClr val="221B14"/>
          </a:solidFill>
          <a:ln w="12700">
            <a:solidFill>
              <a:srgbClr val="3A3026"/>
            </a:solidFill>
            <a:prstDash val="dash"/>
          </a:ln>
        </p:spPr>
      </p:sp>
      <p:sp>
        <p:nvSpPr>
          <p:cNvPr id="7" name="Text 5"/>
          <p:cNvSpPr txBox="1"/>
          <p:nvPr/>
        </p:nvSpPr>
        <p:spPr>
          <a:xfrm>
            <a:off x="7104888" y="3063240"/>
            <a:ext cx="4169664" cy="731520"/>
          </a:xfrm>
          <a:prstGeom prst="rect">
            <a:avLst/>
          </a:prstGeom>
          <a:noFill/>
          <a:ln/>
        </p:spPr>
        <p:txBody>
          <a:bodyPr wrap="square" rtlCol="0" anchor="ctr"/>
          <a:lstStyle/>
          <a:p>
            <a:pPr algn="ctr" indent="0" marL="0">
              <a:buNone/>
            </a:pPr>
            <a:r>
              <a:rPr lang="en-US" sz="950" b="1" spc="130" kern="0" dirty="0">
                <a:solidFill>
                  <a:srgbClr val="A4988A"/>
                </a:solidFill>
                <a:latin typeface="Calibri" pitchFamily="34" charset="0"/>
                <a:ea typeface="Calibri" pitchFamily="34" charset="-122"/>
                <a:cs typeface="Calibri" pitchFamily="34" charset="-120"/>
              </a:rPr>
              <a:t>Cover image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DE4"/>
        </a:solidFill>
      </p:bgPr>
    </p:bg>
    <p:spTree>
      <p:nvGrpSpPr>
        <p:cNvPr id="1" name=""/>
        <p:cNvGrpSpPr/>
        <p:nvPr/>
      </p:nvGrpSpPr>
      <p:grpSpPr>
        <a:xfrm>
          <a:off x="0" y="0"/>
          <a:ext cx="0" cy="0"/>
          <a:chOff x="0" y="0"/>
          <a:chExt cx="0" cy="0"/>
        </a:xfrm>
      </p:grpSpPr>
      <p:sp>
        <p:nvSpPr>
          <p:cNvPr id="2" name="Text 0"/>
          <p:cNvSpPr txBox="1"/>
          <p:nvPr/>
        </p:nvSpPr>
        <p:spPr>
          <a:xfrm>
            <a:off x="11109960" y="6309360"/>
            <a:ext cx="548640" cy="274320"/>
          </a:xfrm>
          <a:prstGeom prst="rect">
            <a:avLst/>
          </a:prstGeom>
          <a:noFill/>
          <a:ln/>
        </p:spPr>
        <p:txBody>
          <a:bodyPr wrap="square" rtlCol="0" anchor="ctr"/>
          <a:lstStyle/>
          <a:p>
            <a:pPr algn="r" indent="0" marL="0">
              <a:buNone/>
            </a:pPr>
            <a:r>
              <a:rPr lang="en-US" sz="900" b="1" spc="150" kern="0" dirty="0">
                <a:solidFill>
                  <a:srgbClr val="A79C8C"/>
                </a:solidFill>
                <a:latin typeface="Calibri" pitchFamily="34" charset="0"/>
                <a:ea typeface="Calibri" pitchFamily="34" charset="-122"/>
                <a:cs typeface="Calibri" pitchFamily="34" charset="-120"/>
              </a:rPr>
              <a:t>02</a:t>
            </a:r>
            <a:endParaRPr lang="en-US" sz="900" dirty="0"/>
          </a:p>
        </p:txBody>
      </p:sp>
      <p:sp>
        <p:nvSpPr>
          <p:cNvPr id="3" name="Text 1"/>
          <p:cNvSpPr txBox="1"/>
          <p:nvPr/>
        </p:nvSpPr>
        <p:spPr>
          <a:xfrm>
            <a:off x="777240" y="548640"/>
            <a:ext cx="8686800" cy="256032"/>
          </a:xfrm>
          <a:prstGeom prst="rect">
            <a:avLst/>
          </a:prstGeom>
          <a:noFill/>
          <a:ln/>
        </p:spPr>
        <p:txBody>
          <a:bodyPr wrap="square" lIns="0" tIns="0" rIns="0" bIns="0" rtlCol="0" anchor="ctr"/>
          <a:lstStyle/>
          <a:p>
            <a:pPr indent="0" marL="0">
              <a:buNone/>
            </a:pPr>
            <a:r>
              <a:rPr lang="en-US" sz="950" b="1" spc="260" kern="0" dirty="0">
                <a:solidFill>
                  <a:srgbClr val="8A6A3A"/>
                </a:solidFill>
                <a:latin typeface="Calibri" pitchFamily="34" charset="0"/>
                <a:ea typeface="Calibri" pitchFamily="34" charset="-122"/>
                <a:cs typeface="Calibri" pitchFamily="34" charset="-120"/>
              </a:rPr>
              <a:t>WHO WE ARE</a:t>
            </a:r>
            <a:endParaRPr lang="en-US" sz="950" dirty="0"/>
          </a:p>
        </p:txBody>
      </p:sp>
      <p:sp>
        <p:nvSpPr>
          <p:cNvPr id="4" name="Text 2"/>
          <p:cNvSpPr txBox="1"/>
          <p:nvPr/>
        </p:nvSpPr>
        <p:spPr>
          <a:xfrm>
            <a:off x="777240" y="960120"/>
            <a:ext cx="5943600" cy="1828800"/>
          </a:xfrm>
          <a:prstGeom prst="rect">
            <a:avLst/>
          </a:prstGeom>
          <a:noFill/>
          <a:ln/>
        </p:spPr>
        <p:txBody>
          <a:bodyPr wrap="square" lIns="0" tIns="0" rIns="0" bIns="0" rtlCol="0" anchor="t"/>
          <a:lstStyle/>
          <a:p>
            <a:pPr indent="0" marL="0">
              <a:lnSpc>
                <a:spcPts val="3600"/>
              </a:lnSpc>
              <a:buNone/>
            </a:pPr>
            <a:r>
              <a:rPr lang="en-US" sz="3000" dirty="0">
                <a:solidFill>
                  <a:srgbClr val="2A2118"/>
                </a:solidFill>
                <a:latin typeface="Cambria" pitchFamily="34" charset="0"/>
                <a:ea typeface="Cambria" pitchFamily="34" charset="-122"/>
                <a:cs typeface="Cambria" pitchFamily="34" charset="-120"/>
              </a:rPr>
              <a:t>An Emirati-founded integrated marketing agency, working here since 2006.</a:t>
            </a:r>
            <a:endParaRPr lang="en-US" sz="3000" dirty="0"/>
          </a:p>
        </p:txBody>
      </p:sp>
      <p:sp>
        <p:nvSpPr>
          <p:cNvPr id="5" name="Text 3"/>
          <p:cNvSpPr txBox="1"/>
          <p:nvPr/>
        </p:nvSpPr>
        <p:spPr>
          <a:xfrm>
            <a:off x="777240" y="2971800"/>
            <a:ext cx="5623560" cy="1005840"/>
          </a:xfrm>
          <a:prstGeom prst="rect">
            <a:avLst/>
          </a:prstGeom>
          <a:noFill/>
          <a:ln/>
        </p:spPr>
        <p:txBody>
          <a:bodyPr wrap="square" lIns="0" tIns="0" rIns="0" bIns="0" rtlCol="0" anchor="t"/>
          <a:lstStyle/>
          <a:p>
            <a:pPr indent="0" marL="0">
              <a:lnSpc>
                <a:spcPts val="2100"/>
              </a:lnSpc>
              <a:buNone/>
            </a:pPr>
            <a:r>
              <a:rPr lang="en-US" sz="1450" dirty="0">
                <a:solidFill>
                  <a:srgbClr val="6E6355"/>
                </a:solidFill>
                <a:latin typeface="Calibri" pitchFamily="34" charset="0"/>
                <a:ea typeface="Calibri" pitchFamily="34" charset="-122"/>
                <a:cs typeface="Calibri" pitchFamily="34" charset="-120"/>
              </a:rPr>
              <a:t>Abu Dhabi office, Dubai production facility. Strategy, brand, digital platforms, communications, media and production — one team.</a:t>
            </a:r>
            <a:endParaRPr lang="en-US" sz="1450" dirty="0"/>
          </a:p>
        </p:txBody>
      </p:sp>
      <p:sp>
        <p:nvSpPr>
          <p:cNvPr id="6" name="Text 4"/>
          <p:cNvSpPr txBox="1"/>
          <p:nvPr/>
        </p:nvSpPr>
        <p:spPr>
          <a:xfrm>
            <a:off x="777240" y="4434840"/>
            <a:ext cx="1828800" cy="548640"/>
          </a:xfrm>
          <a:prstGeom prst="rect">
            <a:avLst/>
          </a:prstGeom>
          <a:noFill/>
          <a:ln/>
        </p:spPr>
        <p:txBody>
          <a:bodyPr wrap="square" lIns="0" tIns="0" rIns="0" bIns="0" rtlCol="0" anchor="ctr"/>
          <a:lstStyle/>
          <a:p>
            <a:pPr indent="0" marL="0">
              <a:buNone/>
            </a:pPr>
            <a:r>
              <a:rPr lang="en-US" sz="3000" b="1" dirty="0">
                <a:solidFill>
                  <a:srgbClr val="8A6A3A"/>
                </a:solidFill>
                <a:latin typeface="Cambria" pitchFamily="34" charset="0"/>
                <a:ea typeface="Cambria" pitchFamily="34" charset="-122"/>
                <a:cs typeface="Cambria" pitchFamily="34" charset="-120"/>
              </a:rPr>
              <a:t>2006</a:t>
            </a:r>
            <a:endParaRPr lang="en-US" sz="3000" dirty="0"/>
          </a:p>
        </p:txBody>
      </p:sp>
      <p:sp>
        <p:nvSpPr>
          <p:cNvPr id="7" name="Text 5"/>
          <p:cNvSpPr txBox="1"/>
          <p:nvPr/>
        </p:nvSpPr>
        <p:spPr>
          <a:xfrm>
            <a:off x="777240" y="4983480"/>
            <a:ext cx="1783080" cy="502920"/>
          </a:xfrm>
          <a:prstGeom prst="rect">
            <a:avLst/>
          </a:prstGeom>
          <a:noFill/>
          <a:ln/>
        </p:spPr>
        <p:txBody>
          <a:bodyPr wrap="square" lIns="0" tIns="0" rIns="0" bIns="0" rtlCol="0" anchor="t"/>
          <a:lstStyle/>
          <a:p>
            <a:pPr indent="0" marL="0">
              <a:lnSpc>
                <a:spcPts val="1200"/>
              </a:lnSpc>
              <a:buNone/>
            </a:pPr>
            <a:r>
              <a:rPr lang="en-US" sz="850" b="1" spc="130" kern="0" dirty="0">
                <a:solidFill>
                  <a:srgbClr val="6E6355"/>
                </a:solidFill>
                <a:latin typeface="Calibri" pitchFamily="34" charset="0"/>
                <a:ea typeface="Calibri" pitchFamily="34" charset="-122"/>
                <a:cs typeface="Calibri" pitchFamily="34" charset="-120"/>
              </a:rPr>
              <a:t>WORKING IN THE UAE SINCE</a:t>
            </a:r>
            <a:endParaRPr lang="en-US" sz="850" dirty="0"/>
          </a:p>
        </p:txBody>
      </p:sp>
      <p:sp>
        <p:nvSpPr>
          <p:cNvPr id="8" name="Text 6"/>
          <p:cNvSpPr txBox="1"/>
          <p:nvPr/>
        </p:nvSpPr>
        <p:spPr>
          <a:xfrm>
            <a:off x="2788920" y="4434840"/>
            <a:ext cx="1828800" cy="548640"/>
          </a:xfrm>
          <a:prstGeom prst="rect">
            <a:avLst/>
          </a:prstGeom>
          <a:noFill/>
          <a:ln/>
        </p:spPr>
        <p:txBody>
          <a:bodyPr wrap="square" lIns="0" tIns="0" rIns="0" bIns="0" rtlCol="0" anchor="ctr"/>
          <a:lstStyle/>
          <a:p>
            <a:pPr indent="0" marL="0">
              <a:buNone/>
            </a:pPr>
            <a:r>
              <a:rPr lang="en-US" sz="3000" b="1" dirty="0">
                <a:solidFill>
                  <a:srgbClr val="8A6A3A"/>
                </a:solidFill>
                <a:latin typeface="Cambria" pitchFamily="34" charset="0"/>
                <a:ea typeface="Cambria" pitchFamily="34" charset="-122"/>
                <a:cs typeface="Cambria" pitchFamily="34" charset="-120"/>
              </a:rPr>
              <a:t>2</a:t>
            </a:r>
            <a:endParaRPr lang="en-US" sz="3000" dirty="0"/>
          </a:p>
        </p:txBody>
      </p:sp>
      <p:sp>
        <p:nvSpPr>
          <p:cNvPr id="9" name="Text 7"/>
          <p:cNvSpPr txBox="1"/>
          <p:nvPr/>
        </p:nvSpPr>
        <p:spPr>
          <a:xfrm>
            <a:off x="2788920" y="4983480"/>
            <a:ext cx="1783080" cy="502920"/>
          </a:xfrm>
          <a:prstGeom prst="rect">
            <a:avLst/>
          </a:prstGeom>
          <a:noFill/>
          <a:ln/>
        </p:spPr>
        <p:txBody>
          <a:bodyPr wrap="square" lIns="0" tIns="0" rIns="0" bIns="0" rtlCol="0" anchor="t"/>
          <a:lstStyle/>
          <a:p>
            <a:pPr indent="0" marL="0">
              <a:lnSpc>
                <a:spcPts val="1200"/>
              </a:lnSpc>
              <a:buNone/>
            </a:pPr>
            <a:r>
              <a:rPr lang="en-US" sz="850" b="1" spc="130" kern="0" dirty="0">
                <a:solidFill>
                  <a:srgbClr val="6E6355"/>
                </a:solidFill>
                <a:latin typeface="Calibri" pitchFamily="34" charset="0"/>
                <a:ea typeface="Calibri" pitchFamily="34" charset="-122"/>
                <a:cs typeface="Calibri" pitchFamily="34" charset="-120"/>
              </a:rPr>
              <a:t>EMIRATES</a:t>
            </a:r>
            <a:endParaRPr lang="en-US" sz="850" dirty="0"/>
          </a:p>
        </p:txBody>
      </p:sp>
      <p:sp>
        <p:nvSpPr>
          <p:cNvPr id="10" name="Text 8"/>
          <p:cNvSpPr txBox="1"/>
          <p:nvPr/>
        </p:nvSpPr>
        <p:spPr>
          <a:xfrm>
            <a:off x="4800600" y="4434840"/>
            <a:ext cx="1828800" cy="548640"/>
          </a:xfrm>
          <a:prstGeom prst="rect">
            <a:avLst/>
          </a:prstGeom>
          <a:noFill/>
          <a:ln/>
        </p:spPr>
        <p:txBody>
          <a:bodyPr wrap="square" lIns="0" tIns="0" rIns="0" bIns="0" rtlCol="0" anchor="ctr"/>
          <a:lstStyle/>
          <a:p>
            <a:pPr indent="0" marL="0">
              <a:buNone/>
            </a:pPr>
            <a:r>
              <a:rPr lang="en-US" sz="3000" b="1" dirty="0">
                <a:solidFill>
                  <a:srgbClr val="8A6A3A"/>
                </a:solidFill>
                <a:latin typeface="Cambria" pitchFamily="34" charset="0"/>
                <a:ea typeface="Cambria" pitchFamily="34" charset="-122"/>
                <a:cs typeface="Cambria" pitchFamily="34" charset="-120"/>
              </a:rPr>
              <a:t>6</a:t>
            </a:r>
            <a:endParaRPr lang="en-US" sz="3000" dirty="0"/>
          </a:p>
        </p:txBody>
      </p:sp>
      <p:sp>
        <p:nvSpPr>
          <p:cNvPr id="11" name="Text 9"/>
          <p:cNvSpPr txBox="1"/>
          <p:nvPr/>
        </p:nvSpPr>
        <p:spPr>
          <a:xfrm>
            <a:off x="4800600" y="4983480"/>
            <a:ext cx="1783080" cy="502920"/>
          </a:xfrm>
          <a:prstGeom prst="rect">
            <a:avLst/>
          </a:prstGeom>
          <a:noFill/>
          <a:ln/>
        </p:spPr>
        <p:txBody>
          <a:bodyPr wrap="square" lIns="0" tIns="0" rIns="0" bIns="0" rtlCol="0" anchor="t"/>
          <a:lstStyle/>
          <a:p>
            <a:pPr indent="0" marL="0">
              <a:lnSpc>
                <a:spcPts val="1200"/>
              </a:lnSpc>
              <a:buNone/>
            </a:pPr>
            <a:r>
              <a:rPr lang="en-US" sz="850" b="1" spc="130" kern="0" dirty="0">
                <a:solidFill>
                  <a:srgbClr val="6E6355"/>
                </a:solidFill>
                <a:latin typeface="Calibri" pitchFamily="34" charset="0"/>
                <a:ea typeface="Calibri" pitchFamily="34" charset="-122"/>
                <a:cs typeface="Calibri" pitchFamily="34" charset="-120"/>
              </a:rPr>
              <a:t>DISCIPLINES, ONE TEAM</a:t>
            </a:r>
            <a:endParaRPr lang="en-US" sz="850" dirty="0"/>
          </a:p>
        </p:txBody>
      </p:sp>
      <p:sp>
        <p:nvSpPr>
          <p:cNvPr id="12" name="Shape 10"/>
          <p:cNvSpPr/>
          <p:nvPr/>
        </p:nvSpPr>
        <p:spPr>
          <a:xfrm>
            <a:off x="6995160" y="960120"/>
            <a:ext cx="4389120" cy="4937760"/>
          </a:xfrm>
          <a:prstGeom prst="rect">
            <a:avLst/>
          </a:prstGeom>
          <a:solidFill>
            <a:srgbClr val="F2EDE4"/>
          </a:solidFill>
          <a:ln w="12700">
            <a:solidFill>
              <a:srgbClr val="D9D1C2"/>
            </a:solidFill>
            <a:prstDash val="dash"/>
          </a:ln>
        </p:spPr>
      </p:sp>
      <p:sp>
        <p:nvSpPr>
          <p:cNvPr id="13" name="Text 11"/>
          <p:cNvSpPr txBox="1"/>
          <p:nvPr/>
        </p:nvSpPr>
        <p:spPr>
          <a:xfrm>
            <a:off x="7104888" y="3063240"/>
            <a:ext cx="4169664" cy="731520"/>
          </a:xfrm>
          <a:prstGeom prst="rect">
            <a:avLst/>
          </a:prstGeom>
          <a:noFill/>
          <a:ln/>
        </p:spPr>
        <p:txBody>
          <a:bodyPr wrap="square" rtlCol="0" anchor="ctr"/>
          <a:lstStyle/>
          <a:p>
            <a:pPr algn="ctr" indent="0" marL="0">
              <a:buNone/>
            </a:pPr>
            <a:r>
              <a:rPr lang="en-US" sz="950" b="1" spc="130" kern="0" dirty="0">
                <a:solidFill>
                  <a:srgbClr val="A79C8C"/>
                </a:solidFill>
                <a:latin typeface="Calibri" pitchFamily="34" charset="0"/>
                <a:ea typeface="Calibri" pitchFamily="34" charset="-122"/>
                <a:cs typeface="Calibri" pitchFamily="34" charset="-120"/>
              </a:rPr>
              <a:t>Team or office photograph</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DE4"/>
        </a:solidFill>
      </p:bgPr>
    </p:bg>
    <p:spTree>
      <p:nvGrpSpPr>
        <p:cNvPr id="1" name=""/>
        <p:cNvGrpSpPr/>
        <p:nvPr/>
      </p:nvGrpSpPr>
      <p:grpSpPr>
        <a:xfrm>
          <a:off x="0" y="0"/>
          <a:ext cx="0" cy="0"/>
          <a:chOff x="0" y="0"/>
          <a:chExt cx="0" cy="0"/>
        </a:xfrm>
      </p:grpSpPr>
      <p:sp>
        <p:nvSpPr>
          <p:cNvPr id="2" name="Text 0"/>
          <p:cNvSpPr txBox="1"/>
          <p:nvPr/>
        </p:nvSpPr>
        <p:spPr>
          <a:xfrm>
            <a:off x="11109960" y="6309360"/>
            <a:ext cx="548640" cy="274320"/>
          </a:xfrm>
          <a:prstGeom prst="rect">
            <a:avLst/>
          </a:prstGeom>
          <a:noFill/>
          <a:ln/>
        </p:spPr>
        <p:txBody>
          <a:bodyPr wrap="square" rtlCol="0" anchor="ctr"/>
          <a:lstStyle/>
          <a:p>
            <a:pPr algn="r" indent="0" marL="0">
              <a:buNone/>
            </a:pPr>
            <a:r>
              <a:rPr lang="en-US" sz="900" b="1" spc="150" kern="0" dirty="0">
                <a:solidFill>
                  <a:srgbClr val="A79C8C"/>
                </a:solidFill>
                <a:latin typeface="Calibri" pitchFamily="34" charset="0"/>
                <a:ea typeface="Calibri" pitchFamily="34" charset="-122"/>
                <a:cs typeface="Calibri" pitchFamily="34" charset="-120"/>
              </a:rPr>
              <a:t>03</a:t>
            </a:r>
            <a:endParaRPr lang="en-US" sz="900" dirty="0"/>
          </a:p>
        </p:txBody>
      </p:sp>
      <p:sp>
        <p:nvSpPr>
          <p:cNvPr id="3" name="Text 1"/>
          <p:cNvSpPr txBox="1"/>
          <p:nvPr/>
        </p:nvSpPr>
        <p:spPr>
          <a:xfrm>
            <a:off x="777240" y="548640"/>
            <a:ext cx="8686800" cy="256032"/>
          </a:xfrm>
          <a:prstGeom prst="rect">
            <a:avLst/>
          </a:prstGeom>
          <a:noFill/>
          <a:ln/>
        </p:spPr>
        <p:txBody>
          <a:bodyPr wrap="square" lIns="0" tIns="0" rIns="0" bIns="0" rtlCol="0" anchor="ctr"/>
          <a:lstStyle/>
          <a:p>
            <a:pPr indent="0" marL="0">
              <a:buNone/>
            </a:pPr>
            <a:r>
              <a:rPr lang="en-US" sz="950" b="1" spc="260" kern="0" dirty="0">
                <a:solidFill>
                  <a:srgbClr val="8A6A3A"/>
                </a:solidFill>
                <a:latin typeface="Calibri" pitchFamily="34" charset="0"/>
                <a:ea typeface="Calibri" pitchFamily="34" charset="-122"/>
                <a:cs typeface="Calibri" pitchFamily="34" charset="-120"/>
              </a:rPr>
              <a:t>THE PROBLEM WE ARE SET UP FOR</a:t>
            </a:r>
            <a:endParaRPr lang="en-US" sz="950" dirty="0"/>
          </a:p>
        </p:txBody>
      </p:sp>
      <p:sp>
        <p:nvSpPr>
          <p:cNvPr id="4" name="Text 2"/>
          <p:cNvSpPr txBox="1"/>
          <p:nvPr/>
        </p:nvSpPr>
        <p:spPr>
          <a:xfrm>
            <a:off x="777240" y="960120"/>
            <a:ext cx="8778240" cy="1828800"/>
          </a:xfrm>
          <a:prstGeom prst="rect">
            <a:avLst/>
          </a:prstGeom>
          <a:noFill/>
          <a:ln/>
        </p:spPr>
        <p:txBody>
          <a:bodyPr wrap="square" lIns="0" tIns="0" rIns="0" bIns="0" rtlCol="0" anchor="t"/>
          <a:lstStyle/>
          <a:p>
            <a:pPr indent="0" marL="0">
              <a:lnSpc>
                <a:spcPts val="4400"/>
              </a:lnSpc>
              <a:buNone/>
            </a:pPr>
            <a:r>
              <a:rPr lang="en-US" sz="3600" dirty="0">
                <a:solidFill>
                  <a:srgbClr val="2A2118"/>
                </a:solidFill>
                <a:latin typeface="Cambria" pitchFamily="34" charset="0"/>
                <a:ea typeface="Cambria" pitchFamily="34" charset="-122"/>
                <a:cs typeface="Cambria" pitchFamily="34" charset="-120"/>
              </a:rPr>
              <a:t>Most companies buy marketing in pieces. Nobody is answerable for the whole.</a:t>
            </a:r>
            <a:endParaRPr lang="en-US" sz="3600" dirty="0"/>
          </a:p>
        </p:txBody>
      </p:sp>
      <p:sp>
        <p:nvSpPr>
          <p:cNvPr id="5" name="Text 3"/>
          <p:cNvSpPr txBox="1"/>
          <p:nvPr/>
        </p:nvSpPr>
        <p:spPr>
          <a:xfrm>
            <a:off x="777240" y="3063240"/>
            <a:ext cx="7498080" cy="731520"/>
          </a:xfrm>
          <a:prstGeom prst="rect">
            <a:avLst/>
          </a:prstGeom>
          <a:noFill/>
          <a:ln/>
        </p:spPr>
        <p:txBody>
          <a:bodyPr wrap="square" lIns="0" tIns="0" rIns="0" bIns="0" rtlCol="0" anchor="t"/>
          <a:lstStyle/>
          <a:p>
            <a:pPr indent="0" marL="0">
              <a:lnSpc>
                <a:spcPts val="2200"/>
              </a:lnSpc>
              <a:buNone/>
            </a:pPr>
            <a:r>
              <a:rPr lang="en-US" sz="1550" dirty="0">
                <a:solidFill>
                  <a:srgbClr val="6E6355"/>
                </a:solidFill>
                <a:latin typeface="Calibri" pitchFamily="34" charset="0"/>
                <a:ea typeface="Calibri" pitchFamily="34" charset="-122"/>
                <a:cs typeface="Calibri" pitchFamily="34" charset="-120"/>
              </a:rPr>
              <a:t>Brand here. Media there. A web developer, a PR firm, a production house. Each does its part competently.</a:t>
            </a:r>
            <a:endParaRPr lang="en-US" sz="1550" dirty="0"/>
          </a:p>
        </p:txBody>
      </p:sp>
      <p:sp>
        <p:nvSpPr>
          <p:cNvPr id="6" name="Text 4"/>
          <p:cNvSpPr txBox="1"/>
          <p:nvPr/>
        </p:nvSpPr>
        <p:spPr>
          <a:xfrm>
            <a:off x="777240" y="4526280"/>
            <a:ext cx="8229600" cy="731520"/>
          </a:xfrm>
          <a:prstGeom prst="rect">
            <a:avLst/>
          </a:prstGeom>
          <a:noFill/>
          <a:ln/>
        </p:spPr>
        <p:txBody>
          <a:bodyPr wrap="square" lIns="0" tIns="0" rIns="0" bIns="0" rtlCol="0" anchor="ctr"/>
          <a:lstStyle/>
          <a:p>
            <a:pPr indent="0" marL="0">
              <a:buNone/>
            </a:pPr>
            <a:r>
              <a:rPr lang="en-US" sz="2600" i="1" dirty="0">
                <a:solidFill>
                  <a:srgbClr val="2A2118"/>
                </a:solidFill>
                <a:latin typeface="Cambria" pitchFamily="34" charset="0"/>
                <a:ea typeface="Cambria" pitchFamily="34" charset="-122"/>
                <a:cs typeface="Cambria" pitchFamily="34" charset="-120"/>
              </a:rPr>
              <a:t>It works — until something cannot be done twice.</a:t>
            </a:r>
            <a:endParaRPr lang="en-US" sz="2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21B14"/>
        </a:solidFill>
      </p:bgPr>
    </p:bg>
    <p:spTree>
      <p:nvGrpSpPr>
        <p:cNvPr id="1" name=""/>
        <p:cNvGrpSpPr/>
        <p:nvPr/>
      </p:nvGrpSpPr>
      <p:grpSpPr>
        <a:xfrm>
          <a:off x="0" y="0"/>
          <a:ext cx="0" cy="0"/>
          <a:chOff x="0" y="0"/>
          <a:chExt cx="0" cy="0"/>
        </a:xfrm>
      </p:grpSpPr>
      <p:sp>
        <p:nvSpPr>
          <p:cNvPr id="2" name="Text 0"/>
          <p:cNvSpPr txBox="1"/>
          <p:nvPr/>
        </p:nvSpPr>
        <p:spPr>
          <a:xfrm>
            <a:off x="11109960" y="6309360"/>
            <a:ext cx="548640" cy="274320"/>
          </a:xfrm>
          <a:prstGeom prst="rect">
            <a:avLst/>
          </a:prstGeom>
          <a:noFill/>
          <a:ln/>
        </p:spPr>
        <p:txBody>
          <a:bodyPr wrap="square" rtlCol="0" anchor="ctr"/>
          <a:lstStyle/>
          <a:p>
            <a:pPr algn="r" indent="0" marL="0">
              <a:buNone/>
            </a:pPr>
            <a:r>
              <a:rPr lang="en-US" sz="900" b="1" spc="150" kern="0" dirty="0">
                <a:solidFill>
                  <a:srgbClr val="A4988A"/>
                </a:solidFill>
                <a:latin typeface="Calibri" pitchFamily="34" charset="0"/>
                <a:ea typeface="Calibri" pitchFamily="34" charset="-122"/>
                <a:cs typeface="Calibri" pitchFamily="34" charset="-120"/>
              </a:rPr>
              <a:t>04</a:t>
            </a:r>
            <a:endParaRPr lang="en-US" sz="900" dirty="0"/>
          </a:p>
        </p:txBody>
      </p:sp>
      <p:sp>
        <p:nvSpPr>
          <p:cNvPr id="3" name="Text 1"/>
          <p:cNvSpPr txBox="1"/>
          <p:nvPr/>
        </p:nvSpPr>
        <p:spPr>
          <a:xfrm>
            <a:off x="777240" y="548640"/>
            <a:ext cx="8686800" cy="256032"/>
          </a:xfrm>
          <a:prstGeom prst="rect">
            <a:avLst/>
          </a:prstGeom>
          <a:noFill/>
          <a:ln/>
        </p:spPr>
        <p:txBody>
          <a:bodyPr wrap="square" lIns="0" tIns="0" rIns="0" bIns="0" rtlCol="0" anchor="ctr"/>
          <a:lstStyle/>
          <a:p>
            <a:pPr indent="0" marL="0">
              <a:buNone/>
            </a:pPr>
            <a:r>
              <a:rPr lang="en-US" sz="950" b="1" spc="260" kern="0" dirty="0">
                <a:solidFill>
                  <a:srgbClr val="C29A5C"/>
                </a:solidFill>
                <a:latin typeface="Calibri" pitchFamily="34" charset="0"/>
                <a:ea typeface="Calibri" pitchFamily="34" charset="-122"/>
                <a:cs typeface="Calibri" pitchFamily="34" charset="-120"/>
              </a:rPr>
              <a:t>WHAT WE ARE FOR</a:t>
            </a:r>
            <a:endParaRPr lang="en-US" sz="950" dirty="0"/>
          </a:p>
        </p:txBody>
      </p:sp>
      <p:sp>
        <p:nvSpPr>
          <p:cNvPr id="4" name="Text 2"/>
          <p:cNvSpPr txBox="1"/>
          <p:nvPr/>
        </p:nvSpPr>
        <p:spPr>
          <a:xfrm>
            <a:off x="777240" y="1554480"/>
            <a:ext cx="8595360" cy="2377440"/>
          </a:xfrm>
          <a:prstGeom prst="rect">
            <a:avLst/>
          </a:prstGeom>
          <a:noFill/>
          <a:ln/>
        </p:spPr>
        <p:txBody>
          <a:bodyPr wrap="square" lIns="0" tIns="0" rIns="0" bIns="0" rtlCol="0" anchor="ctr"/>
          <a:lstStyle/>
          <a:p>
            <a:pPr indent="0" marL="0">
              <a:lnSpc>
                <a:spcPts val="6000"/>
              </a:lnSpc>
              <a:buNone/>
            </a:pPr>
            <a:r>
              <a:rPr lang="en-US" sz="5200" dirty="0">
                <a:solidFill>
                  <a:srgbClr val="EFE8DA"/>
                </a:solidFill>
                <a:latin typeface="Cambria" pitchFamily="34" charset="0"/>
                <a:ea typeface="Cambria" pitchFamily="34" charset="-122"/>
                <a:cs typeface="Cambria" pitchFamily="34" charset="-120"/>
              </a:rPr>
              <a:t>Twenty years of work that had to be right the first time.</a:t>
            </a:r>
            <a:endParaRPr lang="en-US" sz="5200" dirty="0"/>
          </a:p>
        </p:txBody>
      </p:sp>
      <p:sp>
        <p:nvSpPr>
          <p:cNvPr id="5" name="Text 3"/>
          <p:cNvSpPr txBox="1"/>
          <p:nvPr/>
        </p:nvSpPr>
        <p:spPr>
          <a:xfrm>
            <a:off x="777240" y="4343400"/>
            <a:ext cx="7680960" cy="822960"/>
          </a:xfrm>
          <a:prstGeom prst="rect">
            <a:avLst/>
          </a:prstGeom>
          <a:noFill/>
          <a:ln/>
        </p:spPr>
        <p:txBody>
          <a:bodyPr wrap="square" lIns="0" tIns="0" rIns="0" bIns="0" rtlCol="0" anchor="ctr"/>
          <a:lstStyle/>
          <a:p>
            <a:pPr indent="0" marL="0">
              <a:lnSpc>
                <a:spcPts val="2400"/>
              </a:lnSpc>
              <a:buNone/>
            </a:pPr>
            <a:r>
              <a:rPr lang="en-US" sz="1600" dirty="0">
                <a:solidFill>
                  <a:srgbClr val="A4988A"/>
                </a:solidFill>
                <a:latin typeface="Calibri" pitchFamily="34" charset="0"/>
                <a:ea typeface="Calibri" pitchFamily="34" charset="-122"/>
                <a:cs typeface="Calibri" pitchFamily="34" charset="-120"/>
              </a:rPr>
              <a:t>An event staged abroad on a fixed date. A season that arrives whether you are ready. A launch with one window.</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21B14"/>
        </a:solidFill>
      </p:bgPr>
    </p:bg>
    <p:spTree>
      <p:nvGrpSpPr>
        <p:cNvPr id="1" name=""/>
        <p:cNvGrpSpPr/>
        <p:nvPr/>
      </p:nvGrpSpPr>
      <p:grpSpPr>
        <a:xfrm>
          <a:off x="0" y="0"/>
          <a:ext cx="0" cy="0"/>
          <a:chOff x="0" y="0"/>
          <a:chExt cx="0" cy="0"/>
        </a:xfrm>
      </p:grpSpPr>
      <p:sp>
        <p:nvSpPr>
          <p:cNvPr id="2" name="Text 0"/>
          <p:cNvSpPr txBox="1"/>
          <p:nvPr/>
        </p:nvSpPr>
        <p:spPr>
          <a:xfrm>
            <a:off x="11109960" y="6309360"/>
            <a:ext cx="548640" cy="274320"/>
          </a:xfrm>
          <a:prstGeom prst="rect">
            <a:avLst/>
          </a:prstGeom>
          <a:noFill/>
          <a:ln/>
        </p:spPr>
        <p:txBody>
          <a:bodyPr wrap="square" rtlCol="0" anchor="ctr"/>
          <a:lstStyle/>
          <a:p>
            <a:pPr algn="r" indent="0" marL="0">
              <a:buNone/>
            </a:pPr>
            <a:r>
              <a:rPr lang="en-US" sz="900" b="1" spc="150" kern="0" dirty="0">
                <a:solidFill>
                  <a:srgbClr val="A4988A"/>
                </a:solidFill>
                <a:latin typeface="Calibri" pitchFamily="34" charset="0"/>
                <a:ea typeface="Calibri" pitchFamily="34" charset="-122"/>
                <a:cs typeface="Calibri" pitchFamily="34" charset="-120"/>
              </a:rPr>
              <a:t>05</a:t>
            </a:r>
            <a:endParaRPr lang="en-US" sz="900" dirty="0"/>
          </a:p>
        </p:txBody>
      </p:sp>
      <p:sp>
        <p:nvSpPr>
          <p:cNvPr id="3" name="Text 1"/>
          <p:cNvSpPr txBox="1"/>
          <p:nvPr/>
        </p:nvSpPr>
        <p:spPr>
          <a:xfrm>
            <a:off x="777240" y="2514600"/>
            <a:ext cx="10058400" cy="1280160"/>
          </a:xfrm>
          <a:prstGeom prst="rect">
            <a:avLst/>
          </a:prstGeom>
          <a:noFill/>
          <a:ln/>
        </p:spPr>
        <p:txBody>
          <a:bodyPr wrap="square" lIns="0" tIns="0" rIns="0" bIns="0" rtlCol="0" anchor="ctr"/>
          <a:lstStyle/>
          <a:p>
            <a:pPr indent="0" marL="0">
              <a:buNone/>
            </a:pPr>
            <a:r>
              <a:rPr lang="en-US" sz="5800" dirty="0">
                <a:solidFill>
                  <a:srgbClr val="EFE8DA"/>
                </a:solidFill>
                <a:latin typeface="Cambria" pitchFamily="34" charset="0"/>
                <a:ea typeface="Cambria" pitchFamily="34" charset="-122"/>
                <a:cs typeface="Cambria" pitchFamily="34" charset="-120"/>
              </a:rPr>
              <a:t>The work.</a:t>
            </a:r>
            <a:endParaRPr lang="en-US" sz="5800" dirty="0"/>
          </a:p>
        </p:txBody>
      </p:sp>
      <p:sp>
        <p:nvSpPr>
          <p:cNvPr id="4" name="Text 2"/>
          <p:cNvSpPr txBox="1"/>
          <p:nvPr/>
        </p:nvSpPr>
        <p:spPr>
          <a:xfrm>
            <a:off x="777240" y="3840480"/>
            <a:ext cx="8229600" cy="457200"/>
          </a:xfrm>
          <a:prstGeom prst="rect">
            <a:avLst/>
          </a:prstGeom>
          <a:noFill/>
          <a:ln/>
        </p:spPr>
        <p:txBody>
          <a:bodyPr wrap="square" lIns="0" tIns="0" rIns="0" bIns="0" rtlCol="0" anchor="ctr"/>
          <a:lstStyle/>
          <a:p>
            <a:pPr indent="0" marL="0">
              <a:buNone/>
            </a:pPr>
            <a:r>
              <a:rPr lang="en-US" sz="1400" dirty="0">
                <a:solidFill>
                  <a:srgbClr val="A4988A"/>
                </a:solidFill>
                <a:latin typeface="Calibri" pitchFamily="34" charset="0"/>
                <a:ea typeface="Calibri" pitchFamily="34" charset="-122"/>
                <a:cs typeface="Calibri" pitchFamily="34" charset="-120"/>
              </a:rPr>
              <a:t>Four clients. Rising stakes.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DE4"/>
        </a:solidFill>
      </p:bgPr>
    </p:bg>
    <p:spTree>
      <p:nvGrpSpPr>
        <p:cNvPr id="1" name=""/>
        <p:cNvGrpSpPr/>
        <p:nvPr/>
      </p:nvGrpSpPr>
      <p:grpSpPr>
        <a:xfrm>
          <a:off x="0" y="0"/>
          <a:ext cx="0" cy="0"/>
          <a:chOff x="0" y="0"/>
          <a:chExt cx="0" cy="0"/>
        </a:xfrm>
      </p:grpSpPr>
      <p:sp>
        <p:nvSpPr>
          <p:cNvPr id="2" name="Text 0"/>
          <p:cNvSpPr txBox="1"/>
          <p:nvPr/>
        </p:nvSpPr>
        <p:spPr>
          <a:xfrm>
            <a:off x="11109960" y="6309360"/>
            <a:ext cx="548640" cy="274320"/>
          </a:xfrm>
          <a:prstGeom prst="rect">
            <a:avLst/>
          </a:prstGeom>
          <a:noFill/>
          <a:ln/>
        </p:spPr>
        <p:txBody>
          <a:bodyPr wrap="square" rtlCol="0" anchor="ctr"/>
          <a:lstStyle/>
          <a:p>
            <a:pPr algn="r" indent="0" marL="0">
              <a:buNone/>
            </a:pPr>
            <a:r>
              <a:rPr lang="en-US" sz="900" b="1" spc="150" kern="0" dirty="0">
                <a:solidFill>
                  <a:srgbClr val="A79C8C"/>
                </a:solidFill>
                <a:latin typeface="Calibri" pitchFamily="34" charset="0"/>
                <a:ea typeface="Calibri" pitchFamily="34" charset="-122"/>
                <a:cs typeface="Calibri" pitchFamily="34" charset="-120"/>
              </a:rPr>
              <a:t>06</a:t>
            </a:r>
            <a:endParaRPr lang="en-US" sz="900" dirty="0"/>
          </a:p>
        </p:txBody>
      </p:sp>
      <p:sp>
        <p:nvSpPr>
          <p:cNvPr id="3" name="Text 1"/>
          <p:cNvSpPr txBox="1"/>
          <p:nvPr/>
        </p:nvSpPr>
        <p:spPr>
          <a:xfrm>
            <a:off x="777240" y="548640"/>
            <a:ext cx="8686800" cy="256032"/>
          </a:xfrm>
          <a:prstGeom prst="rect">
            <a:avLst/>
          </a:prstGeom>
          <a:noFill/>
          <a:ln/>
        </p:spPr>
        <p:txBody>
          <a:bodyPr wrap="square" lIns="0" tIns="0" rIns="0" bIns="0" rtlCol="0" anchor="ctr"/>
          <a:lstStyle/>
          <a:p>
            <a:pPr indent="0" marL="0">
              <a:buNone/>
            </a:pPr>
            <a:r>
              <a:rPr lang="en-US" sz="950" b="1" spc="260" kern="0" dirty="0">
                <a:solidFill>
                  <a:srgbClr val="8A6A3A"/>
                </a:solidFill>
                <a:latin typeface="Calibri" pitchFamily="34" charset="0"/>
                <a:ea typeface="Calibri" pitchFamily="34" charset="-122"/>
                <a:cs typeface="Calibri" pitchFamily="34" charset="-120"/>
              </a:rPr>
              <a:t>CLIENTS</a:t>
            </a:r>
            <a:endParaRPr lang="en-US" sz="950" dirty="0"/>
          </a:p>
        </p:txBody>
      </p:sp>
      <p:sp>
        <p:nvSpPr>
          <p:cNvPr id="4" name="Text 2"/>
          <p:cNvSpPr txBox="1"/>
          <p:nvPr/>
        </p:nvSpPr>
        <p:spPr>
          <a:xfrm>
            <a:off x="777240" y="960120"/>
            <a:ext cx="9692640" cy="1188720"/>
          </a:xfrm>
          <a:prstGeom prst="rect">
            <a:avLst/>
          </a:prstGeom>
          <a:noFill/>
          <a:ln/>
        </p:spPr>
        <p:txBody>
          <a:bodyPr wrap="square" lIns="0" tIns="0" rIns="0" bIns="0" rtlCol="0" anchor="t"/>
          <a:lstStyle/>
          <a:p>
            <a:pPr indent="0" marL="0">
              <a:lnSpc>
                <a:spcPts val="3500"/>
              </a:lnSpc>
              <a:buNone/>
            </a:pPr>
            <a:r>
              <a:rPr lang="en-US" sz="2900" dirty="0">
                <a:solidFill>
                  <a:srgbClr val="2A2118"/>
                </a:solidFill>
                <a:latin typeface="Cambria" pitchFamily="34" charset="0"/>
                <a:ea typeface="Cambria" pitchFamily="34" charset="-122"/>
                <a:cs typeface="Cambria" pitchFamily="34" charset="-120"/>
              </a:rPr>
              <a:t>Twenty years across government, luxury goods, retail, food and manufacturing.</a:t>
            </a:r>
            <a:endParaRPr lang="en-US" sz="2900" dirty="0"/>
          </a:p>
        </p:txBody>
      </p:sp>
      <p:sp>
        <p:nvSpPr>
          <p:cNvPr id="5" name="Shape 3"/>
          <p:cNvSpPr/>
          <p:nvPr/>
        </p:nvSpPr>
        <p:spPr>
          <a:xfrm>
            <a:off x="777240" y="2606040"/>
            <a:ext cx="2743200" cy="914400"/>
          </a:xfrm>
          <a:prstGeom prst="rect">
            <a:avLst/>
          </a:prstGeom>
          <a:solidFill>
            <a:srgbClr val="E7E0D3"/>
          </a:solidFill>
          <a:ln/>
        </p:spPr>
      </p:sp>
      <p:sp>
        <p:nvSpPr>
          <p:cNvPr id="6" name="Text 4"/>
          <p:cNvSpPr txBox="1"/>
          <p:nvPr/>
        </p:nvSpPr>
        <p:spPr>
          <a:xfrm>
            <a:off x="941832" y="2606040"/>
            <a:ext cx="2423160" cy="914400"/>
          </a:xfrm>
          <a:prstGeom prst="rect">
            <a:avLst/>
          </a:prstGeom>
          <a:noFill/>
          <a:ln/>
        </p:spPr>
        <p:txBody>
          <a:bodyPr wrap="square" rtlCol="0" anchor="ctr"/>
          <a:lstStyle/>
          <a:p>
            <a:pPr indent="0" marL="0">
              <a:lnSpc>
                <a:spcPts val="1400"/>
              </a:lnSpc>
              <a:buNone/>
            </a:pPr>
            <a:r>
              <a:rPr lang="en-US" sz="1100" b="1" dirty="0">
                <a:solidFill>
                  <a:srgbClr val="2A2118"/>
                </a:solidFill>
                <a:latin typeface="Calibri" pitchFamily="34" charset="0"/>
                <a:ea typeface="Calibri" pitchFamily="34" charset="-122"/>
                <a:cs typeface="Calibri" pitchFamily="34" charset="-120"/>
              </a:rPr>
              <a:t>Government &amp;</a:t>
            </a:r>
            <a:endParaRPr lang="en-US" sz="1100" dirty="0"/>
          </a:p>
          <a:p>
            <a:pPr indent="0" marL="0">
              <a:lnSpc>
                <a:spcPts val="1400"/>
              </a:lnSpc>
              <a:buNone/>
            </a:pPr>
            <a:r>
              <a:rPr lang="en-US" sz="1100" b="1" dirty="0">
                <a:solidFill>
                  <a:srgbClr val="2A2118"/>
                </a:solidFill>
                <a:latin typeface="Calibri" pitchFamily="34" charset="0"/>
                <a:ea typeface="Calibri" pitchFamily="34" charset="-122"/>
                <a:cs typeface="Calibri" pitchFamily="34" charset="-120"/>
              </a:rPr>
              <a:t>semi-government</a:t>
            </a:r>
            <a:endParaRPr lang="en-US" sz="1100" dirty="0"/>
          </a:p>
        </p:txBody>
      </p:sp>
      <p:sp>
        <p:nvSpPr>
          <p:cNvPr id="7" name="Text 5"/>
          <p:cNvSpPr txBox="1"/>
          <p:nvPr/>
        </p:nvSpPr>
        <p:spPr>
          <a:xfrm>
            <a:off x="3749040" y="2606040"/>
            <a:ext cx="7498080" cy="914400"/>
          </a:xfrm>
          <a:prstGeom prst="rect">
            <a:avLst/>
          </a:prstGeom>
          <a:noFill/>
          <a:ln/>
        </p:spPr>
        <p:txBody>
          <a:bodyPr wrap="square" rtlCol="0" anchor="ctr"/>
          <a:lstStyle/>
          <a:p>
            <a:pPr indent="0" marL="0">
              <a:lnSpc>
                <a:spcPts val="1600"/>
              </a:lnSpc>
              <a:buNone/>
            </a:pPr>
            <a:r>
              <a:rPr lang="en-US" sz="1150" dirty="0">
                <a:solidFill>
                  <a:srgbClr val="6E6355"/>
                </a:solidFill>
                <a:latin typeface="Calibri" pitchFamily="34" charset="0"/>
                <a:ea typeface="Calibri" pitchFamily="34" charset="-122"/>
                <a:cs typeface="Calibri" pitchFamily="34" charset="-120"/>
              </a:rPr>
              <a:t>OPEC · Mubadala · ADNOC · RTA · DEWA · ESMA · Ministry of Energy · Ministry of Economy · FCA · MOPA · SPSA · ADAEGP · POD/DCD · Pension Fund · ADAFSA · Dept. of Economic Development</a:t>
            </a:r>
            <a:endParaRPr lang="en-US" sz="1150" dirty="0"/>
          </a:p>
        </p:txBody>
      </p:sp>
      <p:sp>
        <p:nvSpPr>
          <p:cNvPr id="8" name="Shape 6"/>
          <p:cNvSpPr/>
          <p:nvPr/>
        </p:nvSpPr>
        <p:spPr>
          <a:xfrm>
            <a:off x="777240" y="3703320"/>
            <a:ext cx="2743200" cy="914400"/>
          </a:xfrm>
          <a:prstGeom prst="rect">
            <a:avLst/>
          </a:prstGeom>
          <a:solidFill>
            <a:srgbClr val="E7E0D3"/>
          </a:solidFill>
          <a:ln/>
        </p:spPr>
      </p:sp>
      <p:sp>
        <p:nvSpPr>
          <p:cNvPr id="9" name="Text 7"/>
          <p:cNvSpPr txBox="1"/>
          <p:nvPr/>
        </p:nvSpPr>
        <p:spPr>
          <a:xfrm>
            <a:off x="941832" y="3703320"/>
            <a:ext cx="2423160" cy="914400"/>
          </a:xfrm>
          <a:prstGeom prst="rect">
            <a:avLst/>
          </a:prstGeom>
          <a:noFill/>
          <a:ln/>
        </p:spPr>
        <p:txBody>
          <a:bodyPr wrap="square" rtlCol="0" anchor="ctr"/>
          <a:lstStyle/>
          <a:p>
            <a:pPr indent="0" marL="0">
              <a:lnSpc>
                <a:spcPts val="1400"/>
              </a:lnSpc>
              <a:buNone/>
            </a:pPr>
            <a:r>
              <a:rPr lang="en-US" sz="1100" b="1" dirty="0">
                <a:solidFill>
                  <a:srgbClr val="2A2118"/>
                </a:solidFill>
                <a:latin typeface="Calibri" pitchFamily="34" charset="0"/>
                <a:ea typeface="Calibri" pitchFamily="34" charset="-122"/>
                <a:cs typeface="Calibri" pitchFamily="34" charset="-120"/>
              </a:rPr>
              <a:t>Private sector</a:t>
            </a:r>
            <a:endParaRPr lang="en-US" sz="1100" dirty="0"/>
          </a:p>
        </p:txBody>
      </p:sp>
      <p:sp>
        <p:nvSpPr>
          <p:cNvPr id="10" name="Text 8"/>
          <p:cNvSpPr txBox="1"/>
          <p:nvPr/>
        </p:nvSpPr>
        <p:spPr>
          <a:xfrm>
            <a:off x="3749040" y="3703320"/>
            <a:ext cx="7498080" cy="914400"/>
          </a:xfrm>
          <a:prstGeom prst="rect">
            <a:avLst/>
          </a:prstGeom>
          <a:noFill/>
          <a:ln/>
        </p:spPr>
        <p:txBody>
          <a:bodyPr wrap="square" rtlCol="0" anchor="ctr"/>
          <a:lstStyle/>
          <a:p>
            <a:pPr indent="0" marL="0">
              <a:lnSpc>
                <a:spcPts val="1600"/>
              </a:lnSpc>
              <a:buNone/>
            </a:pPr>
            <a:r>
              <a:rPr lang="en-US" sz="1150" dirty="0">
                <a:solidFill>
                  <a:srgbClr val="6E6355"/>
                </a:solidFill>
                <a:latin typeface="Calibri" pitchFamily="34" charset="0"/>
                <a:ea typeface="Calibri" pitchFamily="34" charset="-122"/>
                <a:cs typeface="Calibri" pitchFamily="34" charset="-120"/>
              </a:rPr>
              <a:t>DAMAC · HMS · MBR</a:t>
            </a:r>
            <a:endParaRPr lang="en-US" sz="1150" dirty="0"/>
          </a:p>
        </p:txBody>
      </p:sp>
      <p:sp>
        <p:nvSpPr>
          <p:cNvPr id="11" name="Shape 9"/>
          <p:cNvSpPr/>
          <p:nvPr/>
        </p:nvSpPr>
        <p:spPr>
          <a:xfrm>
            <a:off x="777240" y="4800600"/>
            <a:ext cx="2743200" cy="914400"/>
          </a:xfrm>
          <a:prstGeom prst="rect">
            <a:avLst/>
          </a:prstGeom>
          <a:solidFill>
            <a:srgbClr val="E7E0D3"/>
          </a:solidFill>
          <a:ln/>
        </p:spPr>
      </p:sp>
      <p:sp>
        <p:nvSpPr>
          <p:cNvPr id="12" name="Text 10"/>
          <p:cNvSpPr txBox="1"/>
          <p:nvPr/>
        </p:nvSpPr>
        <p:spPr>
          <a:xfrm>
            <a:off x="941832" y="4800600"/>
            <a:ext cx="2423160" cy="914400"/>
          </a:xfrm>
          <a:prstGeom prst="rect">
            <a:avLst/>
          </a:prstGeom>
          <a:noFill/>
          <a:ln/>
        </p:spPr>
        <p:txBody>
          <a:bodyPr wrap="square" rtlCol="0" anchor="ctr"/>
          <a:lstStyle/>
          <a:p>
            <a:pPr indent="0" marL="0">
              <a:lnSpc>
                <a:spcPts val="1400"/>
              </a:lnSpc>
              <a:buNone/>
            </a:pPr>
            <a:r>
              <a:rPr lang="en-US" sz="1100" b="1" dirty="0">
                <a:solidFill>
                  <a:srgbClr val="2A2118"/>
                </a:solidFill>
                <a:latin typeface="Calibri" pitchFamily="34" charset="0"/>
                <a:ea typeface="Calibri" pitchFamily="34" charset="-122"/>
                <a:cs typeface="Calibri" pitchFamily="34" charset="-120"/>
              </a:rPr>
              <a:t>Luxury, retail</a:t>
            </a:r>
            <a:endParaRPr lang="en-US" sz="1100" dirty="0"/>
          </a:p>
          <a:p>
            <a:pPr indent="0" marL="0">
              <a:lnSpc>
                <a:spcPts val="1400"/>
              </a:lnSpc>
              <a:buNone/>
            </a:pPr>
            <a:r>
              <a:rPr lang="en-US" sz="1100" b="1" dirty="0">
                <a:solidFill>
                  <a:srgbClr val="2A2118"/>
                </a:solidFill>
                <a:latin typeface="Calibri" pitchFamily="34" charset="0"/>
                <a:ea typeface="Calibri" pitchFamily="34" charset="-122"/>
                <a:cs typeface="Calibri" pitchFamily="34" charset="-120"/>
              </a:rPr>
              <a:t>&amp; industrial</a:t>
            </a:r>
            <a:endParaRPr lang="en-US" sz="1100" dirty="0"/>
          </a:p>
        </p:txBody>
      </p:sp>
      <p:sp>
        <p:nvSpPr>
          <p:cNvPr id="13" name="Text 11"/>
          <p:cNvSpPr txBox="1"/>
          <p:nvPr/>
        </p:nvSpPr>
        <p:spPr>
          <a:xfrm>
            <a:off x="3749040" y="4800600"/>
            <a:ext cx="7498080" cy="914400"/>
          </a:xfrm>
          <a:prstGeom prst="rect">
            <a:avLst/>
          </a:prstGeom>
          <a:noFill/>
          <a:ln/>
        </p:spPr>
        <p:txBody>
          <a:bodyPr wrap="square" rtlCol="0" anchor="ctr"/>
          <a:lstStyle/>
          <a:p>
            <a:pPr indent="0" marL="0">
              <a:lnSpc>
                <a:spcPts val="1600"/>
              </a:lnSpc>
              <a:buNone/>
            </a:pPr>
            <a:r>
              <a:rPr lang="en-US" sz="1150" dirty="0">
                <a:solidFill>
                  <a:srgbClr val="6E6355"/>
                </a:solidFill>
                <a:latin typeface="Calibri" pitchFamily="34" charset="0"/>
                <a:ea typeface="Calibri" pitchFamily="34" charset="-122"/>
                <a:cs typeface="Calibri" pitchFamily="34" charset="-120"/>
              </a:rPr>
              <a:t>Ferronato · Forrey &amp; Galland · KGS</a:t>
            </a:r>
            <a:endParaRPr lang="en-US" sz="1150" dirty="0"/>
          </a:p>
        </p:txBody>
      </p:sp>
      <p:sp>
        <p:nvSpPr>
          <p:cNvPr id="14" name="Text 12"/>
          <p:cNvSpPr txBox="1"/>
          <p:nvPr/>
        </p:nvSpPr>
        <p:spPr>
          <a:xfrm>
            <a:off x="777240" y="6035040"/>
            <a:ext cx="8229600" cy="274320"/>
          </a:xfrm>
          <a:prstGeom prst="rect">
            <a:avLst/>
          </a:prstGeom>
          <a:noFill/>
          <a:ln/>
        </p:spPr>
        <p:txBody>
          <a:bodyPr wrap="square" lIns="0" tIns="0" rIns="0" bIns="0" rtlCol="0" anchor="ctr"/>
          <a:lstStyle/>
          <a:p>
            <a:pPr indent="0" marL="0">
              <a:buNone/>
            </a:pPr>
            <a:r>
              <a:rPr lang="en-US" sz="950" i="1" dirty="0">
                <a:solidFill>
                  <a:srgbClr val="A79C8C"/>
                </a:solidFill>
                <a:latin typeface="Calibri" pitchFamily="34" charset="0"/>
                <a:ea typeface="Calibri" pitchFamily="34" charset="-122"/>
                <a:cs typeface="Calibri" pitchFamily="34" charset="-120"/>
              </a:rPr>
              <a:t>Client logos replace this list once naming consent is confirmed.</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DE4"/>
        </a:solidFill>
      </p:bgPr>
    </p:bg>
    <p:spTree>
      <p:nvGrpSpPr>
        <p:cNvPr id="1" name=""/>
        <p:cNvGrpSpPr/>
        <p:nvPr/>
      </p:nvGrpSpPr>
      <p:grpSpPr>
        <a:xfrm>
          <a:off x="0" y="0"/>
          <a:ext cx="0" cy="0"/>
          <a:chOff x="0" y="0"/>
          <a:chExt cx="0" cy="0"/>
        </a:xfrm>
      </p:grpSpPr>
      <p:sp>
        <p:nvSpPr>
          <p:cNvPr id="2" name="Text 0"/>
          <p:cNvSpPr txBox="1"/>
          <p:nvPr/>
        </p:nvSpPr>
        <p:spPr>
          <a:xfrm>
            <a:off x="11109960" y="6309360"/>
            <a:ext cx="548640" cy="274320"/>
          </a:xfrm>
          <a:prstGeom prst="rect">
            <a:avLst/>
          </a:prstGeom>
          <a:noFill/>
          <a:ln/>
        </p:spPr>
        <p:txBody>
          <a:bodyPr wrap="square" rtlCol="0" anchor="ctr"/>
          <a:lstStyle/>
          <a:p>
            <a:pPr algn="r" indent="0" marL="0">
              <a:buNone/>
            </a:pPr>
            <a:r>
              <a:rPr lang="en-US" sz="900" b="1" spc="150" kern="0" dirty="0">
                <a:solidFill>
                  <a:srgbClr val="A79C8C"/>
                </a:solidFill>
                <a:latin typeface="Calibri" pitchFamily="34" charset="0"/>
                <a:ea typeface="Calibri" pitchFamily="34" charset="-122"/>
                <a:cs typeface="Calibri" pitchFamily="34" charset="-120"/>
              </a:rPr>
              <a:t>07</a:t>
            </a:r>
            <a:endParaRPr lang="en-US" sz="900" dirty="0"/>
          </a:p>
        </p:txBody>
      </p:sp>
      <p:sp>
        <p:nvSpPr>
          <p:cNvPr id="3" name="Text 1"/>
          <p:cNvSpPr txBox="1"/>
          <p:nvPr/>
        </p:nvSpPr>
        <p:spPr>
          <a:xfrm>
            <a:off x="777240" y="548640"/>
            <a:ext cx="8686800" cy="256032"/>
          </a:xfrm>
          <a:prstGeom prst="rect">
            <a:avLst/>
          </a:prstGeom>
          <a:noFill/>
          <a:ln/>
        </p:spPr>
        <p:txBody>
          <a:bodyPr wrap="square" lIns="0" tIns="0" rIns="0" bIns="0" rtlCol="0" anchor="ctr"/>
          <a:lstStyle/>
          <a:p>
            <a:pPr indent="0" marL="0">
              <a:buNone/>
            </a:pPr>
            <a:r>
              <a:rPr lang="en-US" sz="950" b="1" spc="260" kern="0" dirty="0">
                <a:solidFill>
                  <a:srgbClr val="8A6A3A"/>
                </a:solidFill>
                <a:latin typeface="Calibri" pitchFamily="34" charset="0"/>
                <a:ea typeface="Calibri" pitchFamily="34" charset="-122"/>
                <a:cs typeface="Calibri" pitchFamily="34" charset="-120"/>
              </a:rPr>
              <a:t>FORREY &amp; GALLAND · LUXURY CONFECTIONERY · UAE</a:t>
            </a:r>
            <a:endParaRPr lang="en-US" sz="950" dirty="0"/>
          </a:p>
        </p:txBody>
      </p:sp>
      <p:sp>
        <p:nvSpPr>
          <p:cNvPr id="4" name="Text 2"/>
          <p:cNvSpPr txBox="1"/>
          <p:nvPr/>
        </p:nvSpPr>
        <p:spPr>
          <a:xfrm>
            <a:off x="777240" y="960120"/>
            <a:ext cx="5943600" cy="1371600"/>
          </a:xfrm>
          <a:prstGeom prst="rect">
            <a:avLst/>
          </a:prstGeom>
          <a:noFill/>
          <a:ln/>
        </p:spPr>
        <p:txBody>
          <a:bodyPr wrap="square" lIns="0" tIns="0" rIns="0" bIns="0" rtlCol="0" anchor="t"/>
          <a:lstStyle/>
          <a:p>
            <a:pPr indent="0" marL="0">
              <a:lnSpc>
                <a:spcPts val="3500"/>
              </a:lnSpc>
              <a:buNone/>
            </a:pPr>
            <a:r>
              <a:rPr lang="en-US" sz="2900" dirty="0">
                <a:solidFill>
                  <a:srgbClr val="2A2118"/>
                </a:solidFill>
                <a:latin typeface="Cambria" pitchFamily="34" charset="0"/>
                <a:ea typeface="Cambria" pitchFamily="34" charset="-122"/>
                <a:cs typeface="Cambria" pitchFamily="34" charset="-120"/>
              </a:rPr>
              <a:t>Search visibility up 3.4×, with no paid media at all.</a:t>
            </a:r>
            <a:endParaRPr lang="en-US" sz="2900" dirty="0"/>
          </a:p>
        </p:txBody>
      </p:sp>
      <p:sp>
        <p:nvSpPr>
          <p:cNvPr id="5" name="Text 3"/>
          <p:cNvSpPr txBox="1"/>
          <p:nvPr/>
        </p:nvSpPr>
        <p:spPr>
          <a:xfrm>
            <a:off x="777240" y="2395728"/>
            <a:ext cx="5623560" cy="219456"/>
          </a:xfrm>
          <a:prstGeom prst="rect">
            <a:avLst/>
          </a:prstGeom>
          <a:noFill/>
          <a:ln/>
        </p:spPr>
        <p:txBody>
          <a:bodyPr wrap="square" lIns="0" tIns="0" rIns="0" bIns="0" rtlCol="0" anchor="ctr"/>
          <a:lstStyle/>
          <a:p>
            <a:pPr indent="0" marL="0">
              <a:buNone/>
            </a:pPr>
            <a:r>
              <a:rPr lang="en-US" sz="850" b="1" spc="180" kern="0" dirty="0">
                <a:solidFill>
                  <a:srgbClr val="8A6A3A"/>
                </a:solidFill>
                <a:latin typeface="Calibri" pitchFamily="34" charset="0"/>
                <a:ea typeface="Calibri" pitchFamily="34" charset="-122"/>
                <a:cs typeface="Calibri" pitchFamily="34" charset="-120"/>
              </a:rPr>
              <a:t>THE CHALLENGE</a:t>
            </a:r>
            <a:endParaRPr lang="en-US" sz="850" dirty="0"/>
          </a:p>
        </p:txBody>
      </p:sp>
      <p:sp>
        <p:nvSpPr>
          <p:cNvPr id="6" name="Text 4"/>
          <p:cNvSpPr txBox="1"/>
          <p:nvPr/>
        </p:nvSpPr>
        <p:spPr>
          <a:xfrm>
            <a:off x="777240" y="2670048"/>
            <a:ext cx="5623560" cy="960120"/>
          </a:xfrm>
          <a:prstGeom prst="rect">
            <a:avLst/>
          </a:prstGeom>
          <a:noFill/>
          <a:ln/>
        </p:spPr>
        <p:txBody>
          <a:bodyPr wrap="square" lIns="0" tIns="0" rIns="0" bIns="0" rtlCol="0" anchor="t"/>
          <a:lstStyle/>
          <a:p>
            <a:pPr indent="0" marL="0">
              <a:lnSpc>
                <a:spcPts val="1800"/>
              </a:lnSpc>
              <a:buNone/>
            </a:pPr>
            <a:r>
              <a:rPr lang="en-US" sz="1300" dirty="0">
                <a:solidFill>
                  <a:srgbClr val="6E6355"/>
                </a:solidFill>
                <a:latin typeface="Calibri" pitchFamily="34" charset="0"/>
                <a:ea typeface="Calibri" pitchFamily="34" charset="-122"/>
                <a:cs typeface="Calibri" pitchFamily="34" charset="-120"/>
              </a:rPr>
              <a:t>A luxury confectioner whose business runs on occasions, competing for attention in a category where everyone buys the same seasonal media at the same time, at the same rising cost.</a:t>
            </a:r>
            <a:endParaRPr lang="en-US" sz="1300" dirty="0"/>
          </a:p>
        </p:txBody>
      </p:sp>
      <p:sp>
        <p:nvSpPr>
          <p:cNvPr id="7" name="Text 5"/>
          <p:cNvSpPr txBox="1"/>
          <p:nvPr/>
        </p:nvSpPr>
        <p:spPr>
          <a:xfrm>
            <a:off x="777240" y="3675888"/>
            <a:ext cx="5623560" cy="219456"/>
          </a:xfrm>
          <a:prstGeom prst="rect">
            <a:avLst/>
          </a:prstGeom>
          <a:noFill/>
          <a:ln/>
        </p:spPr>
        <p:txBody>
          <a:bodyPr wrap="square" lIns="0" tIns="0" rIns="0" bIns="0" rtlCol="0" anchor="ctr"/>
          <a:lstStyle/>
          <a:p>
            <a:pPr indent="0" marL="0">
              <a:buNone/>
            </a:pPr>
            <a:r>
              <a:rPr lang="en-US" sz="850" b="1" spc="180" kern="0" dirty="0">
                <a:solidFill>
                  <a:srgbClr val="8A6A3A"/>
                </a:solidFill>
                <a:latin typeface="Calibri" pitchFamily="34" charset="0"/>
                <a:ea typeface="Calibri" pitchFamily="34" charset="-122"/>
                <a:cs typeface="Calibri" pitchFamily="34" charset="-120"/>
              </a:rPr>
              <a:t>WHAT WE DID</a:t>
            </a:r>
            <a:endParaRPr lang="en-US" sz="850" dirty="0"/>
          </a:p>
        </p:txBody>
      </p:sp>
      <p:sp>
        <p:nvSpPr>
          <p:cNvPr id="8" name="Text 6"/>
          <p:cNvSpPr txBox="1"/>
          <p:nvPr/>
        </p:nvSpPr>
        <p:spPr>
          <a:xfrm>
            <a:off x="777240" y="3950208"/>
            <a:ext cx="5623560" cy="960120"/>
          </a:xfrm>
          <a:prstGeom prst="rect">
            <a:avLst/>
          </a:prstGeom>
          <a:noFill/>
          <a:ln/>
        </p:spPr>
        <p:txBody>
          <a:bodyPr wrap="square" lIns="0" tIns="0" rIns="0" bIns="0" rtlCol="0" anchor="t"/>
          <a:lstStyle/>
          <a:p>
            <a:pPr indent="0" marL="0">
              <a:lnSpc>
                <a:spcPts val="1800"/>
              </a:lnSpc>
              <a:buNone/>
            </a:pPr>
            <a:r>
              <a:rPr lang="en-US" sz="1300" dirty="0">
                <a:solidFill>
                  <a:srgbClr val="6E6355"/>
                </a:solidFill>
                <a:latin typeface="Calibri" pitchFamily="34" charset="0"/>
                <a:ea typeface="Calibri" pitchFamily="34" charset="-122"/>
                <a:cs typeface="Calibri" pitchFamily="34" charset="-120"/>
              </a:rPr>
              <a:t>Built visibility structurally instead of buying it. The catalogue, the occasion pages and the search architecture were rebuilt so the brand could be found on its own terms across the whole calendar.</a:t>
            </a:r>
            <a:endParaRPr lang="en-US" sz="1300" dirty="0"/>
          </a:p>
        </p:txBody>
      </p:sp>
      <p:sp>
        <p:nvSpPr>
          <p:cNvPr id="9" name="Shape 7"/>
          <p:cNvSpPr/>
          <p:nvPr/>
        </p:nvSpPr>
        <p:spPr>
          <a:xfrm>
            <a:off x="777240" y="4956048"/>
            <a:ext cx="1789176" cy="603504"/>
          </a:xfrm>
          <a:prstGeom prst="rect">
            <a:avLst/>
          </a:prstGeom>
          <a:solidFill>
            <a:srgbClr val="8A6A3A"/>
          </a:solidFill>
          <a:ln/>
        </p:spPr>
      </p:sp>
      <p:sp>
        <p:nvSpPr>
          <p:cNvPr id="10" name="Text 8"/>
          <p:cNvSpPr txBox="1"/>
          <p:nvPr/>
        </p:nvSpPr>
        <p:spPr>
          <a:xfrm>
            <a:off x="905256" y="4956048"/>
            <a:ext cx="1533144" cy="603504"/>
          </a:xfrm>
          <a:prstGeom prst="rect">
            <a:avLst/>
          </a:prstGeom>
          <a:noFill/>
          <a:ln/>
        </p:spPr>
        <p:txBody>
          <a:bodyPr wrap="square"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75 → 254 keywords</a:t>
            </a:r>
            <a:endParaRPr lang="en-US" sz="1050" dirty="0"/>
          </a:p>
        </p:txBody>
      </p:sp>
      <p:sp>
        <p:nvSpPr>
          <p:cNvPr id="11" name="Shape 9"/>
          <p:cNvSpPr/>
          <p:nvPr/>
        </p:nvSpPr>
        <p:spPr>
          <a:xfrm>
            <a:off x="2694432" y="4956048"/>
            <a:ext cx="1789176" cy="603504"/>
          </a:xfrm>
          <a:prstGeom prst="rect">
            <a:avLst/>
          </a:prstGeom>
          <a:solidFill>
            <a:srgbClr val="8A6A3A"/>
          </a:solidFill>
          <a:ln/>
        </p:spPr>
      </p:sp>
      <p:sp>
        <p:nvSpPr>
          <p:cNvPr id="12" name="Text 10"/>
          <p:cNvSpPr txBox="1"/>
          <p:nvPr/>
        </p:nvSpPr>
        <p:spPr>
          <a:xfrm>
            <a:off x="2822448" y="4956048"/>
            <a:ext cx="1533144" cy="603504"/>
          </a:xfrm>
          <a:prstGeom prst="rect">
            <a:avLst/>
          </a:prstGeom>
          <a:noFill/>
          <a:ln/>
        </p:spPr>
        <p:txBody>
          <a:bodyPr wrap="square"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Zero paid search</a:t>
            </a:r>
            <a:endParaRPr lang="en-US" sz="1050" dirty="0"/>
          </a:p>
        </p:txBody>
      </p:sp>
      <p:sp>
        <p:nvSpPr>
          <p:cNvPr id="13" name="Shape 11"/>
          <p:cNvSpPr/>
          <p:nvPr/>
        </p:nvSpPr>
        <p:spPr>
          <a:xfrm>
            <a:off x="4611624" y="4956048"/>
            <a:ext cx="1789176" cy="603504"/>
          </a:xfrm>
          <a:prstGeom prst="rect">
            <a:avLst/>
          </a:prstGeom>
          <a:solidFill>
            <a:srgbClr val="8A6A3A"/>
          </a:solidFill>
          <a:ln/>
        </p:spPr>
      </p:sp>
      <p:sp>
        <p:nvSpPr>
          <p:cNvPr id="14" name="Text 12"/>
          <p:cNvSpPr txBox="1"/>
          <p:nvPr/>
        </p:nvSpPr>
        <p:spPr>
          <a:xfrm>
            <a:off x="4739640" y="4956048"/>
            <a:ext cx="1533144" cy="603504"/>
          </a:xfrm>
          <a:prstGeom prst="rect">
            <a:avLst/>
          </a:prstGeom>
          <a:noFill/>
          <a:ln/>
        </p:spPr>
        <p:txBody>
          <a:bodyPr wrap="square"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1,510 peak visits</a:t>
            </a:r>
            <a:endParaRPr lang="en-US" sz="1050" dirty="0"/>
          </a:p>
        </p:txBody>
      </p:sp>
      <p:sp>
        <p:nvSpPr>
          <p:cNvPr id="15" name="Shape 13"/>
          <p:cNvSpPr/>
          <p:nvPr/>
        </p:nvSpPr>
        <p:spPr>
          <a:xfrm>
            <a:off x="6995160" y="960120"/>
            <a:ext cx="4389120" cy="4937760"/>
          </a:xfrm>
          <a:prstGeom prst="rect">
            <a:avLst/>
          </a:prstGeom>
          <a:solidFill>
            <a:srgbClr val="F2EDE4"/>
          </a:solidFill>
          <a:ln w="12700">
            <a:solidFill>
              <a:srgbClr val="D9D1C2"/>
            </a:solidFill>
            <a:prstDash val="dash"/>
          </a:ln>
        </p:spPr>
      </p:sp>
      <p:sp>
        <p:nvSpPr>
          <p:cNvPr id="16" name="Text 14"/>
          <p:cNvSpPr txBox="1"/>
          <p:nvPr/>
        </p:nvSpPr>
        <p:spPr>
          <a:xfrm>
            <a:off x="7104888" y="3063240"/>
            <a:ext cx="4169664" cy="731520"/>
          </a:xfrm>
          <a:prstGeom prst="rect">
            <a:avLst/>
          </a:prstGeom>
          <a:noFill/>
          <a:ln/>
        </p:spPr>
        <p:txBody>
          <a:bodyPr wrap="square" rtlCol="0" anchor="ctr"/>
          <a:lstStyle/>
          <a:p>
            <a:pPr algn="ctr" indent="0" marL="0">
              <a:buNone/>
            </a:pPr>
            <a:r>
              <a:rPr lang="en-US" sz="950" b="1" spc="130" kern="0" dirty="0">
                <a:solidFill>
                  <a:srgbClr val="A79C8C"/>
                </a:solidFill>
                <a:latin typeface="Calibri" pitchFamily="34" charset="0"/>
                <a:ea typeface="Calibri" pitchFamily="34" charset="-122"/>
                <a:cs typeface="Calibri" pitchFamily="34" charset="-120"/>
              </a:rPr>
              <a:t>Product and retail photography</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DE4"/>
        </a:solidFill>
      </p:bgPr>
    </p:bg>
    <p:spTree>
      <p:nvGrpSpPr>
        <p:cNvPr id="1" name=""/>
        <p:cNvGrpSpPr/>
        <p:nvPr/>
      </p:nvGrpSpPr>
      <p:grpSpPr>
        <a:xfrm>
          <a:off x="0" y="0"/>
          <a:ext cx="0" cy="0"/>
          <a:chOff x="0" y="0"/>
          <a:chExt cx="0" cy="0"/>
        </a:xfrm>
      </p:grpSpPr>
      <p:sp>
        <p:nvSpPr>
          <p:cNvPr id="2" name="Text 0"/>
          <p:cNvSpPr txBox="1"/>
          <p:nvPr/>
        </p:nvSpPr>
        <p:spPr>
          <a:xfrm>
            <a:off x="11109960" y="6309360"/>
            <a:ext cx="548640" cy="274320"/>
          </a:xfrm>
          <a:prstGeom prst="rect">
            <a:avLst/>
          </a:prstGeom>
          <a:noFill/>
          <a:ln/>
        </p:spPr>
        <p:txBody>
          <a:bodyPr wrap="square" rtlCol="0" anchor="ctr"/>
          <a:lstStyle/>
          <a:p>
            <a:pPr algn="r" indent="0" marL="0">
              <a:buNone/>
            </a:pPr>
            <a:r>
              <a:rPr lang="en-US" sz="900" b="1" spc="150" kern="0" dirty="0">
                <a:solidFill>
                  <a:srgbClr val="A79C8C"/>
                </a:solidFill>
                <a:latin typeface="Calibri" pitchFamily="34" charset="0"/>
                <a:ea typeface="Calibri" pitchFamily="34" charset="-122"/>
                <a:cs typeface="Calibri" pitchFamily="34" charset="-120"/>
              </a:rPr>
              <a:t>08</a:t>
            </a:r>
            <a:endParaRPr lang="en-US" sz="900" dirty="0"/>
          </a:p>
        </p:txBody>
      </p:sp>
      <p:sp>
        <p:nvSpPr>
          <p:cNvPr id="3" name="Text 1"/>
          <p:cNvSpPr txBox="1"/>
          <p:nvPr/>
        </p:nvSpPr>
        <p:spPr>
          <a:xfrm>
            <a:off x="777240" y="548640"/>
            <a:ext cx="8686800" cy="256032"/>
          </a:xfrm>
          <a:prstGeom prst="rect">
            <a:avLst/>
          </a:prstGeom>
          <a:noFill/>
          <a:ln/>
        </p:spPr>
        <p:txBody>
          <a:bodyPr wrap="square" lIns="0" tIns="0" rIns="0" bIns="0" rtlCol="0" anchor="ctr"/>
          <a:lstStyle/>
          <a:p>
            <a:pPr indent="0" marL="0">
              <a:buNone/>
            </a:pPr>
            <a:r>
              <a:rPr lang="en-US" sz="950" b="1" spc="260" kern="0" dirty="0">
                <a:solidFill>
                  <a:srgbClr val="8A6A3A"/>
                </a:solidFill>
                <a:latin typeface="Calibri" pitchFamily="34" charset="0"/>
                <a:ea typeface="Calibri" pitchFamily="34" charset="-122"/>
                <a:cs typeface="Calibri" pitchFamily="34" charset="-120"/>
              </a:rPr>
              <a:t>FORREY &amp; GALLAND · THE WORK</a:t>
            </a:r>
            <a:endParaRPr lang="en-US" sz="950" dirty="0"/>
          </a:p>
        </p:txBody>
      </p:sp>
      <p:sp>
        <p:nvSpPr>
          <p:cNvPr id="4" name="Text 2"/>
          <p:cNvSpPr txBox="1"/>
          <p:nvPr/>
        </p:nvSpPr>
        <p:spPr>
          <a:xfrm>
            <a:off x="777240" y="960120"/>
            <a:ext cx="9692640" cy="868680"/>
          </a:xfrm>
          <a:prstGeom prst="rect">
            <a:avLst/>
          </a:prstGeom>
          <a:noFill/>
          <a:ln/>
        </p:spPr>
        <p:txBody>
          <a:bodyPr wrap="square" lIns="0" tIns="0" rIns="0" bIns="0" rtlCol="0" anchor="t"/>
          <a:lstStyle/>
          <a:p>
            <a:pPr indent="0" marL="0">
              <a:lnSpc>
                <a:spcPts val="3200"/>
              </a:lnSpc>
              <a:buNone/>
            </a:pPr>
            <a:r>
              <a:rPr lang="en-US" sz="2600" dirty="0">
                <a:solidFill>
                  <a:srgbClr val="2A2118"/>
                </a:solidFill>
                <a:latin typeface="Cambria" pitchFamily="34" charset="0"/>
                <a:ea typeface="Cambria" pitchFamily="34" charset="-122"/>
                <a:cs typeface="Cambria" pitchFamily="34" charset="-120"/>
              </a:rPr>
              <a:t>For a business built on occasions, the calendar is the strategy.</a:t>
            </a:r>
            <a:endParaRPr lang="en-US" sz="2600" dirty="0"/>
          </a:p>
        </p:txBody>
      </p:sp>
      <p:sp>
        <p:nvSpPr>
          <p:cNvPr id="5" name="Shape 3"/>
          <p:cNvSpPr/>
          <p:nvPr/>
        </p:nvSpPr>
        <p:spPr>
          <a:xfrm>
            <a:off x="777240" y="2148840"/>
            <a:ext cx="5780837" cy="3794760"/>
          </a:xfrm>
          <a:prstGeom prst="rect">
            <a:avLst/>
          </a:prstGeom>
          <a:solidFill>
            <a:srgbClr val="F2EDE4"/>
          </a:solidFill>
          <a:ln w="12700">
            <a:solidFill>
              <a:srgbClr val="D9D1C2"/>
            </a:solidFill>
            <a:prstDash val="dash"/>
          </a:ln>
        </p:spPr>
      </p:sp>
      <p:sp>
        <p:nvSpPr>
          <p:cNvPr id="6" name="Text 4"/>
          <p:cNvSpPr txBox="1"/>
          <p:nvPr/>
        </p:nvSpPr>
        <p:spPr>
          <a:xfrm>
            <a:off x="886968" y="3680460"/>
            <a:ext cx="5561381" cy="731520"/>
          </a:xfrm>
          <a:prstGeom prst="rect">
            <a:avLst/>
          </a:prstGeom>
          <a:noFill/>
          <a:ln/>
        </p:spPr>
        <p:txBody>
          <a:bodyPr wrap="square" rtlCol="0" anchor="ctr"/>
          <a:lstStyle/>
          <a:p>
            <a:pPr algn="ctr" indent="0" marL="0">
              <a:buNone/>
            </a:pPr>
            <a:r>
              <a:rPr lang="en-US" sz="950" b="1" spc="130" kern="0" dirty="0">
                <a:solidFill>
                  <a:srgbClr val="A79C8C"/>
                </a:solidFill>
                <a:latin typeface="Calibri" pitchFamily="34" charset="0"/>
                <a:ea typeface="Calibri" pitchFamily="34" charset="-122"/>
                <a:cs typeface="Calibri" pitchFamily="34" charset="-120"/>
              </a:rPr>
              <a:t>Campaign photography</a:t>
            </a:r>
            <a:endParaRPr lang="en-US" sz="950" dirty="0"/>
          </a:p>
        </p:txBody>
      </p:sp>
      <p:sp>
        <p:nvSpPr>
          <p:cNvPr id="7" name="Shape 5"/>
          <p:cNvSpPr/>
          <p:nvPr/>
        </p:nvSpPr>
        <p:spPr>
          <a:xfrm>
            <a:off x="6722669" y="2148840"/>
            <a:ext cx="4661611" cy="1815084"/>
          </a:xfrm>
          <a:prstGeom prst="rect">
            <a:avLst/>
          </a:prstGeom>
          <a:solidFill>
            <a:srgbClr val="F2EDE4"/>
          </a:solidFill>
          <a:ln w="12700">
            <a:solidFill>
              <a:srgbClr val="D9D1C2"/>
            </a:solidFill>
            <a:prstDash val="dash"/>
          </a:ln>
        </p:spPr>
      </p:sp>
      <p:sp>
        <p:nvSpPr>
          <p:cNvPr id="8" name="Text 6"/>
          <p:cNvSpPr txBox="1"/>
          <p:nvPr/>
        </p:nvSpPr>
        <p:spPr>
          <a:xfrm>
            <a:off x="6832397" y="2690622"/>
            <a:ext cx="4442155" cy="731520"/>
          </a:xfrm>
          <a:prstGeom prst="rect">
            <a:avLst/>
          </a:prstGeom>
          <a:noFill/>
          <a:ln/>
        </p:spPr>
        <p:txBody>
          <a:bodyPr wrap="square" rtlCol="0" anchor="ctr"/>
          <a:lstStyle/>
          <a:p>
            <a:pPr algn="ctr" indent="0" marL="0">
              <a:buNone/>
            </a:pPr>
            <a:r>
              <a:rPr lang="en-US" sz="950" b="1" spc="130" kern="0" dirty="0">
                <a:solidFill>
                  <a:srgbClr val="A79C8C"/>
                </a:solidFill>
                <a:latin typeface="Calibri" pitchFamily="34" charset="0"/>
                <a:ea typeface="Calibri" pitchFamily="34" charset="-122"/>
                <a:cs typeface="Calibri" pitchFamily="34" charset="-120"/>
              </a:rPr>
              <a:t>Shoot stills</a:t>
            </a:r>
            <a:endParaRPr lang="en-US" sz="950" dirty="0"/>
          </a:p>
        </p:txBody>
      </p:sp>
      <p:sp>
        <p:nvSpPr>
          <p:cNvPr id="9" name="Shape 7"/>
          <p:cNvSpPr/>
          <p:nvPr/>
        </p:nvSpPr>
        <p:spPr>
          <a:xfrm>
            <a:off x="6722669" y="4128516"/>
            <a:ext cx="4661611" cy="1815084"/>
          </a:xfrm>
          <a:prstGeom prst="rect">
            <a:avLst/>
          </a:prstGeom>
          <a:solidFill>
            <a:srgbClr val="F2EDE4"/>
          </a:solidFill>
          <a:ln w="12700">
            <a:solidFill>
              <a:srgbClr val="D9D1C2"/>
            </a:solidFill>
            <a:prstDash val="dash"/>
          </a:ln>
        </p:spPr>
      </p:sp>
      <p:sp>
        <p:nvSpPr>
          <p:cNvPr id="10" name="Text 8"/>
          <p:cNvSpPr txBox="1"/>
          <p:nvPr/>
        </p:nvSpPr>
        <p:spPr>
          <a:xfrm>
            <a:off x="6832397" y="4670298"/>
            <a:ext cx="4442155" cy="731520"/>
          </a:xfrm>
          <a:prstGeom prst="rect">
            <a:avLst/>
          </a:prstGeom>
          <a:noFill/>
          <a:ln/>
        </p:spPr>
        <p:txBody>
          <a:bodyPr wrap="square" rtlCol="0" anchor="ctr"/>
          <a:lstStyle/>
          <a:p>
            <a:pPr algn="ctr" indent="0" marL="0">
              <a:buNone/>
            </a:pPr>
            <a:r>
              <a:rPr lang="en-US" sz="950" b="1" spc="130" kern="0" dirty="0">
                <a:solidFill>
                  <a:srgbClr val="A79C8C"/>
                </a:solidFill>
                <a:latin typeface="Calibri" pitchFamily="34" charset="0"/>
                <a:ea typeface="Calibri" pitchFamily="34" charset="-122"/>
                <a:cs typeface="Calibri" pitchFamily="34" charset="-120"/>
              </a:rPr>
              <a:t>Event and retail</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DE4"/>
        </a:solidFill>
      </p:bgPr>
    </p:bg>
    <p:spTree>
      <p:nvGrpSpPr>
        <p:cNvPr id="1" name=""/>
        <p:cNvGrpSpPr/>
        <p:nvPr/>
      </p:nvGrpSpPr>
      <p:grpSpPr>
        <a:xfrm>
          <a:off x="0" y="0"/>
          <a:ext cx="0" cy="0"/>
          <a:chOff x="0" y="0"/>
          <a:chExt cx="0" cy="0"/>
        </a:xfrm>
      </p:grpSpPr>
      <p:sp>
        <p:nvSpPr>
          <p:cNvPr id="2" name="Text 0"/>
          <p:cNvSpPr txBox="1"/>
          <p:nvPr/>
        </p:nvSpPr>
        <p:spPr>
          <a:xfrm>
            <a:off x="11109960" y="6309360"/>
            <a:ext cx="548640" cy="274320"/>
          </a:xfrm>
          <a:prstGeom prst="rect">
            <a:avLst/>
          </a:prstGeom>
          <a:noFill/>
          <a:ln/>
        </p:spPr>
        <p:txBody>
          <a:bodyPr wrap="square" rtlCol="0" anchor="ctr"/>
          <a:lstStyle/>
          <a:p>
            <a:pPr algn="r" indent="0" marL="0">
              <a:buNone/>
            </a:pPr>
            <a:r>
              <a:rPr lang="en-US" sz="900" b="1" spc="150" kern="0" dirty="0">
                <a:solidFill>
                  <a:srgbClr val="A79C8C"/>
                </a:solidFill>
                <a:latin typeface="Calibri" pitchFamily="34" charset="0"/>
                <a:ea typeface="Calibri" pitchFamily="34" charset="-122"/>
                <a:cs typeface="Calibri" pitchFamily="34" charset="-120"/>
              </a:rPr>
              <a:t>09</a:t>
            </a:r>
            <a:endParaRPr lang="en-US" sz="900" dirty="0"/>
          </a:p>
        </p:txBody>
      </p:sp>
      <p:sp>
        <p:nvSpPr>
          <p:cNvPr id="3" name="Text 1"/>
          <p:cNvSpPr txBox="1"/>
          <p:nvPr/>
        </p:nvSpPr>
        <p:spPr>
          <a:xfrm>
            <a:off x="777240" y="548640"/>
            <a:ext cx="8686800" cy="256032"/>
          </a:xfrm>
          <a:prstGeom prst="rect">
            <a:avLst/>
          </a:prstGeom>
          <a:noFill/>
          <a:ln/>
        </p:spPr>
        <p:txBody>
          <a:bodyPr wrap="square" lIns="0" tIns="0" rIns="0" bIns="0" rtlCol="0" anchor="ctr"/>
          <a:lstStyle/>
          <a:p>
            <a:pPr indent="0" marL="0">
              <a:buNone/>
            </a:pPr>
            <a:r>
              <a:rPr lang="en-US" sz="950" b="1" spc="260" kern="0" dirty="0">
                <a:solidFill>
                  <a:srgbClr val="8A6A3A"/>
                </a:solidFill>
                <a:latin typeface="Calibri" pitchFamily="34" charset="0"/>
                <a:ea typeface="Calibri" pitchFamily="34" charset="-122"/>
                <a:cs typeface="Calibri" pitchFamily="34" charset="-120"/>
              </a:rPr>
              <a:t>ONE GROUP, TWO BRANDS</a:t>
            </a:r>
            <a:endParaRPr lang="en-US" sz="950" dirty="0"/>
          </a:p>
        </p:txBody>
      </p:sp>
      <p:sp>
        <p:nvSpPr>
          <p:cNvPr id="4" name="Text 2"/>
          <p:cNvSpPr txBox="1"/>
          <p:nvPr/>
        </p:nvSpPr>
        <p:spPr>
          <a:xfrm>
            <a:off x="777240" y="960120"/>
            <a:ext cx="9509760" cy="1280160"/>
          </a:xfrm>
          <a:prstGeom prst="rect">
            <a:avLst/>
          </a:prstGeom>
          <a:noFill/>
          <a:ln/>
        </p:spPr>
        <p:txBody>
          <a:bodyPr wrap="square" lIns="0" tIns="0" rIns="0" bIns="0" rtlCol="0" anchor="t"/>
          <a:lstStyle/>
          <a:p>
            <a:pPr indent="0" marL="0">
              <a:lnSpc>
                <a:spcPts val="3800"/>
              </a:lnSpc>
              <a:buNone/>
            </a:pPr>
            <a:r>
              <a:rPr lang="en-US" sz="3200" dirty="0">
                <a:solidFill>
                  <a:srgbClr val="2A2118"/>
                </a:solidFill>
                <a:latin typeface="Cambria" pitchFamily="34" charset="0"/>
                <a:ea typeface="Cambria" pitchFamily="34" charset="-122"/>
                <a:cs typeface="Cambria" pitchFamily="34" charset="-120"/>
              </a:rPr>
              <a:t>One material. Engineers on one side, luxury buyers on the other.</a:t>
            </a:r>
            <a:endParaRPr lang="en-US" sz="3200" dirty="0"/>
          </a:p>
        </p:txBody>
      </p:sp>
      <p:sp>
        <p:nvSpPr>
          <p:cNvPr id="5" name="Text 3"/>
          <p:cNvSpPr txBox="1"/>
          <p:nvPr/>
        </p:nvSpPr>
        <p:spPr>
          <a:xfrm>
            <a:off x="777240" y="2606040"/>
            <a:ext cx="9509760" cy="777240"/>
          </a:xfrm>
          <a:prstGeom prst="rect">
            <a:avLst/>
          </a:prstGeom>
          <a:noFill/>
          <a:ln/>
        </p:spPr>
        <p:txBody>
          <a:bodyPr wrap="square" lIns="0" tIns="0" rIns="0" bIns="0" rtlCol="0" anchor="t"/>
          <a:lstStyle/>
          <a:p>
            <a:pPr indent="0" marL="0">
              <a:lnSpc>
                <a:spcPts val="2200"/>
              </a:lnSpc>
              <a:buNone/>
            </a:pPr>
            <a:r>
              <a:rPr lang="en-US" sz="1500" dirty="0">
                <a:solidFill>
                  <a:srgbClr val="6E6355"/>
                </a:solidFill>
                <a:latin typeface="Calibri" pitchFamily="34" charset="0"/>
                <a:ea typeface="Calibri" pitchFamily="34" charset="-122"/>
                <a:cs typeface="Calibri" pitchFamily="34" charset="-120"/>
              </a:rPr>
              <a:t>The same group makes shielding fabric for naval vessels, and a luxury accessory brand built on privacy. Two brands, two markets, nothing shared but the physics.</a:t>
            </a:r>
            <a:endParaRPr lang="en-US" sz="1500" dirty="0"/>
          </a:p>
        </p:txBody>
      </p:sp>
      <p:sp>
        <p:nvSpPr>
          <p:cNvPr id="6" name="Shape 4"/>
          <p:cNvSpPr/>
          <p:nvPr/>
        </p:nvSpPr>
        <p:spPr>
          <a:xfrm>
            <a:off x="777240" y="3611880"/>
            <a:ext cx="5212080" cy="2377440"/>
          </a:xfrm>
          <a:prstGeom prst="rect">
            <a:avLst/>
          </a:prstGeom>
          <a:solidFill>
            <a:srgbClr val="F2EDE4"/>
          </a:solidFill>
          <a:ln w="12700">
            <a:solidFill>
              <a:srgbClr val="D9D1C2"/>
            </a:solidFill>
            <a:prstDash val="dash"/>
          </a:ln>
        </p:spPr>
      </p:sp>
      <p:sp>
        <p:nvSpPr>
          <p:cNvPr id="7" name="Text 5"/>
          <p:cNvSpPr txBox="1"/>
          <p:nvPr/>
        </p:nvSpPr>
        <p:spPr>
          <a:xfrm>
            <a:off x="886968" y="4434840"/>
            <a:ext cx="4992624" cy="731520"/>
          </a:xfrm>
          <a:prstGeom prst="rect">
            <a:avLst/>
          </a:prstGeom>
          <a:noFill/>
          <a:ln/>
        </p:spPr>
        <p:txBody>
          <a:bodyPr wrap="square" rtlCol="0" anchor="ctr"/>
          <a:lstStyle/>
          <a:p>
            <a:pPr algn="ctr" indent="0" marL="0">
              <a:buNone/>
            </a:pPr>
            <a:r>
              <a:rPr lang="en-US" sz="950" b="1" spc="130" kern="0" dirty="0">
                <a:solidFill>
                  <a:srgbClr val="A79C8C"/>
                </a:solidFill>
                <a:latin typeface="Calibri" pitchFamily="34" charset="0"/>
                <a:ea typeface="Calibri" pitchFamily="34" charset="-122"/>
                <a:cs typeface="Calibri" pitchFamily="34" charset="-120"/>
              </a:rPr>
              <a:t>Naval or aerospace application</a:t>
            </a:r>
            <a:endParaRPr lang="en-US" sz="950" dirty="0"/>
          </a:p>
        </p:txBody>
      </p:sp>
      <p:sp>
        <p:nvSpPr>
          <p:cNvPr id="8" name="Shape 6"/>
          <p:cNvSpPr/>
          <p:nvPr/>
        </p:nvSpPr>
        <p:spPr>
          <a:xfrm>
            <a:off x="6172200" y="3611880"/>
            <a:ext cx="5212080" cy="2377440"/>
          </a:xfrm>
          <a:prstGeom prst="rect">
            <a:avLst/>
          </a:prstGeom>
          <a:solidFill>
            <a:srgbClr val="F2EDE4"/>
          </a:solidFill>
          <a:ln w="12700">
            <a:solidFill>
              <a:srgbClr val="D9D1C2"/>
            </a:solidFill>
            <a:prstDash val="dash"/>
          </a:ln>
        </p:spPr>
      </p:sp>
      <p:sp>
        <p:nvSpPr>
          <p:cNvPr id="9" name="Text 7"/>
          <p:cNvSpPr txBox="1"/>
          <p:nvPr/>
        </p:nvSpPr>
        <p:spPr>
          <a:xfrm>
            <a:off x="6281928" y="4434840"/>
            <a:ext cx="4992624" cy="731520"/>
          </a:xfrm>
          <a:prstGeom prst="rect">
            <a:avLst/>
          </a:prstGeom>
          <a:noFill/>
          <a:ln/>
        </p:spPr>
        <p:txBody>
          <a:bodyPr wrap="square" rtlCol="0" anchor="ctr"/>
          <a:lstStyle/>
          <a:p>
            <a:pPr algn="ctr" indent="0" marL="0">
              <a:buNone/>
            </a:pPr>
            <a:r>
              <a:rPr lang="en-US" sz="950" b="1" spc="130" kern="0" dirty="0">
                <a:solidFill>
                  <a:srgbClr val="A79C8C"/>
                </a:solidFill>
                <a:latin typeface="Calibri" pitchFamily="34" charset="0"/>
                <a:ea typeface="Calibri" pitchFamily="34" charset="-122"/>
                <a:cs typeface="Calibri" pitchFamily="34" charset="-120"/>
              </a:rPr>
              <a:t>Finished leather product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DE4"/>
        </a:solidFill>
      </p:bgPr>
    </p:bg>
    <p:spTree>
      <p:nvGrpSpPr>
        <p:cNvPr id="1" name=""/>
        <p:cNvGrpSpPr/>
        <p:nvPr/>
      </p:nvGrpSpPr>
      <p:grpSpPr>
        <a:xfrm>
          <a:off x="0" y="0"/>
          <a:ext cx="0" cy="0"/>
          <a:chOff x="0" y="0"/>
          <a:chExt cx="0" cy="0"/>
        </a:xfrm>
      </p:grpSpPr>
      <p:sp>
        <p:nvSpPr>
          <p:cNvPr id="2" name="Text 0"/>
          <p:cNvSpPr txBox="1"/>
          <p:nvPr/>
        </p:nvSpPr>
        <p:spPr>
          <a:xfrm>
            <a:off x="11109960" y="6309360"/>
            <a:ext cx="548640" cy="274320"/>
          </a:xfrm>
          <a:prstGeom prst="rect">
            <a:avLst/>
          </a:prstGeom>
          <a:noFill/>
          <a:ln/>
        </p:spPr>
        <p:txBody>
          <a:bodyPr wrap="square" rtlCol="0" anchor="ctr"/>
          <a:lstStyle/>
          <a:p>
            <a:pPr algn="r" indent="0" marL="0">
              <a:buNone/>
            </a:pPr>
            <a:r>
              <a:rPr lang="en-US" sz="900" b="1" spc="150" kern="0" dirty="0">
                <a:solidFill>
                  <a:srgbClr val="A79C8C"/>
                </a:solidFill>
                <a:latin typeface="Calibri" pitchFamily="34" charset="0"/>
                <a:ea typeface="Calibri" pitchFamily="34" charset="-122"/>
                <a:cs typeface="Calibri" pitchFamily="34" charset="-120"/>
              </a:rPr>
              <a:t>10</a:t>
            </a:r>
            <a:endParaRPr lang="en-US" sz="900" dirty="0"/>
          </a:p>
        </p:txBody>
      </p:sp>
      <p:sp>
        <p:nvSpPr>
          <p:cNvPr id="3" name="Text 1"/>
          <p:cNvSpPr txBox="1"/>
          <p:nvPr/>
        </p:nvSpPr>
        <p:spPr>
          <a:xfrm>
            <a:off x="777240" y="548640"/>
            <a:ext cx="8686800" cy="256032"/>
          </a:xfrm>
          <a:prstGeom prst="rect">
            <a:avLst/>
          </a:prstGeom>
          <a:noFill/>
          <a:ln/>
        </p:spPr>
        <p:txBody>
          <a:bodyPr wrap="square" lIns="0" tIns="0" rIns="0" bIns="0" rtlCol="0" anchor="ctr"/>
          <a:lstStyle/>
          <a:p>
            <a:pPr indent="0" marL="0">
              <a:buNone/>
            </a:pPr>
            <a:r>
              <a:rPr lang="en-US" sz="950" b="1" spc="260" kern="0" dirty="0">
                <a:solidFill>
                  <a:srgbClr val="8A6A3A"/>
                </a:solidFill>
                <a:latin typeface="Calibri" pitchFamily="34" charset="0"/>
                <a:ea typeface="Calibri" pitchFamily="34" charset="-122"/>
                <a:cs typeface="Calibri" pitchFamily="34" charset="-120"/>
              </a:rPr>
              <a:t>KGS · METAFAB® · INDUSTRIAL B2B · INDIA AND MIDDLE EAST</a:t>
            </a:r>
            <a:endParaRPr lang="en-US" sz="950" dirty="0"/>
          </a:p>
        </p:txBody>
      </p:sp>
      <p:sp>
        <p:nvSpPr>
          <p:cNvPr id="4" name="Text 2"/>
          <p:cNvSpPr txBox="1"/>
          <p:nvPr/>
        </p:nvSpPr>
        <p:spPr>
          <a:xfrm>
            <a:off x="777240" y="960120"/>
            <a:ext cx="5943600" cy="1371600"/>
          </a:xfrm>
          <a:prstGeom prst="rect">
            <a:avLst/>
          </a:prstGeom>
          <a:noFill/>
          <a:ln/>
        </p:spPr>
        <p:txBody>
          <a:bodyPr wrap="square" lIns="0" tIns="0" rIns="0" bIns="0" rtlCol="0" anchor="t"/>
          <a:lstStyle/>
          <a:p>
            <a:pPr indent="0" marL="0">
              <a:lnSpc>
                <a:spcPts val="3500"/>
              </a:lnSpc>
              <a:buNone/>
            </a:pPr>
            <a:r>
              <a:rPr lang="en-US" sz="2900" dirty="0">
                <a:solidFill>
                  <a:srgbClr val="2A2118"/>
                </a:solidFill>
                <a:latin typeface="Cambria" pitchFamily="34" charset="0"/>
                <a:ea typeface="Cambria" pitchFamily="34" charset="-122"/>
                <a:cs typeface="Cambria" pitchFamily="34" charset="-120"/>
              </a:rPr>
              <a:t>Marketing a material that shields naval vessels.</a:t>
            </a:r>
            <a:endParaRPr lang="en-US" sz="2900" dirty="0"/>
          </a:p>
        </p:txBody>
      </p:sp>
      <p:sp>
        <p:nvSpPr>
          <p:cNvPr id="5" name="Text 3"/>
          <p:cNvSpPr txBox="1"/>
          <p:nvPr/>
        </p:nvSpPr>
        <p:spPr>
          <a:xfrm>
            <a:off x="777240" y="2395728"/>
            <a:ext cx="5623560" cy="219456"/>
          </a:xfrm>
          <a:prstGeom prst="rect">
            <a:avLst/>
          </a:prstGeom>
          <a:noFill/>
          <a:ln/>
        </p:spPr>
        <p:txBody>
          <a:bodyPr wrap="square" lIns="0" tIns="0" rIns="0" bIns="0" rtlCol="0" anchor="ctr"/>
          <a:lstStyle/>
          <a:p>
            <a:pPr indent="0" marL="0">
              <a:buNone/>
            </a:pPr>
            <a:r>
              <a:rPr lang="en-US" sz="850" b="1" spc="180" kern="0" dirty="0">
                <a:solidFill>
                  <a:srgbClr val="8A6A3A"/>
                </a:solidFill>
                <a:latin typeface="Calibri" pitchFamily="34" charset="0"/>
                <a:ea typeface="Calibri" pitchFamily="34" charset="-122"/>
                <a:cs typeface="Calibri" pitchFamily="34" charset="-120"/>
              </a:rPr>
              <a:t>THE CHALLENGE</a:t>
            </a:r>
            <a:endParaRPr lang="en-US" sz="850" dirty="0"/>
          </a:p>
        </p:txBody>
      </p:sp>
      <p:sp>
        <p:nvSpPr>
          <p:cNvPr id="6" name="Text 4"/>
          <p:cNvSpPr txBox="1"/>
          <p:nvPr/>
        </p:nvSpPr>
        <p:spPr>
          <a:xfrm>
            <a:off x="777240" y="2670048"/>
            <a:ext cx="5623560" cy="960120"/>
          </a:xfrm>
          <a:prstGeom prst="rect">
            <a:avLst/>
          </a:prstGeom>
          <a:noFill/>
          <a:ln/>
        </p:spPr>
        <p:txBody>
          <a:bodyPr wrap="square" lIns="0" tIns="0" rIns="0" bIns="0" rtlCol="0" anchor="t"/>
          <a:lstStyle/>
          <a:p>
            <a:pPr indent="0" marL="0">
              <a:lnSpc>
                <a:spcPts val="1800"/>
              </a:lnSpc>
              <a:buNone/>
            </a:pPr>
            <a:r>
              <a:rPr lang="en-US" sz="1300" dirty="0">
                <a:solidFill>
                  <a:srgbClr val="6E6355"/>
                </a:solidFill>
                <a:latin typeface="Calibri" pitchFamily="34" charset="0"/>
                <a:ea typeface="Calibri" pitchFamily="34" charset="-122"/>
                <a:cs typeface="Calibri" pitchFamily="34" charset="-120"/>
              </a:rPr>
              <a:t>A metallised fabric attenuating EMF, EMI and RF at material level, sold to engineers and procurement teams working to specification on cycles measured in quarters. Most agencies decline this brief.</a:t>
            </a:r>
            <a:endParaRPr lang="en-US" sz="1300" dirty="0"/>
          </a:p>
        </p:txBody>
      </p:sp>
      <p:sp>
        <p:nvSpPr>
          <p:cNvPr id="7" name="Text 5"/>
          <p:cNvSpPr txBox="1"/>
          <p:nvPr/>
        </p:nvSpPr>
        <p:spPr>
          <a:xfrm>
            <a:off x="777240" y="3675888"/>
            <a:ext cx="5623560" cy="219456"/>
          </a:xfrm>
          <a:prstGeom prst="rect">
            <a:avLst/>
          </a:prstGeom>
          <a:noFill/>
          <a:ln/>
        </p:spPr>
        <p:txBody>
          <a:bodyPr wrap="square" lIns="0" tIns="0" rIns="0" bIns="0" rtlCol="0" anchor="ctr"/>
          <a:lstStyle/>
          <a:p>
            <a:pPr indent="0" marL="0">
              <a:buNone/>
            </a:pPr>
            <a:r>
              <a:rPr lang="en-US" sz="850" b="1" spc="180" kern="0" dirty="0">
                <a:solidFill>
                  <a:srgbClr val="8A6A3A"/>
                </a:solidFill>
                <a:latin typeface="Calibri" pitchFamily="34" charset="0"/>
                <a:ea typeface="Calibri" pitchFamily="34" charset="-122"/>
                <a:cs typeface="Calibri" pitchFamily="34" charset="-120"/>
              </a:rPr>
              <a:t>WHAT WE DID</a:t>
            </a:r>
            <a:endParaRPr lang="en-US" sz="850" dirty="0"/>
          </a:p>
        </p:txBody>
      </p:sp>
      <p:sp>
        <p:nvSpPr>
          <p:cNvPr id="8" name="Text 6"/>
          <p:cNvSpPr txBox="1"/>
          <p:nvPr/>
        </p:nvSpPr>
        <p:spPr>
          <a:xfrm>
            <a:off x="777240" y="3950208"/>
            <a:ext cx="5623560" cy="960120"/>
          </a:xfrm>
          <a:prstGeom prst="rect">
            <a:avLst/>
          </a:prstGeom>
          <a:noFill/>
          <a:ln/>
        </p:spPr>
        <p:txBody>
          <a:bodyPr wrap="square" lIns="0" tIns="0" rIns="0" bIns="0" rtlCol="0" anchor="t"/>
          <a:lstStyle/>
          <a:p>
            <a:pPr indent="0" marL="0">
              <a:lnSpc>
                <a:spcPts val="1800"/>
              </a:lnSpc>
              <a:buNone/>
            </a:pPr>
            <a:r>
              <a:rPr lang="en-US" sz="1300" dirty="0">
                <a:solidFill>
                  <a:srgbClr val="6E6355"/>
                </a:solidFill>
                <a:latin typeface="Calibri" pitchFamily="34" charset="0"/>
                <a:ea typeface="Calibri" pitchFamily="34" charset="-122"/>
                <a:cs typeface="Calibri" pitchFamily="34" charset="-120"/>
              </a:rPr>
              <a:t>Learned the specification, then built the search and content architecture around how engineers actually look for shielding performance — by decibel rating and application, not by brand.</a:t>
            </a:r>
            <a:endParaRPr lang="en-US" sz="1300" dirty="0"/>
          </a:p>
        </p:txBody>
      </p:sp>
      <p:sp>
        <p:nvSpPr>
          <p:cNvPr id="9" name="Shape 7"/>
          <p:cNvSpPr/>
          <p:nvPr/>
        </p:nvSpPr>
        <p:spPr>
          <a:xfrm>
            <a:off x="777240" y="4956048"/>
            <a:ext cx="1789176" cy="603504"/>
          </a:xfrm>
          <a:prstGeom prst="rect">
            <a:avLst/>
          </a:prstGeom>
          <a:solidFill>
            <a:srgbClr val="8A6A3A"/>
          </a:solidFill>
          <a:ln/>
        </p:spPr>
      </p:sp>
      <p:sp>
        <p:nvSpPr>
          <p:cNvPr id="10" name="Text 8"/>
          <p:cNvSpPr txBox="1"/>
          <p:nvPr/>
        </p:nvSpPr>
        <p:spPr>
          <a:xfrm>
            <a:off x="905256" y="4956048"/>
            <a:ext cx="1533144" cy="603504"/>
          </a:xfrm>
          <a:prstGeom prst="rect">
            <a:avLst/>
          </a:prstGeom>
          <a:noFill/>
          <a:ln/>
        </p:spPr>
        <p:txBody>
          <a:bodyPr wrap="square"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17 → 96 keywords</a:t>
            </a:r>
            <a:endParaRPr lang="en-US" sz="1050" dirty="0"/>
          </a:p>
        </p:txBody>
      </p:sp>
      <p:sp>
        <p:nvSpPr>
          <p:cNvPr id="11" name="Shape 9"/>
          <p:cNvSpPr/>
          <p:nvPr/>
        </p:nvSpPr>
        <p:spPr>
          <a:xfrm>
            <a:off x="2694432" y="4956048"/>
            <a:ext cx="1789176" cy="603504"/>
          </a:xfrm>
          <a:prstGeom prst="rect">
            <a:avLst/>
          </a:prstGeom>
          <a:solidFill>
            <a:srgbClr val="8A6A3A"/>
          </a:solidFill>
          <a:ln/>
        </p:spPr>
      </p:sp>
      <p:sp>
        <p:nvSpPr>
          <p:cNvPr id="12" name="Text 10"/>
          <p:cNvSpPr txBox="1"/>
          <p:nvPr/>
        </p:nvSpPr>
        <p:spPr>
          <a:xfrm>
            <a:off x="2822448" y="4956048"/>
            <a:ext cx="1533144" cy="603504"/>
          </a:xfrm>
          <a:prstGeom prst="rect">
            <a:avLst/>
          </a:prstGeom>
          <a:noFill/>
          <a:ln/>
        </p:spPr>
        <p:txBody>
          <a:bodyPr wrap="square"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5.6× visibility</a:t>
            </a:r>
            <a:endParaRPr lang="en-US" sz="1050" dirty="0"/>
          </a:p>
        </p:txBody>
      </p:sp>
      <p:sp>
        <p:nvSpPr>
          <p:cNvPr id="13" name="Shape 11"/>
          <p:cNvSpPr/>
          <p:nvPr/>
        </p:nvSpPr>
        <p:spPr>
          <a:xfrm>
            <a:off x="4611624" y="4956048"/>
            <a:ext cx="1789176" cy="603504"/>
          </a:xfrm>
          <a:prstGeom prst="rect">
            <a:avLst/>
          </a:prstGeom>
          <a:solidFill>
            <a:srgbClr val="8A6A3A"/>
          </a:solidFill>
          <a:ln/>
        </p:spPr>
      </p:sp>
      <p:sp>
        <p:nvSpPr>
          <p:cNvPr id="14" name="Text 12"/>
          <p:cNvSpPr txBox="1"/>
          <p:nvPr/>
        </p:nvSpPr>
        <p:spPr>
          <a:xfrm>
            <a:off x="4739640" y="4956048"/>
            <a:ext cx="1533144" cy="603504"/>
          </a:xfrm>
          <a:prstGeom prst="rect">
            <a:avLst/>
          </a:prstGeom>
          <a:noFill/>
          <a:ln/>
        </p:spPr>
        <p:txBody>
          <a:bodyPr wrap="square"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40–90 dB shielding</a:t>
            </a:r>
            <a:endParaRPr lang="en-US" sz="1050" dirty="0"/>
          </a:p>
        </p:txBody>
      </p:sp>
      <p:sp>
        <p:nvSpPr>
          <p:cNvPr id="15" name="Shape 13"/>
          <p:cNvSpPr/>
          <p:nvPr/>
        </p:nvSpPr>
        <p:spPr>
          <a:xfrm>
            <a:off x="6995160" y="960120"/>
            <a:ext cx="4389120" cy="4937760"/>
          </a:xfrm>
          <a:prstGeom prst="rect">
            <a:avLst/>
          </a:prstGeom>
          <a:solidFill>
            <a:srgbClr val="F2EDE4"/>
          </a:solidFill>
          <a:ln w="12700">
            <a:solidFill>
              <a:srgbClr val="D9D1C2"/>
            </a:solidFill>
            <a:prstDash val="dash"/>
          </a:ln>
        </p:spPr>
      </p:sp>
      <p:sp>
        <p:nvSpPr>
          <p:cNvPr id="16" name="Text 14"/>
          <p:cNvSpPr txBox="1"/>
          <p:nvPr/>
        </p:nvSpPr>
        <p:spPr>
          <a:xfrm>
            <a:off x="7104888" y="3063240"/>
            <a:ext cx="4169664" cy="731520"/>
          </a:xfrm>
          <a:prstGeom prst="rect">
            <a:avLst/>
          </a:prstGeom>
          <a:noFill/>
          <a:ln/>
        </p:spPr>
        <p:txBody>
          <a:bodyPr wrap="square" rtlCol="0" anchor="ctr"/>
          <a:lstStyle/>
          <a:p>
            <a:pPr algn="ctr" indent="0" marL="0">
              <a:buNone/>
            </a:pPr>
            <a:r>
              <a:rPr lang="en-US" sz="950" b="1" spc="130" kern="0" dirty="0">
                <a:solidFill>
                  <a:srgbClr val="A79C8C"/>
                </a:solidFill>
                <a:latin typeface="Calibri" pitchFamily="34" charset="0"/>
                <a:ea typeface="Calibri" pitchFamily="34" charset="-122"/>
                <a:cs typeface="Calibri" pitchFamily="34" charset="-120"/>
              </a:rPr>
              <a:t>Application imagery</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EDE4"/>
        </a:solidFill>
      </p:bgPr>
    </p:bg>
    <p:spTree>
      <p:nvGrpSpPr>
        <p:cNvPr id="1" name=""/>
        <p:cNvGrpSpPr/>
        <p:nvPr/>
      </p:nvGrpSpPr>
      <p:grpSpPr>
        <a:xfrm>
          <a:off x="0" y="0"/>
          <a:ext cx="0" cy="0"/>
          <a:chOff x="0" y="0"/>
          <a:chExt cx="0" cy="0"/>
        </a:xfrm>
      </p:grpSpPr>
      <p:sp>
        <p:nvSpPr>
          <p:cNvPr id="2" name="Text 0"/>
          <p:cNvSpPr txBox="1"/>
          <p:nvPr/>
        </p:nvSpPr>
        <p:spPr>
          <a:xfrm>
            <a:off x="11109960" y="6309360"/>
            <a:ext cx="548640" cy="274320"/>
          </a:xfrm>
          <a:prstGeom prst="rect">
            <a:avLst/>
          </a:prstGeom>
          <a:noFill/>
          <a:ln/>
        </p:spPr>
        <p:txBody>
          <a:bodyPr wrap="square" rtlCol="0" anchor="ctr"/>
          <a:lstStyle/>
          <a:p>
            <a:pPr algn="r" indent="0" marL="0">
              <a:buNone/>
            </a:pPr>
            <a:r>
              <a:rPr lang="en-US" sz="900" b="1" spc="150" kern="0" dirty="0">
                <a:solidFill>
                  <a:srgbClr val="A79C8C"/>
                </a:solidFill>
                <a:latin typeface="Calibri" pitchFamily="34" charset="0"/>
                <a:ea typeface="Calibri" pitchFamily="34" charset="-122"/>
                <a:cs typeface="Calibri" pitchFamily="34" charset="-120"/>
              </a:rPr>
              <a:t>11</a:t>
            </a:r>
            <a:endParaRPr lang="en-US" sz="900" dirty="0"/>
          </a:p>
        </p:txBody>
      </p:sp>
      <p:sp>
        <p:nvSpPr>
          <p:cNvPr id="3" name="Text 1"/>
          <p:cNvSpPr txBox="1"/>
          <p:nvPr/>
        </p:nvSpPr>
        <p:spPr>
          <a:xfrm>
            <a:off x="777240" y="548640"/>
            <a:ext cx="8686800" cy="256032"/>
          </a:xfrm>
          <a:prstGeom prst="rect">
            <a:avLst/>
          </a:prstGeom>
          <a:noFill/>
          <a:ln/>
        </p:spPr>
        <p:txBody>
          <a:bodyPr wrap="square" lIns="0" tIns="0" rIns="0" bIns="0" rtlCol="0" anchor="ctr"/>
          <a:lstStyle/>
          <a:p>
            <a:pPr indent="0" marL="0">
              <a:buNone/>
            </a:pPr>
            <a:r>
              <a:rPr lang="en-US" sz="950" b="1" spc="260" kern="0" dirty="0">
                <a:solidFill>
                  <a:srgbClr val="8A6A3A"/>
                </a:solidFill>
                <a:latin typeface="Calibri" pitchFamily="34" charset="0"/>
                <a:ea typeface="Calibri" pitchFamily="34" charset="-122"/>
                <a:cs typeface="Calibri" pitchFamily="34" charset="-120"/>
              </a:rPr>
              <a:t>KGS · THE WORK</a:t>
            </a:r>
            <a:endParaRPr lang="en-US" sz="950" dirty="0"/>
          </a:p>
        </p:txBody>
      </p:sp>
      <p:sp>
        <p:nvSpPr>
          <p:cNvPr id="4" name="Text 2"/>
          <p:cNvSpPr txBox="1"/>
          <p:nvPr/>
        </p:nvSpPr>
        <p:spPr>
          <a:xfrm>
            <a:off x="777240" y="960120"/>
            <a:ext cx="9692640" cy="868680"/>
          </a:xfrm>
          <a:prstGeom prst="rect">
            <a:avLst/>
          </a:prstGeom>
          <a:noFill/>
          <a:ln/>
        </p:spPr>
        <p:txBody>
          <a:bodyPr wrap="square" lIns="0" tIns="0" rIns="0" bIns="0" rtlCol="0" anchor="t"/>
          <a:lstStyle/>
          <a:p>
            <a:pPr indent="0" marL="0">
              <a:lnSpc>
                <a:spcPts val="3200"/>
              </a:lnSpc>
              <a:buNone/>
            </a:pPr>
            <a:r>
              <a:rPr lang="en-US" sz="2600" dirty="0">
                <a:solidFill>
                  <a:srgbClr val="2A2118"/>
                </a:solidFill>
                <a:latin typeface="Cambria" pitchFamily="34" charset="0"/>
                <a:ea typeface="Cambria" pitchFamily="34" charset="-122"/>
                <a:cs typeface="Cambria" pitchFamily="34" charset="-120"/>
              </a:rPr>
              <a:t>Naval vessels, aircraft wiring systems, secure courtrooms.</a:t>
            </a:r>
            <a:endParaRPr lang="en-US" sz="2600" dirty="0"/>
          </a:p>
        </p:txBody>
      </p:sp>
      <p:sp>
        <p:nvSpPr>
          <p:cNvPr id="5" name="Shape 3"/>
          <p:cNvSpPr/>
          <p:nvPr/>
        </p:nvSpPr>
        <p:spPr>
          <a:xfrm>
            <a:off x="777240" y="2148840"/>
            <a:ext cx="5780837" cy="3794760"/>
          </a:xfrm>
          <a:prstGeom prst="rect">
            <a:avLst/>
          </a:prstGeom>
          <a:solidFill>
            <a:srgbClr val="F2EDE4"/>
          </a:solidFill>
          <a:ln w="12700">
            <a:solidFill>
              <a:srgbClr val="D9D1C2"/>
            </a:solidFill>
            <a:prstDash val="dash"/>
          </a:ln>
        </p:spPr>
      </p:sp>
      <p:sp>
        <p:nvSpPr>
          <p:cNvPr id="6" name="Text 4"/>
          <p:cNvSpPr txBox="1"/>
          <p:nvPr/>
        </p:nvSpPr>
        <p:spPr>
          <a:xfrm>
            <a:off x="886968" y="3680460"/>
            <a:ext cx="5561381" cy="731520"/>
          </a:xfrm>
          <a:prstGeom prst="rect">
            <a:avLst/>
          </a:prstGeom>
          <a:noFill/>
          <a:ln/>
        </p:spPr>
        <p:txBody>
          <a:bodyPr wrap="square" rtlCol="0" anchor="ctr"/>
          <a:lstStyle/>
          <a:p>
            <a:pPr algn="ctr" indent="0" marL="0">
              <a:buNone/>
            </a:pPr>
            <a:r>
              <a:rPr lang="en-US" sz="950" b="1" spc="130" kern="0" dirty="0">
                <a:solidFill>
                  <a:srgbClr val="A79C8C"/>
                </a:solidFill>
                <a:latin typeface="Calibri" pitchFamily="34" charset="0"/>
                <a:ea typeface="Calibri" pitchFamily="34" charset="-122"/>
                <a:cs typeface="Calibri" pitchFamily="34" charset="-120"/>
              </a:rPr>
              <a:t>Vessel or installation</a:t>
            </a:r>
            <a:endParaRPr lang="en-US" sz="950" dirty="0"/>
          </a:p>
        </p:txBody>
      </p:sp>
      <p:sp>
        <p:nvSpPr>
          <p:cNvPr id="7" name="Shape 5"/>
          <p:cNvSpPr/>
          <p:nvPr/>
        </p:nvSpPr>
        <p:spPr>
          <a:xfrm>
            <a:off x="6722669" y="2148840"/>
            <a:ext cx="4661611" cy="1815084"/>
          </a:xfrm>
          <a:prstGeom prst="rect">
            <a:avLst/>
          </a:prstGeom>
          <a:solidFill>
            <a:srgbClr val="F2EDE4"/>
          </a:solidFill>
          <a:ln w="12700">
            <a:solidFill>
              <a:srgbClr val="D9D1C2"/>
            </a:solidFill>
            <a:prstDash val="dash"/>
          </a:ln>
        </p:spPr>
      </p:sp>
      <p:sp>
        <p:nvSpPr>
          <p:cNvPr id="8" name="Text 6"/>
          <p:cNvSpPr txBox="1"/>
          <p:nvPr/>
        </p:nvSpPr>
        <p:spPr>
          <a:xfrm>
            <a:off x="6832397" y="2690622"/>
            <a:ext cx="4442155" cy="731520"/>
          </a:xfrm>
          <a:prstGeom prst="rect">
            <a:avLst/>
          </a:prstGeom>
          <a:noFill/>
          <a:ln/>
        </p:spPr>
        <p:txBody>
          <a:bodyPr wrap="square" rtlCol="0" anchor="ctr"/>
          <a:lstStyle/>
          <a:p>
            <a:pPr algn="ctr" indent="0" marL="0">
              <a:buNone/>
            </a:pPr>
            <a:r>
              <a:rPr lang="en-US" sz="950" b="1" spc="130" kern="0" dirty="0">
                <a:solidFill>
                  <a:srgbClr val="A79C8C"/>
                </a:solidFill>
                <a:latin typeface="Calibri" pitchFamily="34" charset="0"/>
                <a:ea typeface="Calibri" pitchFamily="34" charset="-122"/>
                <a:cs typeface="Calibri" pitchFamily="34" charset="-120"/>
              </a:rPr>
              <a:t>Aircraft wiring</a:t>
            </a:r>
            <a:endParaRPr lang="en-US" sz="950" dirty="0"/>
          </a:p>
        </p:txBody>
      </p:sp>
      <p:sp>
        <p:nvSpPr>
          <p:cNvPr id="9" name="Shape 7"/>
          <p:cNvSpPr/>
          <p:nvPr/>
        </p:nvSpPr>
        <p:spPr>
          <a:xfrm>
            <a:off x="6722669" y="4128516"/>
            <a:ext cx="4661611" cy="1815084"/>
          </a:xfrm>
          <a:prstGeom prst="rect">
            <a:avLst/>
          </a:prstGeom>
          <a:solidFill>
            <a:srgbClr val="F2EDE4"/>
          </a:solidFill>
          <a:ln w="12700">
            <a:solidFill>
              <a:srgbClr val="D9D1C2"/>
            </a:solidFill>
            <a:prstDash val="dash"/>
          </a:ln>
        </p:spPr>
      </p:sp>
      <p:sp>
        <p:nvSpPr>
          <p:cNvPr id="10" name="Text 8"/>
          <p:cNvSpPr txBox="1"/>
          <p:nvPr/>
        </p:nvSpPr>
        <p:spPr>
          <a:xfrm>
            <a:off x="6832397" y="4670298"/>
            <a:ext cx="4442155" cy="731520"/>
          </a:xfrm>
          <a:prstGeom prst="rect">
            <a:avLst/>
          </a:prstGeom>
          <a:noFill/>
          <a:ln/>
        </p:spPr>
        <p:txBody>
          <a:bodyPr wrap="square" rtlCol="0" anchor="ctr"/>
          <a:lstStyle/>
          <a:p>
            <a:pPr algn="ctr" indent="0" marL="0">
              <a:buNone/>
            </a:pPr>
            <a:r>
              <a:rPr lang="en-US" sz="950" b="1" spc="130" kern="0" dirty="0">
                <a:solidFill>
                  <a:srgbClr val="A79C8C"/>
                </a:solidFill>
                <a:latin typeface="Calibri" pitchFamily="34" charset="0"/>
                <a:ea typeface="Calibri" pitchFamily="34" charset="-122"/>
                <a:cs typeface="Calibri" pitchFamily="34" charset="-120"/>
              </a:rPr>
              <a:t>Material detail</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DE4"/>
        </a:solidFill>
      </p:bgPr>
    </p:bg>
    <p:spTree>
      <p:nvGrpSpPr>
        <p:cNvPr id="1" name=""/>
        <p:cNvGrpSpPr/>
        <p:nvPr/>
      </p:nvGrpSpPr>
      <p:grpSpPr>
        <a:xfrm>
          <a:off x="0" y="0"/>
          <a:ext cx="0" cy="0"/>
          <a:chOff x="0" y="0"/>
          <a:chExt cx="0" cy="0"/>
        </a:xfrm>
      </p:grpSpPr>
      <p:sp>
        <p:nvSpPr>
          <p:cNvPr id="2" name="Text 0"/>
          <p:cNvSpPr txBox="1"/>
          <p:nvPr/>
        </p:nvSpPr>
        <p:spPr>
          <a:xfrm>
            <a:off x="11109960" y="6309360"/>
            <a:ext cx="548640" cy="274320"/>
          </a:xfrm>
          <a:prstGeom prst="rect">
            <a:avLst/>
          </a:prstGeom>
          <a:noFill/>
          <a:ln/>
        </p:spPr>
        <p:txBody>
          <a:bodyPr wrap="square" rtlCol="0" anchor="ctr"/>
          <a:lstStyle/>
          <a:p>
            <a:pPr algn="r" indent="0" marL="0">
              <a:buNone/>
            </a:pPr>
            <a:r>
              <a:rPr lang="en-US" sz="900" b="1" spc="150" kern="0" dirty="0">
                <a:solidFill>
                  <a:srgbClr val="A79C8C"/>
                </a:solidFill>
                <a:latin typeface="Calibri" pitchFamily="34" charset="0"/>
                <a:ea typeface="Calibri" pitchFamily="34" charset="-122"/>
                <a:cs typeface="Calibri" pitchFamily="34" charset="-120"/>
              </a:rPr>
              <a:t>12</a:t>
            </a:r>
            <a:endParaRPr lang="en-US" sz="900" dirty="0"/>
          </a:p>
        </p:txBody>
      </p:sp>
      <p:sp>
        <p:nvSpPr>
          <p:cNvPr id="3" name="Text 1"/>
          <p:cNvSpPr txBox="1"/>
          <p:nvPr/>
        </p:nvSpPr>
        <p:spPr>
          <a:xfrm>
            <a:off x="777240" y="548640"/>
            <a:ext cx="8686800" cy="256032"/>
          </a:xfrm>
          <a:prstGeom prst="rect">
            <a:avLst/>
          </a:prstGeom>
          <a:noFill/>
          <a:ln/>
        </p:spPr>
        <p:txBody>
          <a:bodyPr wrap="square" lIns="0" tIns="0" rIns="0" bIns="0" rtlCol="0" anchor="ctr"/>
          <a:lstStyle/>
          <a:p>
            <a:pPr indent="0" marL="0">
              <a:buNone/>
            </a:pPr>
            <a:r>
              <a:rPr lang="en-US" sz="950" b="1" spc="260" kern="0" dirty="0">
                <a:solidFill>
                  <a:srgbClr val="8A6A3A"/>
                </a:solidFill>
                <a:latin typeface="Calibri" pitchFamily="34" charset="0"/>
                <a:ea typeface="Calibri" pitchFamily="34" charset="-122"/>
                <a:cs typeface="Calibri" pitchFamily="34" charset="-120"/>
              </a:rPr>
              <a:t>FERRONATO · LUXURY ACCESSORIES · SWITZERLAND AND EXPORT</a:t>
            </a:r>
            <a:endParaRPr lang="en-US" sz="950" dirty="0"/>
          </a:p>
        </p:txBody>
      </p:sp>
      <p:sp>
        <p:nvSpPr>
          <p:cNvPr id="4" name="Text 2"/>
          <p:cNvSpPr txBox="1"/>
          <p:nvPr/>
        </p:nvSpPr>
        <p:spPr>
          <a:xfrm>
            <a:off x="777240" y="960120"/>
            <a:ext cx="5943600" cy="1371600"/>
          </a:xfrm>
          <a:prstGeom prst="rect">
            <a:avLst/>
          </a:prstGeom>
          <a:noFill/>
          <a:ln/>
        </p:spPr>
        <p:txBody>
          <a:bodyPr wrap="square" lIns="0" tIns="0" rIns="0" bIns="0" rtlCol="0" anchor="t"/>
          <a:lstStyle/>
          <a:p>
            <a:pPr indent="0" marL="0">
              <a:lnSpc>
                <a:spcPts val="3300"/>
              </a:lnSpc>
              <a:buNone/>
            </a:pPr>
            <a:r>
              <a:rPr lang="en-US" sz="2700" dirty="0">
                <a:solidFill>
                  <a:srgbClr val="2A2118"/>
                </a:solidFill>
                <a:latin typeface="Cambria" pitchFamily="34" charset="0"/>
                <a:ea typeface="Cambria" pitchFamily="34" charset="-122"/>
                <a:cs typeface="Cambria" pitchFamily="34" charset="-120"/>
              </a:rPr>
              <a:t>Every rival sold protection. We launched the first luxury range built on privacy.</a:t>
            </a:r>
            <a:endParaRPr lang="en-US" sz="2700" dirty="0"/>
          </a:p>
        </p:txBody>
      </p:sp>
      <p:sp>
        <p:nvSpPr>
          <p:cNvPr id="5" name="Text 3"/>
          <p:cNvSpPr txBox="1"/>
          <p:nvPr/>
        </p:nvSpPr>
        <p:spPr>
          <a:xfrm>
            <a:off x="777240" y="2395728"/>
            <a:ext cx="5623560" cy="219456"/>
          </a:xfrm>
          <a:prstGeom prst="rect">
            <a:avLst/>
          </a:prstGeom>
          <a:noFill/>
          <a:ln/>
        </p:spPr>
        <p:txBody>
          <a:bodyPr wrap="square" lIns="0" tIns="0" rIns="0" bIns="0" rtlCol="0" anchor="ctr"/>
          <a:lstStyle/>
          <a:p>
            <a:pPr indent="0" marL="0">
              <a:buNone/>
            </a:pPr>
            <a:r>
              <a:rPr lang="en-US" sz="850" b="1" spc="180" kern="0" dirty="0">
                <a:solidFill>
                  <a:srgbClr val="8A6A3A"/>
                </a:solidFill>
                <a:latin typeface="Calibri" pitchFamily="34" charset="0"/>
                <a:ea typeface="Calibri" pitchFamily="34" charset="-122"/>
                <a:cs typeface="Calibri" pitchFamily="34" charset="-120"/>
              </a:rPr>
              <a:t>THE CHALLENGE</a:t>
            </a:r>
            <a:endParaRPr lang="en-US" sz="850" dirty="0"/>
          </a:p>
        </p:txBody>
      </p:sp>
      <p:sp>
        <p:nvSpPr>
          <p:cNvPr id="6" name="Text 4"/>
          <p:cNvSpPr txBox="1"/>
          <p:nvPr/>
        </p:nvSpPr>
        <p:spPr>
          <a:xfrm>
            <a:off x="777240" y="2670048"/>
            <a:ext cx="5623560" cy="960120"/>
          </a:xfrm>
          <a:prstGeom prst="rect">
            <a:avLst/>
          </a:prstGeom>
          <a:noFill/>
          <a:ln/>
        </p:spPr>
        <p:txBody>
          <a:bodyPr wrap="square" lIns="0" tIns="0" rIns="0" bIns="0" rtlCol="0" anchor="t"/>
          <a:lstStyle/>
          <a:p>
            <a:pPr indent="0" marL="0">
              <a:lnSpc>
                <a:spcPts val="1800"/>
              </a:lnSpc>
              <a:buNone/>
            </a:pPr>
            <a:r>
              <a:rPr lang="en-US" sz="1300" dirty="0">
                <a:solidFill>
                  <a:srgbClr val="6E6355"/>
                </a:solidFill>
                <a:latin typeface="Calibri" pitchFamily="34" charset="0"/>
                <a:ea typeface="Calibri" pitchFamily="34" charset="-122"/>
                <a:cs typeface="Calibri" pitchFamily="34" charset="-120"/>
              </a:rPr>
              <a:t>A fourth-generation family with thirty years of privacy technology in defence and aerospace wanted to reach consumers. Every brand already in the category sold protection to people who felt threatened.</a:t>
            </a:r>
            <a:endParaRPr lang="en-US" sz="1300" dirty="0"/>
          </a:p>
        </p:txBody>
      </p:sp>
      <p:sp>
        <p:nvSpPr>
          <p:cNvPr id="7" name="Text 5"/>
          <p:cNvSpPr txBox="1"/>
          <p:nvPr/>
        </p:nvSpPr>
        <p:spPr>
          <a:xfrm>
            <a:off x="777240" y="3675888"/>
            <a:ext cx="5623560" cy="219456"/>
          </a:xfrm>
          <a:prstGeom prst="rect">
            <a:avLst/>
          </a:prstGeom>
          <a:noFill/>
          <a:ln/>
        </p:spPr>
        <p:txBody>
          <a:bodyPr wrap="square" lIns="0" tIns="0" rIns="0" bIns="0" rtlCol="0" anchor="ctr"/>
          <a:lstStyle/>
          <a:p>
            <a:pPr indent="0" marL="0">
              <a:buNone/>
            </a:pPr>
            <a:r>
              <a:rPr lang="en-US" sz="850" b="1" spc="180" kern="0" dirty="0">
                <a:solidFill>
                  <a:srgbClr val="8A6A3A"/>
                </a:solidFill>
                <a:latin typeface="Calibri" pitchFamily="34" charset="0"/>
                <a:ea typeface="Calibri" pitchFamily="34" charset="-122"/>
                <a:cs typeface="Calibri" pitchFamily="34" charset="-120"/>
              </a:rPr>
              <a:t>WHAT WE DID</a:t>
            </a:r>
            <a:endParaRPr lang="en-US" sz="850" dirty="0"/>
          </a:p>
        </p:txBody>
      </p:sp>
      <p:sp>
        <p:nvSpPr>
          <p:cNvPr id="8" name="Text 6"/>
          <p:cNvSpPr txBox="1"/>
          <p:nvPr/>
        </p:nvSpPr>
        <p:spPr>
          <a:xfrm>
            <a:off x="777240" y="3950208"/>
            <a:ext cx="5623560" cy="960120"/>
          </a:xfrm>
          <a:prstGeom prst="rect">
            <a:avLst/>
          </a:prstGeom>
          <a:noFill/>
          <a:ln/>
        </p:spPr>
        <p:txBody>
          <a:bodyPr wrap="square" lIns="0" tIns="0" rIns="0" bIns="0" rtlCol="0" anchor="t"/>
          <a:lstStyle/>
          <a:p>
            <a:pPr indent="0" marL="0">
              <a:lnSpc>
                <a:spcPts val="1800"/>
              </a:lnSpc>
              <a:buNone/>
            </a:pPr>
            <a:r>
              <a:rPr lang="en-US" sz="1300" dirty="0">
                <a:solidFill>
                  <a:srgbClr val="6E6355"/>
                </a:solidFill>
                <a:latin typeface="Calibri" pitchFamily="34" charset="0"/>
                <a:ea typeface="Calibri" pitchFamily="34" charset="-122"/>
                <a:cs typeface="Calibri" pitchFamily="34" charset="-120"/>
              </a:rPr>
              <a:t>Positioned the other way — discretion, for people who feel watched. Italian leather, Swiss engineering, and a launch built around a category-first claim rather than a feature list.</a:t>
            </a:r>
            <a:endParaRPr lang="en-US" sz="1300" dirty="0"/>
          </a:p>
        </p:txBody>
      </p:sp>
      <p:sp>
        <p:nvSpPr>
          <p:cNvPr id="9" name="Shape 7"/>
          <p:cNvSpPr/>
          <p:nvPr/>
        </p:nvSpPr>
        <p:spPr>
          <a:xfrm>
            <a:off x="777240" y="4956048"/>
            <a:ext cx="1789176" cy="603504"/>
          </a:xfrm>
          <a:prstGeom prst="rect">
            <a:avLst/>
          </a:prstGeom>
          <a:solidFill>
            <a:srgbClr val="8A6A3A"/>
          </a:solidFill>
          <a:ln/>
        </p:spPr>
      </p:sp>
      <p:sp>
        <p:nvSpPr>
          <p:cNvPr id="10" name="Text 8"/>
          <p:cNvSpPr txBox="1"/>
          <p:nvPr/>
        </p:nvSpPr>
        <p:spPr>
          <a:xfrm>
            <a:off x="905256" y="4956048"/>
            <a:ext cx="1533144" cy="603504"/>
          </a:xfrm>
          <a:prstGeom prst="rect">
            <a:avLst/>
          </a:prstGeom>
          <a:noFill/>
          <a:ln/>
        </p:spPr>
        <p:txBody>
          <a:bodyPr wrap="square"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300,000+ at Expo debut</a:t>
            </a:r>
            <a:endParaRPr lang="en-US" sz="1050" dirty="0"/>
          </a:p>
        </p:txBody>
      </p:sp>
      <p:sp>
        <p:nvSpPr>
          <p:cNvPr id="11" name="Shape 9"/>
          <p:cNvSpPr/>
          <p:nvPr/>
        </p:nvSpPr>
        <p:spPr>
          <a:xfrm>
            <a:off x="2694432" y="4956048"/>
            <a:ext cx="1789176" cy="603504"/>
          </a:xfrm>
          <a:prstGeom prst="rect">
            <a:avLst/>
          </a:prstGeom>
          <a:solidFill>
            <a:srgbClr val="8A6A3A"/>
          </a:solidFill>
          <a:ln/>
        </p:spPr>
      </p:sp>
      <p:sp>
        <p:nvSpPr>
          <p:cNvPr id="12" name="Text 10"/>
          <p:cNvSpPr txBox="1"/>
          <p:nvPr/>
        </p:nvSpPr>
        <p:spPr>
          <a:xfrm>
            <a:off x="2822448" y="4956048"/>
            <a:ext cx="1533144" cy="603504"/>
          </a:xfrm>
          <a:prstGeom prst="rect">
            <a:avLst/>
          </a:prstGeom>
          <a:noFill/>
          <a:ln/>
        </p:spPr>
        <p:txBody>
          <a:bodyPr wrap="square"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May 2023 first boutique</a:t>
            </a:r>
            <a:endParaRPr lang="en-US" sz="1050" dirty="0"/>
          </a:p>
        </p:txBody>
      </p:sp>
      <p:sp>
        <p:nvSpPr>
          <p:cNvPr id="13" name="Shape 11"/>
          <p:cNvSpPr/>
          <p:nvPr/>
        </p:nvSpPr>
        <p:spPr>
          <a:xfrm>
            <a:off x="4611624" y="4956048"/>
            <a:ext cx="1789176" cy="603504"/>
          </a:xfrm>
          <a:prstGeom prst="rect">
            <a:avLst/>
          </a:prstGeom>
          <a:solidFill>
            <a:srgbClr val="8A6A3A"/>
          </a:solidFill>
          <a:ln/>
        </p:spPr>
      </p:sp>
      <p:sp>
        <p:nvSpPr>
          <p:cNvPr id="14" name="Text 12"/>
          <p:cNvSpPr txBox="1"/>
          <p:nvPr/>
        </p:nvSpPr>
        <p:spPr>
          <a:xfrm>
            <a:off x="4739640" y="4956048"/>
            <a:ext cx="1533144" cy="603504"/>
          </a:xfrm>
          <a:prstGeom prst="rect">
            <a:avLst/>
          </a:prstGeom>
          <a:noFill/>
          <a:ln/>
        </p:spPr>
        <p:txBody>
          <a:bodyPr wrap="square"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US + EU distribution</a:t>
            </a:r>
            <a:endParaRPr lang="en-US" sz="1050" dirty="0"/>
          </a:p>
        </p:txBody>
      </p:sp>
      <p:sp>
        <p:nvSpPr>
          <p:cNvPr id="15" name="Shape 13"/>
          <p:cNvSpPr/>
          <p:nvPr/>
        </p:nvSpPr>
        <p:spPr>
          <a:xfrm>
            <a:off x="6995160" y="960120"/>
            <a:ext cx="4389120" cy="4937760"/>
          </a:xfrm>
          <a:prstGeom prst="rect">
            <a:avLst/>
          </a:prstGeom>
          <a:solidFill>
            <a:srgbClr val="F2EDE4"/>
          </a:solidFill>
          <a:ln w="12700">
            <a:solidFill>
              <a:srgbClr val="D9D1C2"/>
            </a:solidFill>
            <a:prstDash val="dash"/>
          </a:ln>
        </p:spPr>
      </p:sp>
      <p:sp>
        <p:nvSpPr>
          <p:cNvPr id="16" name="Text 14"/>
          <p:cNvSpPr txBox="1"/>
          <p:nvPr/>
        </p:nvSpPr>
        <p:spPr>
          <a:xfrm>
            <a:off x="7104888" y="3063240"/>
            <a:ext cx="4169664" cy="731520"/>
          </a:xfrm>
          <a:prstGeom prst="rect">
            <a:avLst/>
          </a:prstGeom>
          <a:noFill/>
          <a:ln/>
        </p:spPr>
        <p:txBody>
          <a:bodyPr wrap="square" rtlCol="0" anchor="ctr"/>
          <a:lstStyle/>
          <a:p>
            <a:pPr algn="ctr" indent="0" marL="0">
              <a:buNone/>
            </a:pPr>
            <a:r>
              <a:rPr lang="en-US" sz="950" b="1" spc="130" kern="0" dirty="0">
                <a:solidFill>
                  <a:srgbClr val="A79C8C"/>
                </a:solidFill>
                <a:latin typeface="Calibri" pitchFamily="34" charset="0"/>
                <a:ea typeface="Calibri" pitchFamily="34" charset="-122"/>
                <a:cs typeface="Calibri" pitchFamily="34" charset="-120"/>
              </a:rPr>
              <a:t>Product and boutique photography</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EDE4"/>
        </a:solidFill>
      </p:bgPr>
    </p:bg>
    <p:spTree>
      <p:nvGrpSpPr>
        <p:cNvPr id="1" name=""/>
        <p:cNvGrpSpPr/>
        <p:nvPr/>
      </p:nvGrpSpPr>
      <p:grpSpPr>
        <a:xfrm>
          <a:off x="0" y="0"/>
          <a:ext cx="0" cy="0"/>
          <a:chOff x="0" y="0"/>
          <a:chExt cx="0" cy="0"/>
        </a:xfrm>
      </p:grpSpPr>
      <p:sp>
        <p:nvSpPr>
          <p:cNvPr id="2" name="Text 0"/>
          <p:cNvSpPr txBox="1"/>
          <p:nvPr/>
        </p:nvSpPr>
        <p:spPr>
          <a:xfrm>
            <a:off x="11109960" y="6309360"/>
            <a:ext cx="548640" cy="274320"/>
          </a:xfrm>
          <a:prstGeom prst="rect">
            <a:avLst/>
          </a:prstGeom>
          <a:noFill/>
          <a:ln/>
        </p:spPr>
        <p:txBody>
          <a:bodyPr wrap="square" rtlCol="0" anchor="ctr"/>
          <a:lstStyle/>
          <a:p>
            <a:pPr algn="r" indent="0" marL="0">
              <a:buNone/>
            </a:pPr>
            <a:r>
              <a:rPr lang="en-US" sz="900" b="1" spc="150" kern="0" dirty="0">
                <a:solidFill>
                  <a:srgbClr val="A79C8C"/>
                </a:solidFill>
                <a:latin typeface="Calibri" pitchFamily="34" charset="0"/>
                <a:ea typeface="Calibri" pitchFamily="34" charset="-122"/>
                <a:cs typeface="Calibri" pitchFamily="34" charset="-120"/>
              </a:rPr>
              <a:t>13</a:t>
            </a:r>
            <a:endParaRPr lang="en-US" sz="900" dirty="0"/>
          </a:p>
        </p:txBody>
      </p:sp>
      <p:sp>
        <p:nvSpPr>
          <p:cNvPr id="3" name="Text 1"/>
          <p:cNvSpPr txBox="1"/>
          <p:nvPr/>
        </p:nvSpPr>
        <p:spPr>
          <a:xfrm>
            <a:off x="777240" y="548640"/>
            <a:ext cx="8686800" cy="256032"/>
          </a:xfrm>
          <a:prstGeom prst="rect">
            <a:avLst/>
          </a:prstGeom>
          <a:noFill/>
          <a:ln/>
        </p:spPr>
        <p:txBody>
          <a:bodyPr wrap="square" lIns="0" tIns="0" rIns="0" bIns="0" rtlCol="0" anchor="ctr"/>
          <a:lstStyle/>
          <a:p>
            <a:pPr indent="0" marL="0">
              <a:buNone/>
            </a:pPr>
            <a:r>
              <a:rPr lang="en-US" sz="950" b="1" spc="260" kern="0" dirty="0">
                <a:solidFill>
                  <a:srgbClr val="8A6A3A"/>
                </a:solidFill>
                <a:latin typeface="Calibri" pitchFamily="34" charset="0"/>
                <a:ea typeface="Calibri" pitchFamily="34" charset="-122"/>
                <a:cs typeface="Calibri" pitchFamily="34" charset="-120"/>
              </a:rPr>
              <a:t>FERRONATO · THE WORK</a:t>
            </a:r>
            <a:endParaRPr lang="en-US" sz="950" dirty="0"/>
          </a:p>
        </p:txBody>
      </p:sp>
      <p:sp>
        <p:nvSpPr>
          <p:cNvPr id="4" name="Text 2"/>
          <p:cNvSpPr txBox="1"/>
          <p:nvPr/>
        </p:nvSpPr>
        <p:spPr>
          <a:xfrm>
            <a:off x="777240" y="960120"/>
            <a:ext cx="9692640" cy="868680"/>
          </a:xfrm>
          <a:prstGeom prst="rect">
            <a:avLst/>
          </a:prstGeom>
          <a:noFill/>
          <a:ln/>
        </p:spPr>
        <p:txBody>
          <a:bodyPr wrap="square" lIns="0" tIns="0" rIns="0" bIns="0" rtlCol="0" anchor="t"/>
          <a:lstStyle/>
          <a:p>
            <a:pPr indent="0" marL="0">
              <a:lnSpc>
                <a:spcPts val="3200"/>
              </a:lnSpc>
              <a:buNone/>
            </a:pPr>
            <a:r>
              <a:rPr lang="en-US" sz="2600" dirty="0">
                <a:solidFill>
                  <a:srgbClr val="2A2118"/>
                </a:solidFill>
                <a:latin typeface="Cambria" pitchFamily="34" charset="0"/>
                <a:ea typeface="Cambria" pitchFamily="34" charset="-122"/>
                <a:cs typeface="Cambria" pitchFamily="34" charset="-120"/>
              </a:rPr>
              <a:t>Same owner. Same agency. Two entirely different jobs.</a:t>
            </a:r>
            <a:endParaRPr lang="en-US" sz="2600" dirty="0"/>
          </a:p>
        </p:txBody>
      </p:sp>
      <p:sp>
        <p:nvSpPr>
          <p:cNvPr id="5" name="Shape 3"/>
          <p:cNvSpPr/>
          <p:nvPr/>
        </p:nvSpPr>
        <p:spPr>
          <a:xfrm>
            <a:off x="777240" y="2148840"/>
            <a:ext cx="5780837" cy="3794760"/>
          </a:xfrm>
          <a:prstGeom prst="rect">
            <a:avLst/>
          </a:prstGeom>
          <a:solidFill>
            <a:srgbClr val="F2EDE4"/>
          </a:solidFill>
          <a:ln w="12700">
            <a:solidFill>
              <a:srgbClr val="D9D1C2"/>
            </a:solidFill>
            <a:prstDash val="dash"/>
          </a:ln>
        </p:spPr>
      </p:sp>
      <p:sp>
        <p:nvSpPr>
          <p:cNvPr id="6" name="Text 4"/>
          <p:cNvSpPr txBox="1"/>
          <p:nvPr/>
        </p:nvSpPr>
        <p:spPr>
          <a:xfrm>
            <a:off x="886968" y="3680460"/>
            <a:ext cx="5561381" cy="731520"/>
          </a:xfrm>
          <a:prstGeom prst="rect">
            <a:avLst/>
          </a:prstGeom>
          <a:noFill/>
          <a:ln/>
        </p:spPr>
        <p:txBody>
          <a:bodyPr wrap="square" rtlCol="0" anchor="ctr"/>
          <a:lstStyle/>
          <a:p>
            <a:pPr algn="ctr" indent="0" marL="0">
              <a:buNone/>
            </a:pPr>
            <a:r>
              <a:rPr lang="en-US" sz="950" b="1" spc="130" kern="0" dirty="0">
                <a:solidFill>
                  <a:srgbClr val="A79C8C"/>
                </a:solidFill>
                <a:latin typeface="Calibri" pitchFamily="34" charset="0"/>
                <a:ea typeface="Calibri" pitchFamily="34" charset="-122"/>
                <a:cs typeface="Calibri" pitchFamily="34" charset="-120"/>
              </a:rPr>
              <a:t>Campaign photography</a:t>
            </a:r>
            <a:endParaRPr lang="en-US" sz="950" dirty="0"/>
          </a:p>
        </p:txBody>
      </p:sp>
      <p:sp>
        <p:nvSpPr>
          <p:cNvPr id="7" name="Shape 5"/>
          <p:cNvSpPr/>
          <p:nvPr/>
        </p:nvSpPr>
        <p:spPr>
          <a:xfrm>
            <a:off x="6722669" y="2148840"/>
            <a:ext cx="4661611" cy="1815084"/>
          </a:xfrm>
          <a:prstGeom prst="rect">
            <a:avLst/>
          </a:prstGeom>
          <a:solidFill>
            <a:srgbClr val="F2EDE4"/>
          </a:solidFill>
          <a:ln w="12700">
            <a:solidFill>
              <a:srgbClr val="D9D1C2"/>
            </a:solidFill>
            <a:prstDash val="dash"/>
          </a:ln>
        </p:spPr>
      </p:sp>
      <p:sp>
        <p:nvSpPr>
          <p:cNvPr id="8" name="Text 6"/>
          <p:cNvSpPr txBox="1"/>
          <p:nvPr/>
        </p:nvSpPr>
        <p:spPr>
          <a:xfrm>
            <a:off x="6832397" y="2690622"/>
            <a:ext cx="4442155" cy="731520"/>
          </a:xfrm>
          <a:prstGeom prst="rect">
            <a:avLst/>
          </a:prstGeom>
          <a:noFill/>
          <a:ln/>
        </p:spPr>
        <p:txBody>
          <a:bodyPr wrap="square" rtlCol="0" anchor="ctr"/>
          <a:lstStyle/>
          <a:p>
            <a:pPr algn="ctr" indent="0" marL="0">
              <a:buNone/>
            </a:pPr>
            <a:r>
              <a:rPr lang="en-US" sz="950" b="1" spc="130" kern="0" dirty="0">
                <a:solidFill>
                  <a:srgbClr val="A79C8C"/>
                </a:solidFill>
                <a:latin typeface="Calibri" pitchFamily="34" charset="0"/>
                <a:ea typeface="Calibri" pitchFamily="34" charset="-122"/>
                <a:cs typeface="Calibri" pitchFamily="34" charset="-120"/>
              </a:rPr>
              <a:t>Boutique</a:t>
            </a:r>
            <a:endParaRPr lang="en-US" sz="950" dirty="0"/>
          </a:p>
        </p:txBody>
      </p:sp>
      <p:sp>
        <p:nvSpPr>
          <p:cNvPr id="9" name="Shape 7"/>
          <p:cNvSpPr/>
          <p:nvPr/>
        </p:nvSpPr>
        <p:spPr>
          <a:xfrm>
            <a:off x="6722669" y="4128516"/>
            <a:ext cx="4661611" cy="1815084"/>
          </a:xfrm>
          <a:prstGeom prst="rect">
            <a:avLst/>
          </a:prstGeom>
          <a:solidFill>
            <a:srgbClr val="F2EDE4"/>
          </a:solidFill>
          <a:ln w="12700">
            <a:solidFill>
              <a:srgbClr val="D9D1C2"/>
            </a:solidFill>
            <a:prstDash val="dash"/>
          </a:ln>
        </p:spPr>
      </p:sp>
      <p:sp>
        <p:nvSpPr>
          <p:cNvPr id="10" name="Text 8"/>
          <p:cNvSpPr txBox="1"/>
          <p:nvPr/>
        </p:nvSpPr>
        <p:spPr>
          <a:xfrm>
            <a:off x="6832397" y="4670298"/>
            <a:ext cx="4442155" cy="731520"/>
          </a:xfrm>
          <a:prstGeom prst="rect">
            <a:avLst/>
          </a:prstGeom>
          <a:noFill/>
          <a:ln/>
        </p:spPr>
        <p:txBody>
          <a:bodyPr wrap="square" rtlCol="0" anchor="ctr"/>
          <a:lstStyle/>
          <a:p>
            <a:pPr algn="ctr" indent="0" marL="0">
              <a:buNone/>
            </a:pPr>
            <a:r>
              <a:rPr lang="en-US" sz="950" b="1" spc="130" kern="0" dirty="0">
                <a:solidFill>
                  <a:srgbClr val="A79C8C"/>
                </a:solidFill>
                <a:latin typeface="Calibri" pitchFamily="34" charset="0"/>
                <a:ea typeface="Calibri" pitchFamily="34" charset="-122"/>
                <a:cs typeface="Calibri" pitchFamily="34" charset="-120"/>
              </a:rPr>
              <a:t>Atelier or product detail</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EDE4"/>
        </a:solidFill>
      </p:bgPr>
    </p:bg>
    <p:spTree>
      <p:nvGrpSpPr>
        <p:cNvPr id="1" name=""/>
        <p:cNvGrpSpPr/>
        <p:nvPr/>
      </p:nvGrpSpPr>
      <p:grpSpPr>
        <a:xfrm>
          <a:off x="0" y="0"/>
          <a:ext cx="0" cy="0"/>
          <a:chOff x="0" y="0"/>
          <a:chExt cx="0" cy="0"/>
        </a:xfrm>
      </p:grpSpPr>
      <p:sp>
        <p:nvSpPr>
          <p:cNvPr id="2" name="Text 0"/>
          <p:cNvSpPr txBox="1"/>
          <p:nvPr/>
        </p:nvSpPr>
        <p:spPr>
          <a:xfrm>
            <a:off x="11109960" y="6309360"/>
            <a:ext cx="548640" cy="274320"/>
          </a:xfrm>
          <a:prstGeom prst="rect">
            <a:avLst/>
          </a:prstGeom>
          <a:noFill/>
          <a:ln/>
        </p:spPr>
        <p:txBody>
          <a:bodyPr wrap="square" rtlCol="0" anchor="ctr"/>
          <a:lstStyle/>
          <a:p>
            <a:pPr algn="r" indent="0" marL="0">
              <a:buNone/>
            </a:pPr>
            <a:r>
              <a:rPr lang="en-US" sz="900" b="1" spc="150" kern="0" dirty="0">
                <a:solidFill>
                  <a:srgbClr val="A79C8C"/>
                </a:solidFill>
                <a:latin typeface="Calibri" pitchFamily="34" charset="0"/>
                <a:ea typeface="Calibri" pitchFamily="34" charset="-122"/>
                <a:cs typeface="Calibri" pitchFamily="34" charset="-120"/>
              </a:rPr>
              <a:t>14</a:t>
            </a:r>
            <a:endParaRPr lang="en-US" sz="900" dirty="0"/>
          </a:p>
        </p:txBody>
      </p:sp>
      <p:sp>
        <p:nvSpPr>
          <p:cNvPr id="3" name="Text 1"/>
          <p:cNvSpPr txBox="1"/>
          <p:nvPr/>
        </p:nvSpPr>
        <p:spPr>
          <a:xfrm>
            <a:off x="777240" y="548640"/>
            <a:ext cx="8686800" cy="256032"/>
          </a:xfrm>
          <a:prstGeom prst="rect">
            <a:avLst/>
          </a:prstGeom>
          <a:noFill/>
          <a:ln/>
        </p:spPr>
        <p:txBody>
          <a:bodyPr wrap="square" lIns="0" tIns="0" rIns="0" bIns="0" rtlCol="0" anchor="ctr"/>
          <a:lstStyle/>
          <a:p>
            <a:pPr indent="0" marL="0">
              <a:buNone/>
            </a:pPr>
            <a:r>
              <a:rPr lang="en-US" sz="950" b="1" spc="260" kern="0" dirty="0">
                <a:solidFill>
                  <a:srgbClr val="8A6A3A"/>
                </a:solidFill>
                <a:latin typeface="Calibri" pitchFamily="34" charset="0"/>
                <a:ea typeface="Calibri" pitchFamily="34" charset="-122"/>
                <a:cs typeface="Calibri" pitchFamily="34" charset="-120"/>
              </a:rPr>
              <a:t>OPEC · UAE NIGHT, VIENNA · NATIONAL REPRESENTATION</a:t>
            </a:r>
            <a:endParaRPr lang="en-US" sz="950" dirty="0"/>
          </a:p>
        </p:txBody>
      </p:sp>
      <p:sp>
        <p:nvSpPr>
          <p:cNvPr id="4" name="Text 2"/>
          <p:cNvSpPr txBox="1"/>
          <p:nvPr/>
        </p:nvSpPr>
        <p:spPr>
          <a:xfrm>
            <a:off x="777240" y="960120"/>
            <a:ext cx="5943600" cy="1371600"/>
          </a:xfrm>
          <a:prstGeom prst="rect">
            <a:avLst/>
          </a:prstGeom>
          <a:noFill/>
          <a:ln/>
        </p:spPr>
        <p:txBody>
          <a:bodyPr wrap="square" lIns="0" tIns="0" rIns="0" bIns="0" rtlCol="0" anchor="t"/>
          <a:lstStyle/>
          <a:p>
            <a:pPr indent="0" marL="0">
              <a:lnSpc>
                <a:spcPts val="3500"/>
              </a:lnSpc>
              <a:buNone/>
            </a:pPr>
            <a:r>
              <a:rPr lang="en-US" sz="2900" dirty="0">
                <a:solidFill>
                  <a:srgbClr val="2A2118"/>
                </a:solidFill>
                <a:latin typeface="Cambria" pitchFamily="34" charset="0"/>
                <a:ea typeface="Cambria" pitchFamily="34" charset="-122"/>
                <a:cs typeface="Cambria" pitchFamily="34" charset="-120"/>
              </a:rPr>
              <a:t>A national event, delivered in a foreign capital.</a:t>
            </a:r>
            <a:endParaRPr lang="en-US" sz="2900" dirty="0"/>
          </a:p>
        </p:txBody>
      </p:sp>
      <p:sp>
        <p:nvSpPr>
          <p:cNvPr id="5" name="Text 3"/>
          <p:cNvSpPr txBox="1"/>
          <p:nvPr/>
        </p:nvSpPr>
        <p:spPr>
          <a:xfrm>
            <a:off x="777240" y="2395728"/>
            <a:ext cx="5623560" cy="219456"/>
          </a:xfrm>
          <a:prstGeom prst="rect">
            <a:avLst/>
          </a:prstGeom>
          <a:noFill/>
          <a:ln/>
        </p:spPr>
        <p:txBody>
          <a:bodyPr wrap="square" lIns="0" tIns="0" rIns="0" bIns="0" rtlCol="0" anchor="ctr"/>
          <a:lstStyle/>
          <a:p>
            <a:pPr indent="0" marL="0">
              <a:buNone/>
            </a:pPr>
            <a:r>
              <a:rPr lang="en-US" sz="850" b="1" spc="180" kern="0" dirty="0">
                <a:solidFill>
                  <a:srgbClr val="8A6A3A"/>
                </a:solidFill>
                <a:latin typeface="Calibri" pitchFamily="34" charset="0"/>
                <a:ea typeface="Calibri" pitchFamily="34" charset="-122"/>
                <a:cs typeface="Calibri" pitchFamily="34" charset="-120"/>
              </a:rPr>
              <a:t>THE CHALLENGE</a:t>
            </a:r>
            <a:endParaRPr lang="en-US" sz="850" dirty="0"/>
          </a:p>
        </p:txBody>
      </p:sp>
      <p:sp>
        <p:nvSpPr>
          <p:cNvPr id="6" name="Text 4"/>
          <p:cNvSpPr txBox="1"/>
          <p:nvPr/>
        </p:nvSpPr>
        <p:spPr>
          <a:xfrm>
            <a:off x="777240" y="2670048"/>
            <a:ext cx="5623560" cy="960120"/>
          </a:xfrm>
          <a:prstGeom prst="rect">
            <a:avLst/>
          </a:prstGeom>
          <a:noFill/>
          <a:ln/>
        </p:spPr>
        <p:txBody>
          <a:bodyPr wrap="square" lIns="0" tIns="0" rIns="0" bIns="0" rtlCol="0" anchor="t"/>
          <a:lstStyle/>
          <a:p>
            <a:pPr indent="0" marL="0">
              <a:lnSpc>
                <a:spcPts val="1800"/>
              </a:lnSpc>
              <a:buNone/>
            </a:pPr>
            <a:r>
              <a:rPr lang="en-US" sz="1300" dirty="0">
                <a:solidFill>
                  <a:srgbClr val="6E6355"/>
                </a:solidFill>
                <a:latin typeface="Calibri" pitchFamily="34" charset="0"/>
                <a:ea typeface="Calibri" pitchFamily="34" charset="-122"/>
                <a:cs typeface="Calibri" pitchFamily="34" charset="-120"/>
              </a:rPr>
              <a:t>A country represented abroad, on a date fixed by the OPEC calendar, in a city with none of the suppliers, permissions or margins for error that a home market provides.</a:t>
            </a:r>
            <a:endParaRPr lang="en-US" sz="1300" dirty="0"/>
          </a:p>
        </p:txBody>
      </p:sp>
      <p:sp>
        <p:nvSpPr>
          <p:cNvPr id="7" name="Text 5"/>
          <p:cNvSpPr txBox="1"/>
          <p:nvPr/>
        </p:nvSpPr>
        <p:spPr>
          <a:xfrm>
            <a:off x="777240" y="3675888"/>
            <a:ext cx="5623560" cy="219456"/>
          </a:xfrm>
          <a:prstGeom prst="rect">
            <a:avLst/>
          </a:prstGeom>
          <a:noFill/>
          <a:ln/>
        </p:spPr>
        <p:txBody>
          <a:bodyPr wrap="square" lIns="0" tIns="0" rIns="0" bIns="0" rtlCol="0" anchor="ctr"/>
          <a:lstStyle/>
          <a:p>
            <a:pPr indent="0" marL="0">
              <a:buNone/>
            </a:pPr>
            <a:r>
              <a:rPr lang="en-US" sz="850" b="1" spc="180" kern="0" dirty="0">
                <a:solidFill>
                  <a:srgbClr val="8A6A3A"/>
                </a:solidFill>
                <a:latin typeface="Calibri" pitchFamily="34" charset="0"/>
                <a:ea typeface="Calibri" pitchFamily="34" charset="-122"/>
                <a:cs typeface="Calibri" pitchFamily="34" charset="-120"/>
              </a:rPr>
              <a:t>WHAT WE DID</a:t>
            </a:r>
            <a:endParaRPr lang="en-US" sz="850" dirty="0"/>
          </a:p>
        </p:txBody>
      </p:sp>
      <p:sp>
        <p:nvSpPr>
          <p:cNvPr id="8" name="Text 6"/>
          <p:cNvSpPr txBox="1"/>
          <p:nvPr/>
        </p:nvSpPr>
        <p:spPr>
          <a:xfrm>
            <a:off x="777240" y="3950208"/>
            <a:ext cx="5623560" cy="960120"/>
          </a:xfrm>
          <a:prstGeom prst="rect">
            <a:avLst/>
          </a:prstGeom>
          <a:noFill/>
          <a:ln/>
        </p:spPr>
        <p:txBody>
          <a:bodyPr wrap="square" lIns="0" tIns="0" rIns="0" bIns="0" rtlCol="0" anchor="t"/>
          <a:lstStyle/>
          <a:p>
            <a:pPr indent="0" marL="0">
              <a:lnSpc>
                <a:spcPts val="1800"/>
              </a:lnSpc>
              <a:buNone/>
            </a:pPr>
            <a:r>
              <a:rPr lang="en-US" sz="1300" dirty="0">
                <a:solidFill>
                  <a:srgbClr val="6E6355"/>
                </a:solidFill>
                <a:latin typeface="Calibri" pitchFamily="34" charset="0"/>
                <a:ea typeface="Calibri" pitchFamily="34" charset="-122"/>
                <a:cs typeface="Calibri" pitchFamily="34" charset="-120"/>
              </a:rPr>
              <a:t>[CONCEPT] · [PRODUCTION] · [GUEST MANAGEMENT] · [CONTENT] · [STAGING] — organised by EOV in partnership with H.E. Suhail Al Mazrouei, Minister of Energy.</a:t>
            </a:r>
            <a:endParaRPr lang="en-US" sz="1300" dirty="0"/>
          </a:p>
        </p:txBody>
      </p:sp>
      <p:sp>
        <p:nvSpPr>
          <p:cNvPr id="9" name="Shape 7"/>
          <p:cNvSpPr/>
          <p:nvPr/>
        </p:nvSpPr>
        <p:spPr>
          <a:xfrm>
            <a:off x="777240" y="4956048"/>
            <a:ext cx="1789176" cy="603504"/>
          </a:xfrm>
          <a:prstGeom prst="rect">
            <a:avLst/>
          </a:prstGeom>
          <a:solidFill>
            <a:srgbClr val="8A6A3A"/>
          </a:solidFill>
          <a:ln/>
        </p:spPr>
      </p:sp>
      <p:sp>
        <p:nvSpPr>
          <p:cNvPr id="10" name="Text 8"/>
          <p:cNvSpPr txBox="1"/>
          <p:nvPr/>
        </p:nvSpPr>
        <p:spPr>
          <a:xfrm>
            <a:off x="905256" y="4956048"/>
            <a:ext cx="1533144" cy="603504"/>
          </a:xfrm>
          <a:prstGeom prst="rect">
            <a:avLst/>
          </a:prstGeom>
          <a:noFill/>
          <a:ln/>
        </p:spPr>
        <p:txBody>
          <a:bodyPr wrap="square"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Vienna</a:t>
            </a:r>
            <a:endParaRPr lang="en-US" sz="1050" dirty="0"/>
          </a:p>
        </p:txBody>
      </p:sp>
      <p:sp>
        <p:nvSpPr>
          <p:cNvPr id="11" name="Shape 9"/>
          <p:cNvSpPr/>
          <p:nvPr/>
        </p:nvSpPr>
        <p:spPr>
          <a:xfrm>
            <a:off x="2694432" y="4956048"/>
            <a:ext cx="1789176" cy="603504"/>
          </a:xfrm>
          <a:prstGeom prst="rect">
            <a:avLst/>
          </a:prstGeom>
          <a:solidFill>
            <a:srgbClr val="8A6A3A"/>
          </a:solidFill>
          <a:ln/>
        </p:spPr>
      </p:sp>
      <p:sp>
        <p:nvSpPr>
          <p:cNvPr id="12" name="Text 10"/>
          <p:cNvSpPr txBox="1"/>
          <p:nvPr/>
        </p:nvSpPr>
        <p:spPr>
          <a:xfrm>
            <a:off x="2822448" y="4956048"/>
            <a:ext cx="1533144" cy="603504"/>
          </a:xfrm>
          <a:prstGeom prst="rect">
            <a:avLst/>
          </a:prstGeom>
          <a:noFill/>
          <a:ln/>
        </p:spPr>
        <p:txBody>
          <a:bodyPr wrap="square"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Ministerial partnership</a:t>
            </a:r>
            <a:endParaRPr lang="en-US" sz="1050" dirty="0"/>
          </a:p>
        </p:txBody>
      </p:sp>
      <p:sp>
        <p:nvSpPr>
          <p:cNvPr id="13" name="Shape 11"/>
          <p:cNvSpPr/>
          <p:nvPr/>
        </p:nvSpPr>
        <p:spPr>
          <a:xfrm>
            <a:off x="4611624" y="4956048"/>
            <a:ext cx="1789176" cy="603504"/>
          </a:xfrm>
          <a:prstGeom prst="rect">
            <a:avLst/>
          </a:prstGeom>
          <a:solidFill>
            <a:srgbClr val="8A6A3A"/>
          </a:solidFill>
          <a:ln/>
        </p:spPr>
      </p:sp>
      <p:sp>
        <p:nvSpPr>
          <p:cNvPr id="14" name="Text 12"/>
          <p:cNvSpPr txBox="1"/>
          <p:nvPr/>
        </p:nvSpPr>
        <p:spPr>
          <a:xfrm>
            <a:off x="4739640" y="4956048"/>
            <a:ext cx="1533144" cy="603504"/>
          </a:xfrm>
          <a:prstGeom prst="rect">
            <a:avLst/>
          </a:prstGeom>
          <a:noFill/>
          <a:ln/>
        </p:spPr>
        <p:txBody>
          <a:bodyPr wrap="square"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Fixed date</a:t>
            </a:r>
            <a:endParaRPr lang="en-US" sz="1050" dirty="0"/>
          </a:p>
        </p:txBody>
      </p:sp>
      <p:sp>
        <p:nvSpPr>
          <p:cNvPr id="15" name="Shape 13"/>
          <p:cNvSpPr/>
          <p:nvPr/>
        </p:nvSpPr>
        <p:spPr>
          <a:xfrm>
            <a:off x="6995160" y="960120"/>
            <a:ext cx="4389120" cy="4937760"/>
          </a:xfrm>
          <a:prstGeom prst="rect">
            <a:avLst/>
          </a:prstGeom>
          <a:solidFill>
            <a:srgbClr val="F2EDE4"/>
          </a:solidFill>
          <a:ln w="12700">
            <a:solidFill>
              <a:srgbClr val="D9D1C2"/>
            </a:solidFill>
            <a:prstDash val="dash"/>
          </a:ln>
        </p:spPr>
      </p:sp>
      <p:sp>
        <p:nvSpPr>
          <p:cNvPr id="16" name="Text 14"/>
          <p:cNvSpPr txBox="1"/>
          <p:nvPr/>
        </p:nvSpPr>
        <p:spPr>
          <a:xfrm>
            <a:off x="7104888" y="3063240"/>
            <a:ext cx="4169664" cy="731520"/>
          </a:xfrm>
          <a:prstGeom prst="rect">
            <a:avLst/>
          </a:prstGeom>
          <a:noFill/>
          <a:ln/>
        </p:spPr>
        <p:txBody>
          <a:bodyPr wrap="square" rtlCol="0" anchor="ctr"/>
          <a:lstStyle/>
          <a:p>
            <a:pPr algn="ctr" indent="0" marL="0">
              <a:buNone/>
            </a:pPr>
            <a:r>
              <a:rPr lang="en-US" sz="950" b="1" spc="130" kern="0" dirty="0">
                <a:solidFill>
                  <a:srgbClr val="A79C8C"/>
                </a:solidFill>
                <a:latin typeface="Calibri" pitchFamily="34" charset="0"/>
                <a:ea typeface="Calibri" pitchFamily="34" charset="-122"/>
                <a:cs typeface="Calibri" pitchFamily="34" charset="-120"/>
              </a:rPr>
              <a:t>Event photography</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DE4"/>
        </a:solidFill>
      </p:bgPr>
    </p:bg>
    <p:spTree>
      <p:nvGrpSpPr>
        <p:cNvPr id="1" name=""/>
        <p:cNvGrpSpPr/>
        <p:nvPr/>
      </p:nvGrpSpPr>
      <p:grpSpPr>
        <a:xfrm>
          <a:off x="0" y="0"/>
          <a:ext cx="0" cy="0"/>
          <a:chOff x="0" y="0"/>
          <a:chExt cx="0" cy="0"/>
        </a:xfrm>
      </p:grpSpPr>
      <p:sp>
        <p:nvSpPr>
          <p:cNvPr id="2" name="Text 0"/>
          <p:cNvSpPr txBox="1"/>
          <p:nvPr/>
        </p:nvSpPr>
        <p:spPr>
          <a:xfrm>
            <a:off x="11109960" y="6309360"/>
            <a:ext cx="548640" cy="274320"/>
          </a:xfrm>
          <a:prstGeom prst="rect">
            <a:avLst/>
          </a:prstGeom>
          <a:noFill/>
          <a:ln/>
        </p:spPr>
        <p:txBody>
          <a:bodyPr wrap="square" rtlCol="0" anchor="ctr"/>
          <a:lstStyle/>
          <a:p>
            <a:pPr algn="r" indent="0" marL="0">
              <a:buNone/>
            </a:pPr>
            <a:r>
              <a:rPr lang="en-US" sz="900" b="1" spc="150" kern="0" dirty="0">
                <a:solidFill>
                  <a:srgbClr val="A79C8C"/>
                </a:solidFill>
                <a:latin typeface="Calibri" pitchFamily="34" charset="0"/>
                <a:ea typeface="Calibri" pitchFamily="34" charset="-122"/>
                <a:cs typeface="Calibri" pitchFamily="34" charset="-120"/>
              </a:rPr>
              <a:t>15</a:t>
            </a:r>
            <a:endParaRPr lang="en-US" sz="900" dirty="0"/>
          </a:p>
        </p:txBody>
      </p:sp>
      <p:sp>
        <p:nvSpPr>
          <p:cNvPr id="3" name="Text 1"/>
          <p:cNvSpPr txBox="1"/>
          <p:nvPr/>
        </p:nvSpPr>
        <p:spPr>
          <a:xfrm>
            <a:off x="777240" y="548640"/>
            <a:ext cx="8686800" cy="256032"/>
          </a:xfrm>
          <a:prstGeom prst="rect">
            <a:avLst/>
          </a:prstGeom>
          <a:noFill/>
          <a:ln/>
        </p:spPr>
        <p:txBody>
          <a:bodyPr wrap="square" lIns="0" tIns="0" rIns="0" bIns="0" rtlCol="0" anchor="ctr"/>
          <a:lstStyle/>
          <a:p>
            <a:pPr indent="0" marL="0">
              <a:buNone/>
            </a:pPr>
            <a:r>
              <a:rPr lang="en-US" sz="950" b="1" spc="260" kern="0" dirty="0">
                <a:solidFill>
                  <a:srgbClr val="8A6A3A"/>
                </a:solidFill>
                <a:latin typeface="Calibri" pitchFamily="34" charset="0"/>
                <a:ea typeface="Calibri" pitchFamily="34" charset="-122"/>
                <a:cs typeface="Calibri" pitchFamily="34" charset="-120"/>
              </a:rPr>
              <a:t>OPEC · UAE NIGHT, VIENNA</a:t>
            </a:r>
            <a:endParaRPr lang="en-US" sz="950" dirty="0"/>
          </a:p>
        </p:txBody>
      </p:sp>
      <p:sp>
        <p:nvSpPr>
          <p:cNvPr id="4" name="Text 2"/>
          <p:cNvSpPr txBox="1"/>
          <p:nvPr/>
        </p:nvSpPr>
        <p:spPr>
          <a:xfrm>
            <a:off x="777240" y="960120"/>
            <a:ext cx="9692640" cy="868680"/>
          </a:xfrm>
          <a:prstGeom prst="rect">
            <a:avLst/>
          </a:prstGeom>
          <a:noFill/>
          <a:ln/>
        </p:spPr>
        <p:txBody>
          <a:bodyPr wrap="square" lIns="0" tIns="0" rIns="0" bIns="0" rtlCol="0" anchor="t"/>
          <a:lstStyle/>
          <a:p>
            <a:pPr indent="0" marL="0">
              <a:lnSpc>
                <a:spcPts val="3200"/>
              </a:lnSpc>
              <a:buNone/>
            </a:pPr>
            <a:r>
              <a:rPr lang="en-US" sz="2600" dirty="0">
                <a:solidFill>
                  <a:srgbClr val="2A2118"/>
                </a:solidFill>
                <a:latin typeface="Cambria" pitchFamily="34" charset="0"/>
                <a:ea typeface="Cambria" pitchFamily="34" charset="-122"/>
                <a:cs typeface="Cambria" pitchFamily="34" charset="-120"/>
              </a:rPr>
              <a:t>Nine photographs and a film exist. None have been in a deck.</a:t>
            </a:r>
            <a:endParaRPr lang="en-US" sz="2600" dirty="0"/>
          </a:p>
        </p:txBody>
      </p:sp>
      <p:sp>
        <p:nvSpPr>
          <p:cNvPr id="5" name="Shape 3"/>
          <p:cNvSpPr/>
          <p:nvPr/>
        </p:nvSpPr>
        <p:spPr>
          <a:xfrm>
            <a:off x="777240" y="2148840"/>
            <a:ext cx="5780837" cy="3794760"/>
          </a:xfrm>
          <a:prstGeom prst="rect">
            <a:avLst/>
          </a:prstGeom>
          <a:solidFill>
            <a:srgbClr val="F2EDE4"/>
          </a:solidFill>
          <a:ln w="12700">
            <a:solidFill>
              <a:srgbClr val="D9D1C2"/>
            </a:solidFill>
            <a:prstDash val="dash"/>
          </a:ln>
        </p:spPr>
      </p:sp>
      <p:sp>
        <p:nvSpPr>
          <p:cNvPr id="6" name="Text 4"/>
          <p:cNvSpPr txBox="1"/>
          <p:nvPr/>
        </p:nvSpPr>
        <p:spPr>
          <a:xfrm>
            <a:off x="886968" y="3680460"/>
            <a:ext cx="5561381" cy="731520"/>
          </a:xfrm>
          <a:prstGeom prst="rect">
            <a:avLst/>
          </a:prstGeom>
          <a:noFill/>
          <a:ln/>
        </p:spPr>
        <p:txBody>
          <a:bodyPr wrap="square" rtlCol="0" anchor="ctr"/>
          <a:lstStyle/>
          <a:p>
            <a:pPr algn="ctr" indent="0" marL="0">
              <a:buNone/>
            </a:pPr>
            <a:r>
              <a:rPr lang="en-US" sz="950" b="1" spc="130" kern="0" dirty="0">
                <a:solidFill>
                  <a:srgbClr val="A79C8C"/>
                </a:solidFill>
                <a:latin typeface="Calibri" pitchFamily="34" charset="0"/>
                <a:ea typeface="Calibri" pitchFamily="34" charset="-122"/>
                <a:cs typeface="Calibri" pitchFamily="34" charset="-120"/>
              </a:rPr>
              <a:t>Arrival or venue</a:t>
            </a:r>
            <a:endParaRPr lang="en-US" sz="950" dirty="0"/>
          </a:p>
        </p:txBody>
      </p:sp>
      <p:sp>
        <p:nvSpPr>
          <p:cNvPr id="7" name="Shape 5"/>
          <p:cNvSpPr/>
          <p:nvPr/>
        </p:nvSpPr>
        <p:spPr>
          <a:xfrm>
            <a:off x="6722669" y="2148840"/>
            <a:ext cx="4661611" cy="1815084"/>
          </a:xfrm>
          <a:prstGeom prst="rect">
            <a:avLst/>
          </a:prstGeom>
          <a:solidFill>
            <a:srgbClr val="F2EDE4"/>
          </a:solidFill>
          <a:ln w="12700">
            <a:solidFill>
              <a:srgbClr val="D9D1C2"/>
            </a:solidFill>
            <a:prstDash val="dash"/>
          </a:ln>
        </p:spPr>
      </p:sp>
      <p:sp>
        <p:nvSpPr>
          <p:cNvPr id="8" name="Text 6"/>
          <p:cNvSpPr txBox="1"/>
          <p:nvPr/>
        </p:nvSpPr>
        <p:spPr>
          <a:xfrm>
            <a:off x="6832397" y="2690622"/>
            <a:ext cx="4442155" cy="731520"/>
          </a:xfrm>
          <a:prstGeom prst="rect">
            <a:avLst/>
          </a:prstGeom>
          <a:noFill/>
          <a:ln/>
        </p:spPr>
        <p:txBody>
          <a:bodyPr wrap="square" rtlCol="0" anchor="ctr"/>
          <a:lstStyle/>
          <a:p>
            <a:pPr algn="ctr" indent="0" marL="0">
              <a:buNone/>
            </a:pPr>
            <a:r>
              <a:rPr lang="en-US" sz="950" b="1" spc="130" kern="0" dirty="0">
                <a:solidFill>
                  <a:srgbClr val="A79C8C"/>
                </a:solidFill>
                <a:latin typeface="Calibri" pitchFamily="34" charset="0"/>
                <a:ea typeface="Calibri" pitchFamily="34" charset="-122"/>
                <a:cs typeface="Calibri" pitchFamily="34" charset="-120"/>
              </a:rPr>
              <a:t>The room, mid-event</a:t>
            </a:r>
            <a:endParaRPr lang="en-US" sz="950" dirty="0"/>
          </a:p>
        </p:txBody>
      </p:sp>
      <p:sp>
        <p:nvSpPr>
          <p:cNvPr id="9" name="Shape 7"/>
          <p:cNvSpPr/>
          <p:nvPr/>
        </p:nvSpPr>
        <p:spPr>
          <a:xfrm>
            <a:off x="6722669" y="4128516"/>
            <a:ext cx="4661611" cy="1815084"/>
          </a:xfrm>
          <a:prstGeom prst="rect">
            <a:avLst/>
          </a:prstGeom>
          <a:solidFill>
            <a:srgbClr val="F2EDE4"/>
          </a:solidFill>
          <a:ln w="12700">
            <a:solidFill>
              <a:srgbClr val="D9D1C2"/>
            </a:solidFill>
            <a:prstDash val="dash"/>
          </a:ln>
        </p:spPr>
      </p:sp>
      <p:sp>
        <p:nvSpPr>
          <p:cNvPr id="10" name="Text 8"/>
          <p:cNvSpPr txBox="1"/>
          <p:nvPr/>
        </p:nvSpPr>
        <p:spPr>
          <a:xfrm>
            <a:off x="6832397" y="4670298"/>
            <a:ext cx="4442155" cy="731520"/>
          </a:xfrm>
          <a:prstGeom prst="rect">
            <a:avLst/>
          </a:prstGeom>
          <a:noFill/>
          <a:ln/>
        </p:spPr>
        <p:txBody>
          <a:bodyPr wrap="square" rtlCol="0" anchor="ctr"/>
          <a:lstStyle/>
          <a:p>
            <a:pPr algn="ctr" indent="0" marL="0">
              <a:buNone/>
            </a:pPr>
            <a:r>
              <a:rPr lang="en-US" sz="950" b="1" spc="130" kern="0" dirty="0">
                <a:solidFill>
                  <a:srgbClr val="A79C8C"/>
                </a:solidFill>
                <a:latin typeface="Calibri" pitchFamily="34" charset="0"/>
                <a:ea typeface="Calibri" pitchFamily="34" charset="-122"/>
                <a:cs typeface="Calibri" pitchFamily="34" charset="-120"/>
              </a:rPr>
              <a:t>Ministerial moment</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21B14"/>
        </a:solidFill>
      </p:bgPr>
    </p:bg>
    <p:spTree>
      <p:nvGrpSpPr>
        <p:cNvPr id="1" name=""/>
        <p:cNvGrpSpPr/>
        <p:nvPr/>
      </p:nvGrpSpPr>
      <p:grpSpPr>
        <a:xfrm>
          <a:off x="0" y="0"/>
          <a:ext cx="0" cy="0"/>
          <a:chOff x="0" y="0"/>
          <a:chExt cx="0" cy="0"/>
        </a:xfrm>
      </p:grpSpPr>
      <p:sp>
        <p:nvSpPr>
          <p:cNvPr id="2" name="Text 0"/>
          <p:cNvSpPr txBox="1"/>
          <p:nvPr/>
        </p:nvSpPr>
        <p:spPr>
          <a:xfrm>
            <a:off x="11109960" y="6309360"/>
            <a:ext cx="548640" cy="274320"/>
          </a:xfrm>
          <a:prstGeom prst="rect">
            <a:avLst/>
          </a:prstGeom>
          <a:noFill/>
          <a:ln/>
        </p:spPr>
        <p:txBody>
          <a:bodyPr wrap="square" rtlCol="0" anchor="ctr"/>
          <a:lstStyle/>
          <a:p>
            <a:pPr algn="r" indent="0" marL="0">
              <a:buNone/>
            </a:pPr>
            <a:r>
              <a:rPr lang="en-US" sz="900" b="1" spc="150" kern="0" dirty="0">
                <a:solidFill>
                  <a:srgbClr val="A4988A"/>
                </a:solidFill>
                <a:latin typeface="Calibri" pitchFamily="34" charset="0"/>
                <a:ea typeface="Calibri" pitchFamily="34" charset="-122"/>
                <a:cs typeface="Calibri" pitchFamily="34" charset="-120"/>
              </a:rPr>
              <a:t>16</a:t>
            </a:r>
            <a:endParaRPr lang="en-US" sz="900" dirty="0"/>
          </a:p>
        </p:txBody>
      </p:sp>
      <p:sp>
        <p:nvSpPr>
          <p:cNvPr id="3" name="Text 1"/>
          <p:cNvSpPr txBox="1"/>
          <p:nvPr/>
        </p:nvSpPr>
        <p:spPr>
          <a:xfrm>
            <a:off x="777240" y="2103120"/>
            <a:ext cx="5577840" cy="822960"/>
          </a:xfrm>
          <a:prstGeom prst="rect">
            <a:avLst/>
          </a:prstGeom>
          <a:noFill/>
          <a:ln/>
        </p:spPr>
        <p:txBody>
          <a:bodyPr wrap="square" lIns="0" tIns="0" rIns="0" bIns="0" rtlCol="0" anchor="ctr"/>
          <a:lstStyle/>
          <a:p>
            <a:pPr indent="0" marL="0">
              <a:lnSpc>
                <a:spcPts val="2200"/>
              </a:lnSpc>
              <a:buNone/>
            </a:pPr>
            <a:r>
              <a:rPr lang="en-US" sz="1500" dirty="0">
                <a:solidFill>
                  <a:srgbClr val="A4988A"/>
                </a:solidFill>
                <a:latin typeface="Calibri" pitchFamily="34" charset="0"/>
                <a:ea typeface="Calibri" pitchFamily="34" charset="-122"/>
                <a:cs typeface="Calibri" pitchFamily="34" charset="-120"/>
              </a:rPr>
              <a:t>A fixed date. A foreign city. A country being represented.</a:t>
            </a:r>
            <a:endParaRPr lang="en-US" sz="1500" dirty="0"/>
          </a:p>
        </p:txBody>
      </p:sp>
      <p:sp>
        <p:nvSpPr>
          <p:cNvPr id="4" name="Shape 2"/>
          <p:cNvSpPr/>
          <p:nvPr/>
        </p:nvSpPr>
        <p:spPr>
          <a:xfrm>
            <a:off x="777240" y="3108960"/>
            <a:ext cx="621792" cy="27432"/>
          </a:xfrm>
          <a:prstGeom prst="rect">
            <a:avLst/>
          </a:prstGeom>
          <a:solidFill>
            <a:srgbClr val="C29A5C"/>
          </a:solidFill>
          <a:ln/>
        </p:spPr>
      </p:sp>
      <p:sp>
        <p:nvSpPr>
          <p:cNvPr id="5" name="Text 3"/>
          <p:cNvSpPr txBox="1"/>
          <p:nvPr/>
        </p:nvSpPr>
        <p:spPr>
          <a:xfrm>
            <a:off x="777240" y="3429000"/>
            <a:ext cx="5394960" cy="2011680"/>
          </a:xfrm>
          <a:prstGeom prst="rect">
            <a:avLst/>
          </a:prstGeom>
          <a:noFill/>
          <a:ln/>
        </p:spPr>
        <p:txBody>
          <a:bodyPr wrap="square" lIns="0" tIns="0" rIns="0" bIns="0" rtlCol="0" anchor="ctr"/>
          <a:lstStyle/>
          <a:p>
            <a:pPr indent="0" marL="0">
              <a:lnSpc>
                <a:spcPts val="4400"/>
              </a:lnSpc>
              <a:buNone/>
            </a:pPr>
            <a:r>
              <a:rPr lang="en-US" sz="3600" dirty="0">
                <a:solidFill>
                  <a:srgbClr val="EFE8DA"/>
                </a:solidFill>
                <a:latin typeface="Cambria" pitchFamily="34" charset="0"/>
                <a:ea typeface="Cambria" pitchFamily="34" charset="-122"/>
                <a:cs typeface="Cambria" pitchFamily="34" charset="-120"/>
              </a:rPr>
              <a:t>Nothing about that brief allowed a second attempt.</a:t>
            </a:r>
            <a:endParaRPr lang="en-US" sz="3600" dirty="0"/>
          </a:p>
        </p:txBody>
      </p:sp>
      <p:sp>
        <p:nvSpPr>
          <p:cNvPr id="6" name="Shape 4"/>
          <p:cNvSpPr/>
          <p:nvPr/>
        </p:nvSpPr>
        <p:spPr>
          <a:xfrm>
            <a:off x="6766560" y="1371600"/>
            <a:ext cx="4617720" cy="4114800"/>
          </a:xfrm>
          <a:prstGeom prst="rect">
            <a:avLst/>
          </a:prstGeom>
          <a:solidFill>
            <a:srgbClr val="221B14"/>
          </a:solidFill>
          <a:ln w="12700">
            <a:solidFill>
              <a:srgbClr val="3A3026"/>
            </a:solidFill>
            <a:prstDash val="dash"/>
          </a:ln>
        </p:spPr>
      </p:sp>
      <p:sp>
        <p:nvSpPr>
          <p:cNvPr id="7" name="Text 5"/>
          <p:cNvSpPr txBox="1"/>
          <p:nvPr/>
        </p:nvSpPr>
        <p:spPr>
          <a:xfrm>
            <a:off x="6876288" y="3063240"/>
            <a:ext cx="4398264" cy="731520"/>
          </a:xfrm>
          <a:prstGeom prst="rect">
            <a:avLst/>
          </a:prstGeom>
          <a:noFill/>
          <a:ln/>
        </p:spPr>
        <p:txBody>
          <a:bodyPr wrap="square" rtlCol="0" anchor="ctr"/>
          <a:lstStyle/>
          <a:p>
            <a:pPr algn="ctr" indent="0" marL="0">
              <a:buNone/>
            </a:pPr>
            <a:r>
              <a:rPr lang="en-US" sz="950" b="1" spc="130" kern="0" dirty="0">
                <a:solidFill>
                  <a:srgbClr val="A4988A"/>
                </a:solidFill>
                <a:latin typeface="Calibri" pitchFamily="34" charset="0"/>
                <a:ea typeface="Calibri" pitchFamily="34" charset="-122"/>
                <a:cs typeface="Calibri" pitchFamily="34" charset="-120"/>
              </a:rPr>
              <a:t>The Vienna film, or its strongest frame</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EDE4"/>
        </a:solidFill>
      </p:bgPr>
    </p:bg>
    <p:spTree>
      <p:nvGrpSpPr>
        <p:cNvPr id="1" name=""/>
        <p:cNvGrpSpPr/>
        <p:nvPr/>
      </p:nvGrpSpPr>
      <p:grpSpPr>
        <a:xfrm>
          <a:off x="0" y="0"/>
          <a:ext cx="0" cy="0"/>
          <a:chOff x="0" y="0"/>
          <a:chExt cx="0" cy="0"/>
        </a:xfrm>
      </p:grpSpPr>
      <p:sp>
        <p:nvSpPr>
          <p:cNvPr id="2" name="Text 0"/>
          <p:cNvSpPr txBox="1"/>
          <p:nvPr/>
        </p:nvSpPr>
        <p:spPr>
          <a:xfrm>
            <a:off x="11109960" y="6309360"/>
            <a:ext cx="548640" cy="274320"/>
          </a:xfrm>
          <a:prstGeom prst="rect">
            <a:avLst/>
          </a:prstGeom>
          <a:noFill/>
          <a:ln/>
        </p:spPr>
        <p:txBody>
          <a:bodyPr wrap="square" rtlCol="0" anchor="ctr"/>
          <a:lstStyle/>
          <a:p>
            <a:pPr algn="r" indent="0" marL="0">
              <a:buNone/>
            </a:pPr>
            <a:r>
              <a:rPr lang="en-US" sz="900" b="1" spc="150" kern="0" dirty="0">
                <a:solidFill>
                  <a:srgbClr val="A79C8C"/>
                </a:solidFill>
                <a:latin typeface="Calibri" pitchFamily="34" charset="0"/>
                <a:ea typeface="Calibri" pitchFamily="34" charset="-122"/>
                <a:cs typeface="Calibri" pitchFamily="34" charset="-120"/>
              </a:rPr>
              <a:t>17</a:t>
            </a:r>
            <a:endParaRPr lang="en-US" sz="900" dirty="0"/>
          </a:p>
        </p:txBody>
      </p:sp>
      <p:sp>
        <p:nvSpPr>
          <p:cNvPr id="3" name="Text 1"/>
          <p:cNvSpPr txBox="1"/>
          <p:nvPr/>
        </p:nvSpPr>
        <p:spPr>
          <a:xfrm>
            <a:off x="777240" y="548640"/>
            <a:ext cx="8686800" cy="256032"/>
          </a:xfrm>
          <a:prstGeom prst="rect">
            <a:avLst/>
          </a:prstGeom>
          <a:noFill/>
          <a:ln/>
        </p:spPr>
        <p:txBody>
          <a:bodyPr wrap="square" lIns="0" tIns="0" rIns="0" bIns="0" rtlCol="0" anchor="ctr"/>
          <a:lstStyle/>
          <a:p>
            <a:pPr indent="0" marL="0">
              <a:buNone/>
            </a:pPr>
            <a:r>
              <a:rPr lang="en-US" sz="950" b="1" spc="260" kern="0" dirty="0">
                <a:solidFill>
                  <a:srgbClr val="8A6A3A"/>
                </a:solidFill>
                <a:latin typeface="Calibri" pitchFamily="34" charset="0"/>
                <a:ea typeface="Calibri" pitchFamily="34" charset="-122"/>
                <a:cs typeface="Calibri" pitchFamily="34" charset="-120"/>
              </a:rPr>
              <a:t>SELECTED PROJECTS</a:t>
            </a:r>
            <a:endParaRPr lang="en-US" sz="950" dirty="0"/>
          </a:p>
        </p:txBody>
      </p:sp>
      <p:sp>
        <p:nvSpPr>
          <p:cNvPr id="4" name="Text 2"/>
          <p:cNvSpPr txBox="1"/>
          <p:nvPr/>
        </p:nvSpPr>
        <p:spPr>
          <a:xfrm>
            <a:off x="777240" y="960120"/>
            <a:ext cx="9144000" cy="914400"/>
          </a:xfrm>
          <a:prstGeom prst="rect">
            <a:avLst/>
          </a:prstGeom>
          <a:noFill/>
          <a:ln/>
        </p:spPr>
        <p:txBody>
          <a:bodyPr wrap="square" lIns="0" tIns="0" rIns="0" bIns="0" rtlCol="0" anchor="t"/>
          <a:lstStyle/>
          <a:p>
            <a:pPr indent="0" marL="0">
              <a:lnSpc>
                <a:spcPts val="3500"/>
              </a:lnSpc>
              <a:buNone/>
            </a:pPr>
            <a:r>
              <a:rPr lang="en-US" sz="2900" dirty="0">
                <a:solidFill>
                  <a:srgbClr val="2A2118"/>
                </a:solidFill>
                <a:latin typeface="Cambria" pitchFamily="34" charset="0"/>
                <a:ea typeface="Cambria" pitchFamily="34" charset="-122"/>
                <a:cs typeface="Cambria" pitchFamily="34" charset="-120"/>
              </a:rPr>
              <a:t>Further work across government, industry and retail.</a:t>
            </a:r>
            <a:endParaRPr lang="en-US" sz="2900" dirty="0"/>
          </a:p>
        </p:txBody>
      </p:sp>
      <p:sp>
        <p:nvSpPr>
          <p:cNvPr id="5" name="Shape 3"/>
          <p:cNvSpPr/>
          <p:nvPr/>
        </p:nvSpPr>
        <p:spPr>
          <a:xfrm>
            <a:off x="777240" y="2377440"/>
            <a:ext cx="2057400" cy="1417320"/>
          </a:xfrm>
          <a:prstGeom prst="rect">
            <a:avLst/>
          </a:prstGeom>
          <a:solidFill>
            <a:srgbClr val="E7E0D3"/>
          </a:solidFill>
          <a:ln/>
        </p:spPr>
      </p:sp>
      <p:sp>
        <p:nvSpPr>
          <p:cNvPr id="6" name="Text 4"/>
          <p:cNvSpPr txBox="1"/>
          <p:nvPr/>
        </p:nvSpPr>
        <p:spPr>
          <a:xfrm>
            <a:off x="923544" y="2560320"/>
            <a:ext cx="1783080" cy="594360"/>
          </a:xfrm>
          <a:prstGeom prst="rect">
            <a:avLst/>
          </a:prstGeom>
          <a:noFill/>
          <a:ln/>
        </p:spPr>
        <p:txBody>
          <a:bodyPr wrap="square" rtlCol="0" anchor="t"/>
          <a:lstStyle/>
          <a:p>
            <a:pPr indent="0" marL="0">
              <a:lnSpc>
                <a:spcPts val="1700"/>
              </a:lnSpc>
              <a:buNone/>
            </a:pPr>
            <a:r>
              <a:rPr lang="en-US" sz="1400" b="1" dirty="0">
                <a:solidFill>
                  <a:srgbClr val="2A2118"/>
                </a:solidFill>
                <a:latin typeface="Cambria" pitchFamily="34" charset="0"/>
                <a:ea typeface="Cambria" pitchFamily="34" charset="-122"/>
                <a:cs typeface="Cambria" pitchFamily="34" charset="-120"/>
              </a:rPr>
              <a:t>Arab SMIS Summit</a:t>
            </a:r>
            <a:endParaRPr lang="en-US" sz="1400" dirty="0"/>
          </a:p>
        </p:txBody>
      </p:sp>
      <p:sp>
        <p:nvSpPr>
          <p:cNvPr id="7" name="Text 5"/>
          <p:cNvSpPr txBox="1"/>
          <p:nvPr/>
        </p:nvSpPr>
        <p:spPr>
          <a:xfrm>
            <a:off x="923544" y="3246120"/>
            <a:ext cx="1783080" cy="365760"/>
          </a:xfrm>
          <a:prstGeom prst="rect">
            <a:avLst/>
          </a:prstGeom>
          <a:noFill/>
          <a:ln/>
        </p:spPr>
        <p:txBody>
          <a:bodyPr wrap="square" rtlCol="0" anchor="t"/>
          <a:lstStyle/>
          <a:p>
            <a:pPr indent="0" marL="0">
              <a:buNone/>
            </a:pPr>
            <a:r>
              <a:rPr lang="en-US" sz="950" dirty="0">
                <a:solidFill>
                  <a:srgbClr val="6E6355"/>
                </a:solidFill>
                <a:latin typeface="Calibri" pitchFamily="34" charset="0"/>
                <a:ea typeface="Calibri" pitchFamily="34" charset="-122"/>
                <a:cs typeface="Calibri" pitchFamily="34" charset="-120"/>
              </a:rPr>
              <a:t>Institutional event</a:t>
            </a:r>
            <a:endParaRPr lang="en-US" sz="950" dirty="0"/>
          </a:p>
        </p:txBody>
      </p:sp>
      <p:sp>
        <p:nvSpPr>
          <p:cNvPr id="8" name="Shape 6"/>
          <p:cNvSpPr/>
          <p:nvPr/>
        </p:nvSpPr>
        <p:spPr>
          <a:xfrm>
            <a:off x="2971800" y="2377440"/>
            <a:ext cx="2057400" cy="1417320"/>
          </a:xfrm>
          <a:prstGeom prst="rect">
            <a:avLst/>
          </a:prstGeom>
          <a:solidFill>
            <a:srgbClr val="E7E0D3"/>
          </a:solidFill>
          <a:ln/>
        </p:spPr>
      </p:sp>
      <p:sp>
        <p:nvSpPr>
          <p:cNvPr id="9" name="Text 7"/>
          <p:cNvSpPr txBox="1"/>
          <p:nvPr/>
        </p:nvSpPr>
        <p:spPr>
          <a:xfrm>
            <a:off x="3118104" y="2560320"/>
            <a:ext cx="1783080" cy="594360"/>
          </a:xfrm>
          <a:prstGeom prst="rect">
            <a:avLst/>
          </a:prstGeom>
          <a:noFill/>
          <a:ln/>
        </p:spPr>
        <p:txBody>
          <a:bodyPr wrap="square" rtlCol="0" anchor="t"/>
          <a:lstStyle/>
          <a:p>
            <a:pPr indent="0" marL="0">
              <a:lnSpc>
                <a:spcPts val="1700"/>
              </a:lnSpc>
              <a:buNone/>
            </a:pPr>
            <a:r>
              <a:rPr lang="en-US" sz="1400" b="1" dirty="0">
                <a:solidFill>
                  <a:srgbClr val="2A2118"/>
                </a:solidFill>
                <a:latin typeface="Cambria" pitchFamily="34" charset="0"/>
                <a:ea typeface="Cambria" pitchFamily="34" charset="-122"/>
                <a:cs typeface="Cambria" pitchFamily="34" charset="-120"/>
              </a:rPr>
              <a:t>DEWA</a:t>
            </a:r>
            <a:endParaRPr lang="en-US" sz="1400" dirty="0"/>
          </a:p>
        </p:txBody>
      </p:sp>
      <p:sp>
        <p:nvSpPr>
          <p:cNvPr id="10" name="Text 8"/>
          <p:cNvSpPr txBox="1"/>
          <p:nvPr/>
        </p:nvSpPr>
        <p:spPr>
          <a:xfrm>
            <a:off x="3118104" y="3246120"/>
            <a:ext cx="1783080" cy="365760"/>
          </a:xfrm>
          <a:prstGeom prst="rect">
            <a:avLst/>
          </a:prstGeom>
          <a:noFill/>
          <a:ln/>
        </p:spPr>
        <p:txBody>
          <a:bodyPr wrap="square" rtlCol="0" anchor="t"/>
          <a:lstStyle/>
          <a:p>
            <a:pPr indent="0" marL="0">
              <a:buNone/>
            </a:pPr>
            <a:r>
              <a:rPr lang="en-US" sz="950" dirty="0">
                <a:solidFill>
                  <a:srgbClr val="6E6355"/>
                </a:solidFill>
                <a:latin typeface="Calibri" pitchFamily="34" charset="0"/>
                <a:ea typeface="Calibri" pitchFamily="34" charset="-122"/>
                <a:cs typeface="Calibri" pitchFamily="34" charset="-120"/>
              </a:rPr>
              <a:t>Government</a:t>
            </a:r>
            <a:endParaRPr lang="en-US" sz="950" dirty="0"/>
          </a:p>
        </p:txBody>
      </p:sp>
      <p:sp>
        <p:nvSpPr>
          <p:cNvPr id="11" name="Shape 9"/>
          <p:cNvSpPr/>
          <p:nvPr/>
        </p:nvSpPr>
        <p:spPr>
          <a:xfrm>
            <a:off x="5166360" y="2377440"/>
            <a:ext cx="2057400" cy="1417320"/>
          </a:xfrm>
          <a:prstGeom prst="rect">
            <a:avLst/>
          </a:prstGeom>
          <a:solidFill>
            <a:srgbClr val="E7E0D3"/>
          </a:solidFill>
          <a:ln/>
        </p:spPr>
      </p:sp>
      <p:sp>
        <p:nvSpPr>
          <p:cNvPr id="12" name="Text 10"/>
          <p:cNvSpPr txBox="1"/>
          <p:nvPr/>
        </p:nvSpPr>
        <p:spPr>
          <a:xfrm>
            <a:off x="5312664" y="2560320"/>
            <a:ext cx="1783080" cy="594360"/>
          </a:xfrm>
          <a:prstGeom prst="rect">
            <a:avLst/>
          </a:prstGeom>
          <a:noFill/>
          <a:ln/>
        </p:spPr>
        <p:txBody>
          <a:bodyPr wrap="square" rtlCol="0" anchor="t"/>
          <a:lstStyle/>
          <a:p>
            <a:pPr indent="0" marL="0">
              <a:lnSpc>
                <a:spcPts val="1700"/>
              </a:lnSpc>
              <a:buNone/>
            </a:pPr>
            <a:r>
              <a:rPr lang="en-US" sz="1400" b="1" dirty="0">
                <a:solidFill>
                  <a:srgbClr val="2A2118"/>
                </a:solidFill>
                <a:latin typeface="Cambria" pitchFamily="34" charset="0"/>
                <a:ea typeface="Cambria" pitchFamily="34" charset="-122"/>
                <a:cs typeface="Cambria" pitchFamily="34" charset="-120"/>
              </a:rPr>
              <a:t>FCA</a:t>
            </a:r>
            <a:endParaRPr lang="en-US" sz="1400" dirty="0"/>
          </a:p>
        </p:txBody>
      </p:sp>
      <p:sp>
        <p:nvSpPr>
          <p:cNvPr id="13" name="Text 11"/>
          <p:cNvSpPr txBox="1"/>
          <p:nvPr/>
        </p:nvSpPr>
        <p:spPr>
          <a:xfrm>
            <a:off x="5312664" y="3246120"/>
            <a:ext cx="1783080" cy="365760"/>
          </a:xfrm>
          <a:prstGeom prst="rect">
            <a:avLst/>
          </a:prstGeom>
          <a:noFill/>
          <a:ln/>
        </p:spPr>
        <p:txBody>
          <a:bodyPr wrap="square" rtlCol="0" anchor="t"/>
          <a:lstStyle/>
          <a:p>
            <a:pPr indent="0" marL="0">
              <a:buNone/>
            </a:pPr>
            <a:r>
              <a:rPr lang="en-US" sz="950" dirty="0">
                <a:solidFill>
                  <a:srgbClr val="6E6355"/>
                </a:solidFill>
                <a:latin typeface="Calibri" pitchFamily="34" charset="0"/>
                <a:ea typeface="Calibri" pitchFamily="34" charset="-122"/>
                <a:cs typeface="Calibri" pitchFamily="34" charset="-120"/>
              </a:rPr>
              <a:t>Smart transformation</a:t>
            </a:r>
            <a:endParaRPr lang="en-US" sz="950" dirty="0"/>
          </a:p>
        </p:txBody>
      </p:sp>
      <p:sp>
        <p:nvSpPr>
          <p:cNvPr id="14" name="Shape 12"/>
          <p:cNvSpPr/>
          <p:nvPr/>
        </p:nvSpPr>
        <p:spPr>
          <a:xfrm>
            <a:off x="7360920" y="2377440"/>
            <a:ext cx="2057400" cy="1417320"/>
          </a:xfrm>
          <a:prstGeom prst="rect">
            <a:avLst/>
          </a:prstGeom>
          <a:solidFill>
            <a:srgbClr val="E7E0D3"/>
          </a:solidFill>
          <a:ln/>
        </p:spPr>
      </p:sp>
      <p:sp>
        <p:nvSpPr>
          <p:cNvPr id="15" name="Text 13"/>
          <p:cNvSpPr txBox="1"/>
          <p:nvPr/>
        </p:nvSpPr>
        <p:spPr>
          <a:xfrm>
            <a:off x="7507224" y="2560320"/>
            <a:ext cx="1783080" cy="594360"/>
          </a:xfrm>
          <a:prstGeom prst="rect">
            <a:avLst/>
          </a:prstGeom>
          <a:noFill/>
          <a:ln/>
        </p:spPr>
        <p:txBody>
          <a:bodyPr wrap="square" rtlCol="0" anchor="t"/>
          <a:lstStyle/>
          <a:p>
            <a:pPr indent="0" marL="0">
              <a:lnSpc>
                <a:spcPts val="1700"/>
              </a:lnSpc>
              <a:buNone/>
            </a:pPr>
            <a:r>
              <a:rPr lang="en-US" sz="1400" b="1" dirty="0">
                <a:solidFill>
                  <a:srgbClr val="2A2118"/>
                </a:solidFill>
                <a:latin typeface="Cambria" pitchFamily="34" charset="0"/>
                <a:ea typeface="Cambria" pitchFamily="34" charset="-122"/>
                <a:cs typeface="Cambria" pitchFamily="34" charset="-120"/>
              </a:rPr>
              <a:t>Ministry of Economy</a:t>
            </a:r>
            <a:endParaRPr lang="en-US" sz="1400" dirty="0"/>
          </a:p>
        </p:txBody>
      </p:sp>
      <p:sp>
        <p:nvSpPr>
          <p:cNvPr id="16" name="Text 14"/>
          <p:cNvSpPr txBox="1"/>
          <p:nvPr/>
        </p:nvSpPr>
        <p:spPr>
          <a:xfrm>
            <a:off x="7507224" y="3246120"/>
            <a:ext cx="1783080" cy="365760"/>
          </a:xfrm>
          <a:prstGeom prst="rect">
            <a:avLst/>
          </a:prstGeom>
          <a:noFill/>
          <a:ln/>
        </p:spPr>
        <p:txBody>
          <a:bodyPr wrap="square" rtlCol="0" anchor="t"/>
          <a:lstStyle/>
          <a:p>
            <a:pPr indent="0" marL="0">
              <a:buNone/>
            </a:pPr>
            <a:r>
              <a:rPr lang="en-US" sz="950" dirty="0">
                <a:solidFill>
                  <a:srgbClr val="6E6355"/>
                </a:solidFill>
                <a:latin typeface="Calibri" pitchFamily="34" charset="0"/>
                <a:ea typeface="Calibri" pitchFamily="34" charset="-122"/>
                <a:cs typeface="Calibri" pitchFamily="34" charset="-120"/>
              </a:rPr>
              <a:t>Government</a:t>
            </a:r>
            <a:endParaRPr lang="en-US" sz="950" dirty="0"/>
          </a:p>
        </p:txBody>
      </p:sp>
      <p:sp>
        <p:nvSpPr>
          <p:cNvPr id="17" name="Shape 15"/>
          <p:cNvSpPr/>
          <p:nvPr/>
        </p:nvSpPr>
        <p:spPr>
          <a:xfrm>
            <a:off x="9555480" y="2377440"/>
            <a:ext cx="2057400" cy="1417320"/>
          </a:xfrm>
          <a:prstGeom prst="rect">
            <a:avLst/>
          </a:prstGeom>
          <a:solidFill>
            <a:srgbClr val="E7E0D3"/>
          </a:solidFill>
          <a:ln/>
        </p:spPr>
      </p:sp>
      <p:sp>
        <p:nvSpPr>
          <p:cNvPr id="18" name="Text 16"/>
          <p:cNvSpPr txBox="1"/>
          <p:nvPr/>
        </p:nvSpPr>
        <p:spPr>
          <a:xfrm>
            <a:off x="9701784" y="2560320"/>
            <a:ext cx="1783080" cy="594360"/>
          </a:xfrm>
          <a:prstGeom prst="rect">
            <a:avLst/>
          </a:prstGeom>
          <a:noFill/>
          <a:ln/>
        </p:spPr>
        <p:txBody>
          <a:bodyPr wrap="square" rtlCol="0" anchor="t"/>
          <a:lstStyle/>
          <a:p>
            <a:pPr indent="0" marL="0">
              <a:lnSpc>
                <a:spcPts val="1700"/>
              </a:lnSpc>
              <a:buNone/>
            </a:pPr>
            <a:r>
              <a:rPr lang="en-US" sz="1400" b="1" dirty="0">
                <a:solidFill>
                  <a:srgbClr val="2A2118"/>
                </a:solidFill>
                <a:latin typeface="Cambria" pitchFamily="34" charset="0"/>
                <a:ea typeface="Cambria" pitchFamily="34" charset="-122"/>
                <a:cs typeface="Cambria" pitchFamily="34" charset="-120"/>
              </a:rPr>
              <a:t>GITEX 2015</a:t>
            </a:r>
            <a:endParaRPr lang="en-US" sz="1400" dirty="0"/>
          </a:p>
        </p:txBody>
      </p:sp>
      <p:sp>
        <p:nvSpPr>
          <p:cNvPr id="19" name="Text 17"/>
          <p:cNvSpPr txBox="1"/>
          <p:nvPr/>
        </p:nvSpPr>
        <p:spPr>
          <a:xfrm>
            <a:off x="9701784" y="3246120"/>
            <a:ext cx="1783080" cy="365760"/>
          </a:xfrm>
          <a:prstGeom prst="rect">
            <a:avLst/>
          </a:prstGeom>
          <a:noFill/>
          <a:ln/>
        </p:spPr>
        <p:txBody>
          <a:bodyPr wrap="square" rtlCol="0" anchor="t"/>
          <a:lstStyle/>
          <a:p>
            <a:pPr indent="0" marL="0">
              <a:buNone/>
            </a:pPr>
            <a:r>
              <a:rPr lang="en-US" sz="950" dirty="0">
                <a:solidFill>
                  <a:srgbClr val="6E6355"/>
                </a:solidFill>
                <a:latin typeface="Calibri" pitchFamily="34" charset="0"/>
                <a:ea typeface="Calibri" pitchFamily="34" charset="-122"/>
                <a:cs typeface="Calibri" pitchFamily="34" charset="-120"/>
              </a:rPr>
              <a:t>Economic Department</a:t>
            </a:r>
            <a:endParaRPr lang="en-US" sz="950" dirty="0"/>
          </a:p>
        </p:txBody>
      </p:sp>
      <p:sp>
        <p:nvSpPr>
          <p:cNvPr id="20" name="Shape 18"/>
          <p:cNvSpPr/>
          <p:nvPr/>
        </p:nvSpPr>
        <p:spPr>
          <a:xfrm>
            <a:off x="777240" y="4023360"/>
            <a:ext cx="2057400" cy="1417320"/>
          </a:xfrm>
          <a:prstGeom prst="rect">
            <a:avLst/>
          </a:prstGeom>
          <a:solidFill>
            <a:srgbClr val="E7E0D3"/>
          </a:solidFill>
          <a:ln/>
        </p:spPr>
      </p:sp>
      <p:sp>
        <p:nvSpPr>
          <p:cNvPr id="21" name="Text 19"/>
          <p:cNvSpPr txBox="1"/>
          <p:nvPr/>
        </p:nvSpPr>
        <p:spPr>
          <a:xfrm>
            <a:off x="923544" y="4206240"/>
            <a:ext cx="1783080" cy="594360"/>
          </a:xfrm>
          <a:prstGeom prst="rect">
            <a:avLst/>
          </a:prstGeom>
          <a:noFill/>
          <a:ln/>
        </p:spPr>
        <p:txBody>
          <a:bodyPr wrap="square" rtlCol="0" anchor="t"/>
          <a:lstStyle/>
          <a:p>
            <a:pPr indent="0" marL="0">
              <a:lnSpc>
                <a:spcPts val="1700"/>
              </a:lnSpc>
              <a:buNone/>
            </a:pPr>
            <a:r>
              <a:rPr lang="en-US" sz="1400" b="1" dirty="0">
                <a:solidFill>
                  <a:srgbClr val="2A2118"/>
                </a:solidFill>
                <a:latin typeface="Cambria" pitchFamily="34" charset="0"/>
                <a:ea typeface="Cambria" pitchFamily="34" charset="-122"/>
                <a:cs typeface="Cambria" pitchFamily="34" charset="-120"/>
              </a:rPr>
              <a:t>SME Programme</a:t>
            </a:r>
            <a:endParaRPr lang="en-US" sz="1400" dirty="0"/>
          </a:p>
        </p:txBody>
      </p:sp>
      <p:sp>
        <p:nvSpPr>
          <p:cNvPr id="22" name="Text 20"/>
          <p:cNvSpPr txBox="1"/>
          <p:nvPr/>
        </p:nvSpPr>
        <p:spPr>
          <a:xfrm>
            <a:off x="923544" y="4892040"/>
            <a:ext cx="1783080" cy="365760"/>
          </a:xfrm>
          <a:prstGeom prst="rect">
            <a:avLst/>
          </a:prstGeom>
          <a:noFill/>
          <a:ln/>
        </p:spPr>
        <p:txBody>
          <a:bodyPr wrap="square" rtlCol="0" anchor="t"/>
          <a:lstStyle/>
          <a:p>
            <a:pPr indent="0" marL="0">
              <a:buNone/>
            </a:pPr>
            <a:r>
              <a:rPr lang="en-US" sz="950" dirty="0">
                <a:solidFill>
                  <a:srgbClr val="6E6355"/>
                </a:solidFill>
                <a:latin typeface="Calibri" pitchFamily="34" charset="0"/>
                <a:ea typeface="Calibri" pitchFamily="34" charset="-122"/>
                <a:cs typeface="Calibri" pitchFamily="34" charset="-120"/>
              </a:rPr>
              <a:t>Government</a:t>
            </a:r>
            <a:endParaRPr lang="en-US" sz="950" dirty="0"/>
          </a:p>
        </p:txBody>
      </p:sp>
      <p:sp>
        <p:nvSpPr>
          <p:cNvPr id="23" name="Shape 21"/>
          <p:cNvSpPr/>
          <p:nvPr/>
        </p:nvSpPr>
        <p:spPr>
          <a:xfrm>
            <a:off x="2971800" y="4023360"/>
            <a:ext cx="2057400" cy="1417320"/>
          </a:xfrm>
          <a:prstGeom prst="rect">
            <a:avLst/>
          </a:prstGeom>
          <a:solidFill>
            <a:srgbClr val="E7E0D3"/>
          </a:solidFill>
          <a:ln/>
        </p:spPr>
      </p:sp>
      <p:sp>
        <p:nvSpPr>
          <p:cNvPr id="24" name="Text 22"/>
          <p:cNvSpPr txBox="1"/>
          <p:nvPr/>
        </p:nvSpPr>
        <p:spPr>
          <a:xfrm>
            <a:off x="3118104" y="4206240"/>
            <a:ext cx="1783080" cy="594360"/>
          </a:xfrm>
          <a:prstGeom prst="rect">
            <a:avLst/>
          </a:prstGeom>
          <a:noFill/>
          <a:ln/>
        </p:spPr>
        <p:txBody>
          <a:bodyPr wrap="square" rtlCol="0" anchor="t"/>
          <a:lstStyle/>
          <a:p>
            <a:pPr indent="0" marL="0">
              <a:lnSpc>
                <a:spcPts val="1700"/>
              </a:lnSpc>
              <a:buNone/>
            </a:pPr>
            <a:r>
              <a:rPr lang="en-US" sz="1400" b="1" dirty="0">
                <a:solidFill>
                  <a:srgbClr val="2A2118"/>
                </a:solidFill>
                <a:latin typeface="Cambria" pitchFamily="34" charset="0"/>
                <a:ea typeface="Cambria" pitchFamily="34" charset="-122"/>
                <a:cs typeface="Cambria" pitchFamily="34" charset="-120"/>
              </a:rPr>
              <a:t>Montajat</a:t>
            </a:r>
            <a:endParaRPr lang="en-US" sz="1400" dirty="0"/>
          </a:p>
        </p:txBody>
      </p:sp>
      <p:sp>
        <p:nvSpPr>
          <p:cNvPr id="25" name="Text 23"/>
          <p:cNvSpPr txBox="1"/>
          <p:nvPr/>
        </p:nvSpPr>
        <p:spPr>
          <a:xfrm>
            <a:off x="3118104" y="4892040"/>
            <a:ext cx="1783080" cy="365760"/>
          </a:xfrm>
          <a:prstGeom prst="rect">
            <a:avLst/>
          </a:prstGeom>
          <a:noFill/>
          <a:ln/>
        </p:spPr>
        <p:txBody>
          <a:bodyPr wrap="square" rtlCol="0" anchor="t"/>
          <a:lstStyle/>
          <a:p>
            <a:pPr indent="0" marL="0">
              <a:buNone/>
            </a:pPr>
            <a:r>
              <a:rPr lang="en-US" sz="950" dirty="0">
                <a:solidFill>
                  <a:srgbClr val="6E6355"/>
                </a:solidFill>
                <a:latin typeface="Calibri" pitchFamily="34" charset="0"/>
                <a:ea typeface="Calibri" pitchFamily="34" charset="-122"/>
                <a:cs typeface="Calibri" pitchFamily="34" charset="-120"/>
              </a:rPr>
              <a:t>Brand</a:t>
            </a:r>
            <a:endParaRPr lang="en-US" sz="950" dirty="0"/>
          </a:p>
        </p:txBody>
      </p:sp>
      <p:sp>
        <p:nvSpPr>
          <p:cNvPr id="26" name="Shape 24"/>
          <p:cNvSpPr/>
          <p:nvPr/>
        </p:nvSpPr>
        <p:spPr>
          <a:xfrm>
            <a:off x="5166360" y="4023360"/>
            <a:ext cx="2057400" cy="1417320"/>
          </a:xfrm>
          <a:prstGeom prst="rect">
            <a:avLst/>
          </a:prstGeom>
          <a:solidFill>
            <a:srgbClr val="E7E0D3"/>
          </a:solidFill>
          <a:ln/>
        </p:spPr>
      </p:sp>
      <p:sp>
        <p:nvSpPr>
          <p:cNvPr id="27" name="Text 25"/>
          <p:cNvSpPr txBox="1"/>
          <p:nvPr/>
        </p:nvSpPr>
        <p:spPr>
          <a:xfrm>
            <a:off x="5312664" y="4206240"/>
            <a:ext cx="1783080" cy="594360"/>
          </a:xfrm>
          <a:prstGeom prst="rect">
            <a:avLst/>
          </a:prstGeom>
          <a:noFill/>
          <a:ln/>
        </p:spPr>
        <p:txBody>
          <a:bodyPr wrap="square" rtlCol="0" anchor="t"/>
          <a:lstStyle/>
          <a:p>
            <a:pPr indent="0" marL="0">
              <a:lnSpc>
                <a:spcPts val="1700"/>
              </a:lnSpc>
              <a:buNone/>
            </a:pPr>
            <a:r>
              <a:rPr lang="en-US" sz="1400" b="1" dirty="0">
                <a:solidFill>
                  <a:srgbClr val="2A2118"/>
                </a:solidFill>
                <a:latin typeface="Cambria" pitchFamily="34" charset="0"/>
                <a:ea typeface="Cambria" pitchFamily="34" charset="-122"/>
                <a:cs typeface="Cambria" pitchFamily="34" charset="-120"/>
              </a:rPr>
              <a:t>Dubai Challenge</a:t>
            </a:r>
            <a:endParaRPr lang="en-US" sz="1400" dirty="0"/>
          </a:p>
        </p:txBody>
      </p:sp>
      <p:sp>
        <p:nvSpPr>
          <p:cNvPr id="28" name="Text 26"/>
          <p:cNvSpPr txBox="1"/>
          <p:nvPr/>
        </p:nvSpPr>
        <p:spPr>
          <a:xfrm>
            <a:off x="5312664" y="4892040"/>
            <a:ext cx="1783080" cy="365760"/>
          </a:xfrm>
          <a:prstGeom prst="rect">
            <a:avLst/>
          </a:prstGeom>
          <a:noFill/>
          <a:ln/>
        </p:spPr>
        <p:txBody>
          <a:bodyPr wrap="square" rtlCol="0" anchor="t"/>
          <a:lstStyle/>
          <a:p>
            <a:pPr indent="0" marL="0">
              <a:buNone/>
            </a:pPr>
            <a:r>
              <a:rPr lang="en-US" sz="950" dirty="0">
                <a:solidFill>
                  <a:srgbClr val="6E6355"/>
                </a:solidFill>
                <a:latin typeface="Calibri" pitchFamily="34" charset="0"/>
                <a:ea typeface="Calibri" pitchFamily="34" charset="-122"/>
                <a:cs typeface="Calibri" pitchFamily="34" charset="-120"/>
              </a:rPr>
              <a:t>Event</a:t>
            </a:r>
            <a:endParaRPr lang="en-US" sz="950" dirty="0"/>
          </a:p>
        </p:txBody>
      </p:sp>
      <p:sp>
        <p:nvSpPr>
          <p:cNvPr id="29" name="Shape 27"/>
          <p:cNvSpPr/>
          <p:nvPr/>
        </p:nvSpPr>
        <p:spPr>
          <a:xfrm>
            <a:off x="7360920" y="4023360"/>
            <a:ext cx="2057400" cy="1417320"/>
          </a:xfrm>
          <a:prstGeom prst="rect">
            <a:avLst/>
          </a:prstGeom>
          <a:solidFill>
            <a:srgbClr val="E7E0D3"/>
          </a:solidFill>
          <a:ln/>
        </p:spPr>
      </p:sp>
      <p:sp>
        <p:nvSpPr>
          <p:cNvPr id="30" name="Text 28"/>
          <p:cNvSpPr txBox="1"/>
          <p:nvPr/>
        </p:nvSpPr>
        <p:spPr>
          <a:xfrm>
            <a:off x="7507224" y="4206240"/>
            <a:ext cx="1783080" cy="594360"/>
          </a:xfrm>
          <a:prstGeom prst="rect">
            <a:avLst/>
          </a:prstGeom>
          <a:noFill/>
          <a:ln/>
        </p:spPr>
        <p:txBody>
          <a:bodyPr wrap="square" rtlCol="0" anchor="t"/>
          <a:lstStyle/>
          <a:p>
            <a:pPr indent="0" marL="0">
              <a:lnSpc>
                <a:spcPts val="1700"/>
              </a:lnSpc>
              <a:buNone/>
            </a:pPr>
            <a:r>
              <a:rPr lang="en-US" sz="1400" b="1" dirty="0">
                <a:solidFill>
                  <a:srgbClr val="2A2118"/>
                </a:solidFill>
                <a:latin typeface="Cambria" pitchFamily="34" charset="0"/>
                <a:ea typeface="Cambria" pitchFamily="34" charset="-122"/>
                <a:cs typeface="Cambria" pitchFamily="34" charset="-120"/>
              </a:rPr>
              <a:t>SND</a:t>
            </a:r>
            <a:endParaRPr lang="en-US" sz="1400" dirty="0"/>
          </a:p>
        </p:txBody>
      </p:sp>
      <p:sp>
        <p:nvSpPr>
          <p:cNvPr id="31" name="Text 29"/>
          <p:cNvSpPr txBox="1"/>
          <p:nvPr/>
        </p:nvSpPr>
        <p:spPr>
          <a:xfrm>
            <a:off x="7507224" y="4892040"/>
            <a:ext cx="1783080" cy="365760"/>
          </a:xfrm>
          <a:prstGeom prst="rect">
            <a:avLst/>
          </a:prstGeom>
          <a:noFill/>
          <a:ln/>
        </p:spPr>
        <p:txBody>
          <a:bodyPr wrap="square" rtlCol="0" anchor="t"/>
          <a:lstStyle/>
          <a:p>
            <a:pPr indent="0" marL="0">
              <a:buNone/>
            </a:pPr>
            <a:r>
              <a:rPr lang="en-US" sz="950" dirty="0">
                <a:solidFill>
                  <a:srgbClr val="6E6355"/>
                </a:solidFill>
                <a:latin typeface="Calibri" pitchFamily="34" charset="0"/>
                <a:ea typeface="Calibri" pitchFamily="34" charset="-122"/>
                <a:cs typeface="Calibri" pitchFamily="34" charset="-120"/>
              </a:rPr>
              <a:t>App and platform</a:t>
            </a:r>
            <a:endParaRPr lang="en-US" sz="950" dirty="0"/>
          </a:p>
        </p:txBody>
      </p:sp>
      <p:sp>
        <p:nvSpPr>
          <p:cNvPr id="32" name="Shape 30"/>
          <p:cNvSpPr/>
          <p:nvPr/>
        </p:nvSpPr>
        <p:spPr>
          <a:xfrm>
            <a:off x="9555480" y="4023360"/>
            <a:ext cx="2057400" cy="1417320"/>
          </a:xfrm>
          <a:prstGeom prst="rect">
            <a:avLst/>
          </a:prstGeom>
          <a:solidFill>
            <a:srgbClr val="E7E0D3"/>
          </a:solidFill>
          <a:ln/>
        </p:spPr>
      </p:sp>
      <p:sp>
        <p:nvSpPr>
          <p:cNvPr id="33" name="Text 31"/>
          <p:cNvSpPr txBox="1"/>
          <p:nvPr/>
        </p:nvSpPr>
        <p:spPr>
          <a:xfrm>
            <a:off x="9701784" y="4206240"/>
            <a:ext cx="1783080" cy="594360"/>
          </a:xfrm>
          <a:prstGeom prst="rect">
            <a:avLst/>
          </a:prstGeom>
          <a:noFill/>
          <a:ln/>
        </p:spPr>
        <p:txBody>
          <a:bodyPr wrap="square" rtlCol="0" anchor="t"/>
          <a:lstStyle/>
          <a:p>
            <a:pPr indent="0" marL="0">
              <a:lnSpc>
                <a:spcPts val="1700"/>
              </a:lnSpc>
              <a:buNone/>
            </a:pPr>
            <a:r>
              <a:rPr lang="en-US" sz="1400" b="1" dirty="0">
                <a:solidFill>
                  <a:srgbClr val="2A2118"/>
                </a:solidFill>
                <a:latin typeface="Cambria" pitchFamily="34" charset="0"/>
                <a:ea typeface="Cambria" pitchFamily="34" charset="-122"/>
                <a:cs typeface="Cambria" pitchFamily="34" charset="-120"/>
              </a:rPr>
              <a:t>ILF</a:t>
            </a:r>
            <a:endParaRPr lang="en-US" sz="1400" dirty="0"/>
          </a:p>
        </p:txBody>
      </p:sp>
      <p:sp>
        <p:nvSpPr>
          <p:cNvPr id="34" name="Text 32"/>
          <p:cNvSpPr txBox="1"/>
          <p:nvPr/>
        </p:nvSpPr>
        <p:spPr>
          <a:xfrm>
            <a:off x="9701784" y="4892040"/>
            <a:ext cx="1783080" cy="365760"/>
          </a:xfrm>
          <a:prstGeom prst="rect">
            <a:avLst/>
          </a:prstGeom>
          <a:noFill/>
          <a:ln/>
        </p:spPr>
        <p:txBody>
          <a:bodyPr wrap="square" rtlCol="0" anchor="t"/>
          <a:lstStyle/>
          <a:p>
            <a:pPr indent="0" marL="0">
              <a:buNone/>
            </a:pPr>
            <a:r>
              <a:rPr lang="en-US" sz="950" dirty="0">
                <a:solidFill>
                  <a:srgbClr val="6E6355"/>
                </a:solidFill>
                <a:latin typeface="Calibri" pitchFamily="34" charset="0"/>
                <a:ea typeface="Calibri" pitchFamily="34" charset="-122"/>
                <a:cs typeface="Calibri" pitchFamily="34" charset="-120"/>
              </a:rPr>
              <a:t>Identity</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21B14"/>
        </a:solidFill>
      </p:bgPr>
    </p:bg>
    <p:spTree>
      <p:nvGrpSpPr>
        <p:cNvPr id="1" name=""/>
        <p:cNvGrpSpPr/>
        <p:nvPr/>
      </p:nvGrpSpPr>
      <p:grpSpPr>
        <a:xfrm>
          <a:off x="0" y="0"/>
          <a:ext cx="0" cy="0"/>
          <a:chOff x="0" y="0"/>
          <a:chExt cx="0" cy="0"/>
        </a:xfrm>
      </p:grpSpPr>
      <p:sp>
        <p:nvSpPr>
          <p:cNvPr id="2" name="Text 0"/>
          <p:cNvSpPr txBox="1"/>
          <p:nvPr/>
        </p:nvSpPr>
        <p:spPr>
          <a:xfrm>
            <a:off x="11109960" y="6309360"/>
            <a:ext cx="548640" cy="274320"/>
          </a:xfrm>
          <a:prstGeom prst="rect">
            <a:avLst/>
          </a:prstGeom>
          <a:noFill/>
          <a:ln/>
        </p:spPr>
        <p:txBody>
          <a:bodyPr wrap="square" rtlCol="0" anchor="ctr"/>
          <a:lstStyle/>
          <a:p>
            <a:pPr algn="r" indent="0" marL="0">
              <a:buNone/>
            </a:pPr>
            <a:r>
              <a:rPr lang="en-US" sz="900" b="1" spc="150" kern="0" dirty="0">
                <a:solidFill>
                  <a:srgbClr val="A4988A"/>
                </a:solidFill>
                <a:latin typeface="Calibri" pitchFamily="34" charset="0"/>
                <a:ea typeface="Calibri" pitchFamily="34" charset="-122"/>
                <a:cs typeface="Calibri" pitchFamily="34" charset="-120"/>
              </a:rPr>
              <a:t>18</a:t>
            </a:r>
            <a:endParaRPr lang="en-US" sz="900" dirty="0"/>
          </a:p>
        </p:txBody>
      </p:sp>
      <p:sp>
        <p:nvSpPr>
          <p:cNvPr id="3" name="Text 1"/>
          <p:cNvSpPr txBox="1"/>
          <p:nvPr/>
        </p:nvSpPr>
        <p:spPr>
          <a:xfrm>
            <a:off x="777240" y="2514600"/>
            <a:ext cx="10058400" cy="1280160"/>
          </a:xfrm>
          <a:prstGeom prst="rect">
            <a:avLst/>
          </a:prstGeom>
          <a:noFill/>
          <a:ln/>
        </p:spPr>
        <p:txBody>
          <a:bodyPr wrap="square" lIns="0" tIns="0" rIns="0" bIns="0" rtlCol="0" anchor="ctr"/>
          <a:lstStyle/>
          <a:p>
            <a:pPr indent="0" marL="0">
              <a:buNone/>
            </a:pPr>
            <a:r>
              <a:rPr lang="en-US" sz="5800" dirty="0">
                <a:solidFill>
                  <a:srgbClr val="EFE8DA"/>
                </a:solidFill>
                <a:latin typeface="Cambria" pitchFamily="34" charset="0"/>
                <a:ea typeface="Cambria" pitchFamily="34" charset="-122"/>
                <a:cs typeface="Cambria" pitchFamily="34" charset="-120"/>
              </a:rPr>
              <a:t>How we work.</a:t>
            </a:r>
            <a:endParaRPr lang="en-US" sz="5800" dirty="0"/>
          </a:p>
        </p:txBody>
      </p:sp>
      <p:sp>
        <p:nvSpPr>
          <p:cNvPr id="4" name="Text 2"/>
          <p:cNvSpPr txBox="1"/>
          <p:nvPr/>
        </p:nvSpPr>
        <p:spPr>
          <a:xfrm>
            <a:off x="777240" y="3840480"/>
            <a:ext cx="8229600" cy="457200"/>
          </a:xfrm>
          <a:prstGeom prst="rect">
            <a:avLst/>
          </a:prstGeom>
          <a:noFill/>
          <a:ln/>
        </p:spPr>
        <p:txBody>
          <a:bodyPr wrap="square" lIns="0" tIns="0" rIns="0" bIns="0" rtlCol="0" anchor="ctr"/>
          <a:lstStyle/>
          <a:p>
            <a:pPr indent="0" marL="0">
              <a:buNone/>
            </a:pPr>
            <a:r>
              <a:rPr lang="en-US" sz="1400" dirty="0">
                <a:solidFill>
                  <a:srgbClr val="A4988A"/>
                </a:solidFill>
                <a:latin typeface="Calibri" pitchFamily="34" charset="0"/>
                <a:ea typeface="Calibri" pitchFamily="34" charset="-122"/>
                <a:cs typeface="Calibri" pitchFamily="34" charset="-120"/>
              </a:rPr>
              <a:t>The firm, the method, and how an engagement starts.</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2EDE4"/>
        </a:solidFill>
      </p:bgPr>
    </p:bg>
    <p:spTree>
      <p:nvGrpSpPr>
        <p:cNvPr id="1" name=""/>
        <p:cNvGrpSpPr/>
        <p:nvPr/>
      </p:nvGrpSpPr>
      <p:grpSpPr>
        <a:xfrm>
          <a:off x="0" y="0"/>
          <a:ext cx="0" cy="0"/>
          <a:chOff x="0" y="0"/>
          <a:chExt cx="0" cy="0"/>
        </a:xfrm>
      </p:grpSpPr>
      <p:sp>
        <p:nvSpPr>
          <p:cNvPr id="2" name="Text 0"/>
          <p:cNvSpPr txBox="1"/>
          <p:nvPr/>
        </p:nvSpPr>
        <p:spPr>
          <a:xfrm>
            <a:off x="11109960" y="6309360"/>
            <a:ext cx="548640" cy="274320"/>
          </a:xfrm>
          <a:prstGeom prst="rect">
            <a:avLst/>
          </a:prstGeom>
          <a:noFill/>
          <a:ln/>
        </p:spPr>
        <p:txBody>
          <a:bodyPr wrap="square" rtlCol="0" anchor="ctr"/>
          <a:lstStyle/>
          <a:p>
            <a:pPr algn="r" indent="0" marL="0">
              <a:buNone/>
            </a:pPr>
            <a:r>
              <a:rPr lang="en-US" sz="900" b="1" spc="150" kern="0" dirty="0">
                <a:solidFill>
                  <a:srgbClr val="A79C8C"/>
                </a:solidFill>
                <a:latin typeface="Calibri" pitchFamily="34" charset="0"/>
                <a:ea typeface="Calibri" pitchFamily="34" charset="-122"/>
                <a:cs typeface="Calibri" pitchFamily="34" charset="-120"/>
              </a:rPr>
              <a:t>19</a:t>
            </a:r>
            <a:endParaRPr lang="en-US" sz="900" dirty="0"/>
          </a:p>
        </p:txBody>
      </p:sp>
      <p:sp>
        <p:nvSpPr>
          <p:cNvPr id="3" name="Text 1"/>
          <p:cNvSpPr txBox="1"/>
          <p:nvPr/>
        </p:nvSpPr>
        <p:spPr>
          <a:xfrm>
            <a:off x="777240" y="548640"/>
            <a:ext cx="8686800" cy="256032"/>
          </a:xfrm>
          <a:prstGeom prst="rect">
            <a:avLst/>
          </a:prstGeom>
          <a:noFill/>
          <a:ln/>
        </p:spPr>
        <p:txBody>
          <a:bodyPr wrap="square" lIns="0" tIns="0" rIns="0" bIns="0" rtlCol="0" anchor="ctr"/>
          <a:lstStyle/>
          <a:p>
            <a:pPr indent="0" marL="0">
              <a:buNone/>
            </a:pPr>
            <a:r>
              <a:rPr lang="en-US" sz="950" b="1" spc="260" kern="0" dirty="0">
                <a:solidFill>
                  <a:srgbClr val="8A6A3A"/>
                </a:solidFill>
                <a:latin typeface="Calibri" pitchFamily="34" charset="0"/>
                <a:ea typeface="Calibri" pitchFamily="34" charset="-122"/>
                <a:cs typeface="Calibri" pitchFamily="34" charset="-120"/>
              </a:rPr>
              <a:t>WHAT WE DO</a:t>
            </a:r>
            <a:endParaRPr lang="en-US" sz="950" dirty="0"/>
          </a:p>
        </p:txBody>
      </p:sp>
      <p:sp>
        <p:nvSpPr>
          <p:cNvPr id="4" name="Text 2"/>
          <p:cNvSpPr txBox="1"/>
          <p:nvPr/>
        </p:nvSpPr>
        <p:spPr>
          <a:xfrm>
            <a:off x="777240" y="960120"/>
            <a:ext cx="8229600" cy="914400"/>
          </a:xfrm>
          <a:prstGeom prst="rect">
            <a:avLst/>
          </a:prstGeom>
          <a:noFill/>
          <a:ln/>
        </p:spPr>
        <p:txBody>
          <a:bodyPr wrap="square" lIns="0" tIns="0" rIns="0" bIns="0" rtlCol="0" anchor="t"/>
          <a:lstStyle/>
          <a:p>
            <a:pPr indent="0" marL="0">
              <a:lnSpc>
                <a:spcPts val="3800"/>
              </a:lnSpc>
              <a:buNone/>
            </a:pPr>
            <a:r>
              <a:rPr lang="en-US" sz="3200" dirty="0">
                <a:solidFill>
                  <a:srgbClr val="2A2118"/>
                </a:solidFill>
                <a:latin typeface="Cambria" pitchFamily="34" charset="0"/>
                <a:ea typeface="Cambria" pitchFamily="34" charset="-122"/>
                <a:cs typeface="Cambria" pitchFamily="34" charset="-120"/>
              </a:rPr>
              <a:t>Six disciplines, one brief, one team.</a:t>
            </a:r>
            <a:endParaRPr lang="en-US" sz="3200" dirty="0"/>
          </a:p>
        </p:txBody>
      </p:sp>
      <p:sp>
        <p:nvSpPr>
          <p:cNvPr id="5" name="Shape 3"/>
          <p:cNvSpPr/>
          <p:nvPr/>
        </p:nvSpPr>
        <p:spPr>
          <a:xfrm>
            <a:off x="777240" y="2386584"/>
            <a:ext cx="292608" cy="292608"/>
          </a:xfrm>
          <a:prstGeom prst="ellipse">
            <a:avLst/>
          </a:prstGeom>
          <a:solidFill>
            <a:srgbClr val="8A6A3A"/>
          </a:solidFill>
          <a:ln/>
        </p:spPr>
      </p:sp>
      <p:sp>
        <p:nvSpPr>
          <p:cNvPr id="6" name="Text 4"/>
          <p:cNvSpPr txBox="1"/>
          <p:nvPr/>
        </p:nvSpPr>
        <p:spPr>
          <a:xfrm>
            <a:off x="1252728" y="2331720"/>
            <a:ext cx="4572000" cy="365760"/>
          </a:xfrm>
          <a:prstGeom prst="rect">
            <a:avLst/>
          </a:prstGeom>
          <a:noFill/>
          <a:ln/>
        </p:spPr>
        <p:txBody>
          <a:bodyPr wrap="square" lIns="0" tIns="0" rIns="0" bIns="0" rtlCol="0" anchor="t"/>
          <a:lstStyle/>
          <a:p>
            <a:pPr indent="0" marL="0">
              <a:buNone/>
            </a:pPr>
            <a:r>
              <a:rPr lang="en-US" sz="1600" b="1" dirty="0">
                <a:solidFill>
                  <a:srgbClr val="2A2118"/>
                </a:solidFill>
                <a:latin typeface="Cambria" pitchFamily="34" charset="0"/>
                <a:ea typeface="Cambria" pitchFamily="34" charset="-122"/>
                <a:cs typeface="Cambria" pitchFamily="34" charset="-120"/>
              </a:rPr>
              <a:t>Strategy and research</a:t>
            </a:r>
            <a:endParaRPr lang="en-US" sz="1600" dirty="0"/>
          </a:p>
        </p:txBody>
      </p:sp>
      <p:sp>
        <p:nvSpPr>
          <p:cNvPr id="7" name="Text 5"/>
          <p:cNvSpPr txBox="1"/>
          <p:nvPr/>
        </p:nvSpPr>
        <p:spPr>
          <a:xfrm>
            <a:off x="1252728" y="2743200"/>
            <a:ext cx="4572000" cy="365760"/>
          </a:xfrm>
          <a:prstGeom prst="rect">
            <a:avLst/>
          </a:prstGeom>
          <a:noFill/>
          <a:ln/>
        </p:spPr>
        <p:txBody>
          <a:bodyPr wrap="square" lIns="0" tIns="0" rIns="0" bIns="0" rtlCol="0" anchor="t"/>
          <a:lstStyle/>
          <a:p>
            <a:pPr indent="0" marL="0">
              <a:buNone/>
            </a:pPr>
            <a:r>
              <a:rPr lang="en-US" sz="1150" dirty="0">
                <a:solidFill>
                  <a:srgbClr val="6E6355"/>
                </a:solidFill>
                <a:latin typeface="Calibri" pitchFamily="34" charset="0"/>
                <a:ea typeface="Calibri" pitchFamily="34" charset="-122"/>
                <a:cs typeface="Calibri" pitchFamily="34" charset="-120"/>
              </a:rPr>
              <a:t>Market evidence, positioning, planning</a:t>
            </a:r>
            <a:endParaRPr lang="en-US" sz="1150" dirty="0"/>
          </a:p>
        </p:txBody>
      </p:sp>
      <p:sp>
        <p:nvSpPr>
          <p:cNvPr id="8" name="Shape 6"/>
          <p:cNvSpPr/>
          <p:nvPr/>
        </p:nvSpPr>
        <p:spPr>
          <a:xfrm>
            <a:off x="6217920" y="2386584"/>
            <a:ext cx="292608" cy="292608"/>
          </a:xfrm>
          <a:prstGeom prst="ellipse">
            <a:avLst/>
          </a:prstGeom>
          <a:solidFill>
            <a:srgbClr val="8A6A3A"/>
          </a:solidFill>
          <a:ln/>
        </p:spPr>
      </p:sp>
      <p:sp>
        <p:nvSpPr>
          <p:cNvPr id="9" name="Text 7"/>
          <p:cNvSpPr txBox="1"/>
          <p:nvPr/>
        </p:nvSpPr>
        <p:spPr>
          <a:xfrm>
            <a:off x="6693408" y="2331720"/>
            <a:ext cx="4572000" cy="365760"/>
          </a:xfrm>
          <a:prstGeom prst="rect">
            <a:avLst/>
          </a:prstGeom>
          <a:noFill/>
          <a:ln/>
        </p:spPr>
        <p:txBody>
          <a:bodyPr wrap="square" lIns="0" tIns="0" rIns="0" bIns="0" rtlCol="0" anchor="t"/>
          <a:lstStyle/>
          <a:p>
            <a:pPr indent="0" marL="0">
              <a:buNone/>
            </a:pPr>
            <a:r>
              <a:rPr lang="en-US" sz="1600" b="1" dirty="0">
                <a:solidFill>
                  <a:srgbClr val="2A2118"/>
                </a:solidFill>
                <a:latin typeface="Cambria" pitchFamily="34" charset="0"/>
                <a:ea typeface="Cambria" pitchFamily="34" charset="-122"/>
                <a:cs typeface="Cambria" pitchFamily="34" charset="-120"/>
              </a:rPr>
              <a:t>Brand and creative</a:t>
            </a:r>
            <a:endParaRPr lang="en-US" sz="1600" dirty="0"/>
          </a:p>
        </p:txBody>
      </p:sp>
      <p:sp>
        <p:nvSpPr>
          <p:cNvPr id="10" name="Text 8"/>
          <p:cNvSpPr txBox="1"/>
          <p:nvPr/>
        </p:nvSpPr>
        <p:spPr>
          <a:xfrm>
            <a:off x="6693408" y="2743200"/>
            <a:ext cx="4572000" cy="365760"/>
          </a:xfrm>
          <a:prstGeom prst="rect">
            <a:avLst/>
          </a:prstGeom>
          <a:noFill/>
          <a:ln/>
        </p:spPr>
        <p:txBody>
          <a:bodyPr wrap="square" lIns="0" tIns="0" rIns="0" bIns="0" rtlCol="0" anchor="t"/>
          <a:lstStyle/>
          <a:p>
            <a:pPr indent="0" marL="0">
              <a:buNone/>
            </a:pPr>
            <a:r>
              <a:rPr lang="en-US" sz="1150" dirty="0">
                <a:solidFill>
                  <a:srgbClr val="6E6355"/>
                </a:solidFill>
                <a:latin typeface="Calibri" pitchFamily="34" charset="0"/>
                <a:ea typeface="Calibri" pitchFamily="34" charset="-122"/>
                <a:cs typeface="Calibri" pitchFamily="34" charset="-120"/>
              </a:rPr>
              <a:t>Identity, campaign, art direction</a:t>
            </a:r>
            <a:endParaRPr lang="en-US" sz="1150" dirty="0"/>
          </a:p>
        </p:txBody>
      </p:sp>
      <p:sp>
        <p:nvSpPr>
          <p:cNvPr id="11" name="Shape 9"/>
          <p:cNvSpPr/>
          <p:nvPr/>
        </p:nvSpPr>
        <p:spPr>
          <a:xfrm>
            <a:off x="777240" y="3666744"/>
            <a:ext cx="292608" cy="292608"/>
          </a:xfrm>
          <a:prstGeom prst="ellipse">
            <a:avLst/>
          </a:prstGeom>
          <a:solidFill>
            <a:srgbClr val="8A6A3A"/>
          </a:solidFill>
          <a:ln/>
        </p:spPr>
      </p:sp>
      <p:sp>
        <p:nvSpPr>
          <p:cNvPr id="12" name="Text 10"/>
          <p:cNvSpPr txBox="1"/>
          <p:nvPr/>
        </p:nvSpPr>
        <p:spPr>
          <a:xfrm>
            <a:off x="1252728" y="3611880"/>
            <a:ext cx="4572000" cy="365760"/>
          </a:xfrm>
          <a:prstGeom prst="rect">
            <a:avLst/>
          </a:prstGeom>
          <a:noFill/>
          <a:ln/>
        </p:spPr>
        <p:txBody>
          <a:bodyPr wrap="square" lIns="0" tIns="0" rIns="0" bIns="0" rtlCol="0" anchor="t"/>
          <a:lstStyle/>
          <a:p>
            <a:pPr indent="0" marL="0">
              <a:buNone/>
            </a:pPr>
            <a:r>
              <a:rPr lang="en-US" sz="1600" b="1" dirty="0">
                <a:solidFill>
                  <a:srgbClr val="2A2118"/>
                </a:solidFill>
                <a:latin typeface="Cambria" pitchFamily="34" charset="0"/>
                <a:ea typeface="Cambria" pitchFamily="34" charset="-122"/>
                <a:cs typeface="Cambria" pitchFamily="34" charset="-120"/>
              </a:rPr>
              <a:t>Digital platforms and ecommerce</a:t>
            </a:r>
            <a:endParaRPr lang="en-US" sz="1600" dirty="0"/>
          </a:p>
        </p:txBody>
      </p:sp>
      <p:sp>
        <p:nvSpPr>
          <p:cNvPr id="13" name="Text 11"/>
          <p:cNvSpPr txBox="1"/>
          <p:nvPr/>
        </p:nvSpPr>
        <p:spPr>
          <a:xfrm>
            <a:off x="1252728" y="4023360"/>
            <a:ext cx="4572000" cy="365760"/>
          </a:xfrm>
          <a:prstGeom prst="rect">
            <a:avLst/>
          </a:prstGeom>
          <a:noFill/>
          <a:ln/>
        </p:spPr>
        <p:txBody>
          <a:bodyPr wrap="square" lIns="0" tIns="0" rIns="0" bIns="0" rtlCol="0" anchor="t"/>
          <a:lstStyle/>
          <a:p>
            <a:pPr indent="0" marL="0">
              <a:buNone/>
            </a:pPr>
            <a:r>
              <a:rPr lang="en-US" sz="1150" dirty="0">
                <a:solidFill>
                  <a:srgbClr val="6E6355"/>
                </a:solidFill>
                <a:latin typeface="Calibri" pitchFamily="34" charset="0"/>
                <a:ea typeface="Calibri" pitchFamily="34" charset="-122"/>
                <a:cs typeface="Calibri" pitchFamily="34" charset="-120"/>
              </a:rPr>
              <a:t>Websites, platforms, commerce</a:t>
            </a:r>
            <a:endParaRPr lang="en-US" sz="1150" dirty="0"/>
          </a:p>
        </p:txBody>
      </p:sp>
      <p:sp>
        <p:nvSpPr>
          <p:cNvPr id="14" name="Shape 12"/>
          <p:cNvSpPr/>
          <p:nvPr/>
        </p:nvSpPr>
        <p:spPr>
          <a:xfrm>
            <a:off x="6217920" y="3666744"/>
            <a:ext cx="292608" cy="292608"/>
          </a:xfrm>
          <a:prstGeom prst="ellipse">
            <a:avLst/>
          </a:prstGeom>
          <a:solidFill>
            <a:srgbClr val="8A6A3A"/>
          </a:solidFill>
          <a:ln/>
        </p:spPr>
      </p:sp>
      <p:sp>
        <p:nvSpPr>
          <p:cNvPr id="15" name="Text 13"/>
          <p:cNvSpPr txBox="1"/>
          <p:nvPr/>
        </p:nvSpPr>
        <p:spPr>
          <a:xfrm>
            <a:off x="6693408" y="3611880"/>
            <a:ext cx="4572000" cy="365760"/>
          </a:xfrm>
          <a:prstGeom prst="rect">
            <a:avLst/>
          </a:prstGeom>
          <a:noFill/>
          <a:ln/>
        </p:spPr>
        <p:txBody>
          <a:bodyPr wrap="square" lIns="0" tIns="0" rIns="0" bIns="0" rtlCol="0" anchor="t"/>
          <a:lstStyle/>
          <a:p>
            <a:pPr indent="0" marL="0">
              <a:buNone/>
            </a:pPr>
            <a:r>
              <a:rPr lang="en-US" sz="1600" b="1" dirty="0">
                <a:solidFill>
                  <a:srgbClr val="2A2118"/>
                </a:solidFill>
                <a:latin typeface="Cambria" pitchFamily="34" charset="0"/>
                <a:ea typeface="Cambria" pitchFamily="34" charset="-122"/>
                <a:cs typeface="Cambria" pitchFamily="34" charset="-120"/>
              </a:rPr>
              <a:t>Communications and PR</a:t>
            </a:r>
            <a:endParaRPr lang="en-US" sz="1600" dirty="0"/>
          </a:p>
        </p:txBody>
      </p:sp>
      <p:sp>
        <p:nvSpPr>
          <p:cNvPr id="16" name="Text 14"/>
          <p:cNvSpPr txBox="1"/>
          <p:nvPr/>
        </p:nvSpPr>
        <p:spPr>
          <a:xfrm>
            <a:off x="6693408" y="4023360"/>
            <a:ext cx="4572000" cy="365760"/>
          </a:xfrm>
          <a:prstGeom prst="rect">
            <a:avLst/>
          </a:prstGeom>
          <a:noFill/>
          <a:ln/>
        </p:spPr>
        <p:txBody>
          <a:bodyPr wrap="square" lIns="0" tIns="0" rIns="0" bIns="0" rtlCol="0" anchor="t"/>
          <a:lstStyle/>
          <a:p>
            <a:pPr indent="0" marL="0">
              <a:buNone/>
            </a:pPr>
            <a:r>
              <a:rPr lang="en-US" sz="1150" dirty="0">
                <a:solidFill>
                  <a:srgbClr val="6E6355"/>
                </a:solidFill>
                <a:latin typeface="Calibri" pitchFamily="34" charset="0"/>
                <a:ea typeface="Calibri" pitchFamily="34" charset="-122"/>
                <a:cs typeface="Calibri" pitchFamily="34" charset="-120"/>
              </a:rPr>
              <a:t>Media relations, content, reputation</a:t>
            </a:r>
            <a:endParaRPr lang="en-US" sz="1150" dirty="0"/>
          </a:p>
        </p:txBody>
      </p:sp>
      <p:sp>
        <p:nvSpPr>
          <p:cNvPr id="17" name="Shape 15"/>
          <p:cNvSpPr/>
          <p:nvPr/>
        </p:nvSpPr>
        <p:spPr>
          <a:xfrm>
            <a:off x="777240" y="4946904"/>
            <a:ext cx="292608" cy="292608"/>
          </a:xfrm>
          <a:prstGeom prst="ellipse">
            <a:avLst/>
          </a:prstGeom>
          <a:solidFill>
            <a:srgbClr val="8A6A3A"/>
          </a:solidFill>
          <a:ln/>
        </p:spPr>
      </p:sp>
      <p:sp>
        <p:nvSpPr>
          <p:cNvPr id="18" name="Text 16"/>
          <p:cNvSpPr txBox="1"/>
          <p:nvPr/>
        </p:nvSpPr>
        <p:spPr>
          <a:xfrm>
            <a:off x="1252728" y="4892040"/>
            <a:ext cx="4572000" cy="365760"/>
          </a:xfrm>
          <a:prstGeom prst="rect">
            <a:avLst/>
          </a:prstGeom>
          <a:noFill/>
          <a:ln/>
        </p:spPr>
        <p:txBody>
          <a:bodyPr wrap="square" lIns="0" tIns="0" rIns="0" bIns="0" rtlCol="0" anchor="t"/>
          <a:lstStyle/>
          <a:p>
            <a:pPr indent="0" marL="0">
              <a:buNone/>
            </a:pPr>
            <a:r>
              <a:rPr lang="en-US" sz="1600" b="1" dirty="0">
                <a:solidFill>
                  <a:srgbClr val="2A2118"/>
                </a:solidFill>
                <a:latin typeface="Cambria" pitchFamily="34" charset="0"/>
                <a:ea typeface="Cambria" pitchFamily="34" charset="-122"/>
                <a:cs typeface="Cambria" pitchFamily="34" charset="-120"/>
              </a:rPr>
              <a:t>Media planning and buying</a:t>
            </a:r>
            <a:endParaRPr lang="en-US" sz="1600" dirty="0"/>
          </a:p>
        </p:txBody>
      </p:sp>
      <p:sp>
        <p:nvSpPr>
          <p:cNvPr id="19" name="Text 17"/>
          <p:cNvSpPr txBox="1"/>
          <p:nvPr/>
        </p:nvSpPr>
        <p:spPr>
          <a:xfrm>
            <a:off x="1252728" y="5303520"/>
            <a:ext cx="4572000" cy="365760"/>
          </a:xfrm>
          <a:prstGeom prst="rect">
            <a:avLst/>
          </a:prstGeom>
          <a:noFill/>
          <a:ln/>
        </p:spPr>
        <p:txBody>
          <a:bodyPr wrap="square" lIns="0" tIns="0" rIns="0" bIns="0" rtlCol="0" anchor="t"/>
          <a:lstStyle/>
          <a:p>
            <a:pPr indent="0" marL="0">
              <a:buNone/>
            </a:pPr>
            <a:r>
              <a:rPr lang="en-US" sz="1150" dirty="0">
                <a:solidFill>
                  <a:srgbClr val="6E6355"/>
                </a:solidFill>
                <a:latin typeface="Calibri" pitchFamily="34" charset="0"/>
                <a:ea typeface="Calibri" pitchFamily="34" charset="-122"/>
                <a:cs typeface="Calibri" pitchFamily="34" charset="-120"/>
              </a:rPr>
              <a:t>Paid media across channels</a:t>
            </a:r>
            <a:endParaRPr lang="en-US" sz="1150" dirty="0"/>
          </a:p>
        </p:txBody>
      </p:sp>
      <p:sp>
        <p:nvSpPr>
          <p:cNvPr id="20" name="Shape 18"/>
          <p:cNvSpPr/>
          <p:nvPr/>
        </p:nvSpPr>
        <p:spPr>
          <a:xfrm>
            <a:off x="6217920" y="4946904"/>
            <a:ext cx="292608" cy="292608"/>
          </a:xfrm>
          <a:prstGeom prst="ellipse">
            <a:avLst/>
          </a:prstGeom>
          <a:solidFill>
            <a:srgbClr val="8A6A3A"/>
          </a:solidFill>
          <a:ln/>
        </p:spPr>
      </p:sp>
      <p:sp>
        <p:nvSpPr>
          <p:cNvPr id="21" name="Text 19"/>
          <p:cNvSpPr txBox="1"/>
          <p:nvPr/>
        </p:nvSpPr>
        <p:spPr>
          <a:xfrm>
            <a:off x="6693408" y="4892040"/>
            <a:ext cx="4572000" cy="365760"/>
          </a:xfrm>
          <a:prstGeom prst="rect">
            <a:avLst/>
          </a:prstGeom>
          <a:noFill/>
          <a:ln/>
        </p:spPr>
        <p:txBody>
          <a:bodyPr wrap="square" lIns="0" tIns="0" rIns="0" bIns="0" rtlCol="0" anchor="t"/>
          <a:lstStyle/>
          <a:p>
            <a:pPr indent="0" marL="0">
              <a:buNone/>
            </a:pPr>
            <a:r>
              <a:rPr lang="en-US" sz="1600" b="1" dirty="0">
                <a:solidFill>
                  <a:srgbClr val="2A2118"/>
                </a:solidFill>
                <a:latin typeface="Cambria" pitchFamily="34" charset="0"/>
                <a:ea typeface="Cambria" pitchFamily="34" charset="-122"/>
                <a:cs typeface="Cambria" pitchFamily="34" charset="-120"/>
              </a:rPr>
              <a:t>Production, photography and events</a:t>
            </a:r>
            <a:endParaRPr lang="en-US" sz="1600" dirty="0"/>
          </a:p>
        </p:txBody>
      </p:sp>
      <p:sp>
        <p:nvSpPr>
          <p:cNvPr id="22" name="Text 20"/>
          <p:cNvSpPr txBox="1"/>
          <p:nvPr/>
        </p:nvSpPr>
        <p:spPr>
          <a:xfrm>
            <a:off x="6693408" y="5303520"/>
            <a:ext cx="4572000" cy="365760"/>
          </a:xfrm>
          <a:prstGeom prst="rect">
            <a:avLst/>
          </a:prstGeom>
          <a:noFill/>
          <a:ln/>
        </p:spPr>
        <p:txBody>
          <a:bodyPr wrap="square" lIns="0" tIns="0" rIns="0" bIns="0" rtlCol="0" anchor="t"/>
          <a:lstStyle/>
          <a:p>
            <a:pPr indent="0" marL="0">
              <a:buNone/>
            </a:pPr>
            <a:r>
              <a:rPr lang="en-US" sz="1150" dirty="0">
                <a:solidFill>
                  <a:srgbClr val="6E6355"/>
                </a:solidFill>
                <a:latin typeface="Calibri" pitchFamily="34" charset="0"/>
                <a:ea typeface="Calibri" pitchFamily="34" charset="-122"/>
                <a:cs typeface="Calibri" pitchFamily="34" charset="-120"/>
              </a:rPr>
              <a:t>Shoots, fabrication, delivery</a:t>
            </a:r>
            <a:endParaRPr lang="en-US" sz="1150" dirty="0"/>
          </a:p>
        </p:txBody>
      </p:sp>
      <p:sp>
        <p:nvSpPr>
          <p:cNvPr id="23" name="Text 21"/>
          <p:cNvSpPr txBox="1"/>
          <p:nvPr/>
        </p:nvSpPr>
        <p:spPr>
          <a:xfrm>
            <a:off x="777240" y="6035040"/>
            <a:ext cx="7315200" cy="274320"/>
          </a:xfrm>
          <a:prstGeom prst="rect">
            <a:avLst/>
          </a:prstGeom>
          <a:noFill/>
          <a:ln/>
        </p:spPr>
        <p:txBody>
          <a:bodyPr wrap="square" lIns="0" tIns="0" rIns="0" bIns="0" rtlCol="0" anchor="ctr"/>
          <a:lstStyle/>
          <a:p>
            <a:pPr indent="0" marL="0">
              <a:buNone/>
            </a:pPr>
            <a:r>
              <a:rPr lang="en-US" sz="1000" b="1" spc="100" kern="0" dirty="0">
                <a:solidFill>
                  <a:srgbClr val="A79C8C"/>
                </a:solidFill>
                <a:latin typeface="Calibri" pitchFamily="34" charset="0"/>
                <a:ea typeface="Calibri" pitchFamily="34" charset="-122"/>
                <a:cs typeface="Calibri" pitchFamily="34" charset="-120"/>
              </a:rPr>
              <a:t>[MARK EACH — IN-HOUSE OR PARTNER]</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DE4"/>
        </a:solidFill>
      </p:bgPr>
    </p:bg>
    <p:spTree>
      <p:nvGrpSpPr>
        <p:cNvPr id="1" name=""/>
        <p:cNvGrpSpPr/>
        <p:nvPr/>
      </p:nvGrpSpPr>
      <p:grpSpPr>
        <a:xfrm>
          <a:off x="0" y="0"/>
          <a:ext cx="0" cy="0"/>
          <a:chOff x="0" y="0"/>
          <a:chExt cx="0" cy="0"/>
        </a:xfrm>
      </p:grpSpPr>
      <p:sp>
        <p:nvSpPr>
          <p:cNvPr id="2" name="Text 0"/>
          <p:cNvSpPr txBox="1"/>
          <p:nvPr/>
        </p:nvSpPr>
        <p:spPr>
          <a:xfrm>
            <a:off x="11109960" y="6309360"/>
            <a:ext cx="548640" cy="274320"/>
          </a:xfrm>
          <a:prstGeom prst="rect">
            <a:avLst/>
          </a:prstGeom>
          <a:noFill/>
          <a:ln/>
        </p:spPr>
        <p:txBody>
          <a:bodyPr wrap="square" rtlCol="0" anchor="ctr"/>
          <a:lstStyle/>
          <a:p>
            <a:pPr algn="r" indent="0" marL="0">
              <a:buNone/>
            </a:pPr>
            <a:r>
              <a:rPr lang="en-US" sz="900" b="1" spc="150" kern="0" dirty="0">
                <a:solidFill>
                  <a:srgbClr val="A79C8C"/>
                </a:solidFill>
                <a:latin typeface="Calibri" pitchFamily="34" charset="0"/>
                <a:ea typeface="Calibri" pitchFamily="34" charset="-122"/>
                <a:cs typeface="Calibri" pitchFamily="34" charset="-120"/>
              </a:rPr>
              <a:t>20</a:t>
            </a:r>
            <a:endParaRPr lang="en-US" sz="900" dirty="0"/>
          </a:p>
        </p:txBody>
      </p:sp>
      <p:sp>
        <p:nvSpPr>
          <p:cNvPr id="3" name="Text 1"/>
          <p:cNvSpPr txBox="1"/>
          <p:nvPr/>
        </p:nvSpPr>
        <p:spPr>
          <a:xfrm>
            <a:off x="777240" y="548640"/>
            <a:ext cx="8686800" cy="256032"/>
          </a:xfrm>
          <a:prstGeom prst="rect">
            <a:avLst/>
          </a:prstGeom>
          <a:noFill/>
          <a:ln/>
        </p:spPr>
        <p:txBody>
          <a:bodyPr wrap="square" lIns="0" tIns="0" rIns="0" bIns="0" rtlCol="0" anchor="ctr"/>
          <a:lstStyle/>
          <a:p>
            <a:pPr indent="0" marL="0">
              <a:buNone/>
            </a:pPr>
            <a:r>
              <a:rPr lang="en-US" sz="950" b="1" spc="260" kern="0" dirty="0">
                <a:solidFill>
                  <a:srgbClr val="8A6A3A"/>
                </a:solidFill>
                <a:latin typeface="Calibri" pitchFamily="34" charset="0"/>
                <a:ea typeface="Calibri" pitchFamily="34" charset="-122"/>
                <a:cs typeface="Calibri" pitchFamily="34" charset="-120"/>
              </a:rPr>
              <a:t>HOW WE WORK</a:t>
            </a:r>
            <a:endParaRPr lang="en-US" sz="950" dirty="0"/>
          </a:p>
        </p:txBody>
      </p:sp>
      <p:sp>
        <p:nvSpPr>
          <p:cNvPr id="4" name="Text 2"/>
          <p:cNvSpPr txBox="1"/>
          <p:nvPr/>
        </p:nvSpPr>
        <p:spPr>
          <a:xfrm>
            <a:off x="777240" y="960120"/>
            <a:ext cx="8229600" cy="914400"/>
          </a:xfrm>
          <a:prstGeom prst="rect">
            <a:avLst/>
          </a:prstGeom>
          <a:noFill/>
          <a:ln/>
        </p:spPr>
        <p:txBody>
          <a:bodyPr wrap="square" lIns="0" tIns="0" rIns="0" bIns="0" rtlCol="0" anchor="t"/>
          <a:lstStyle/>
          <a:p>
            <a:pPr indent="0" marL="0">
              <a:lnSpc>
                <a:spcPts val="3800"/>
              </a:lnSpc>
              <a:buNone/>
            </a:pPr>
            <a:r>
              <a:rPr lang="en-US" sz="3200" dirty="0">
                <a:solidFill>
                  <a:srgbClr val="2A2118"/>
                </a:solidFill>
                <a:latin typeface="Cambria" pitchFamily="34" charset="0"/>
                <a:ea typeface="Cambria" pitchFamily="34" charset="-122"/>
                <a:cs typeface="Cambria" pitchFamily="34" charset="-120"/>
              </a:rPr>
              <a:t>Three things we do before anything goes live.</a:t>
            </a:r>
            <a:endParaRPr lang="en-US" sz="3200" dirty="0"/>
          </a:p>
        </p:txBody>
      </p:sp>
      <p:sp>
        <p:nvSpPr>
          <p:cNvPr id="5" name="Text 3"/>
          <p:cNvSpPr txBox="1"/>
          <p:nvPr/>
        </p:nvSpPr>
        <p:spPr>
          <a:xfrm>
            <a:off x="777240" y="2377440"/>
            <a:ext cx="777240" cy="640080"/>
          </a:xfrm>
          <a:prstGeom prst="rect">
            <a:avLst/>
          </a:prstGeom>
          <a:noFill/>
          <a:ln/>
        </p:spPr>
        <p:txBody>
          <a:bodyPr wrap="square" lIns="0" tIns="0" rIns="0" bIns="0" rtlCol="0" anchor="ctr"/>
          <a:lstStyle/>
          <a:p>
            <a:pPr indent="0" marL="0">
              <a:buNone/>
            </a:pPr>
            <a:r>
              <a:rPr lang="en-US" sz="3000" b="1" dirty="0">
                <a:solidFill>
                  <a:srgbClr val="8A6A3A"/>
                </a:solidFill>
                <a:latin typeface="Cambria" pitchFamily="34" charset="0"/>
                <a:ea typeface="Cambria" pitchFamily="34" charset="-122"/>
                <a:cs typeface="Cambria" pitchFamily="34" charset="-120"/>
              </a:rPr>
              <a:t>01</a:t>
            </a:r>
            <a:endParaRPr lang="en-US" sz="3000" dirty="0"/>
          </a:p>
        </p:txBody>
      </p:sp>
      <p:sp>
        <p:nvSpPr>
          <p:cNvPr id="6" name="Text 4"/>
          <p:cNvSpPr txBox="1"/>
          <p:nvPr/>
        </p:nvSpPr>
        <p:spPr>
          <a:xfrm>
            <a:off x="1691640" y="2395728"/>
            <a:ext cx="9509760" cy="384048"/>
          </a:xfrm>
          <a:prstGeom prst="rect">
            <a:avLst/>
          </a:prstGeom>
          <a:noFill/>
          <a:ln/>
        </p:spPr>
        <p:txBody>
          <a:bodyPr wrap="square" lIns="0" tIns="0" rIns="0" bIns="0" rtlCol="0" anchor="t"/>
          <a:lstStyle/>
          <a:p>
            <a:pPr indent="0" marL="0">
              <a:buNone/>
            </a:pPr>
            <a:r>
              <a:rPr lang="en-US" sz="1800" b="1" dirty="0">
                <a:solidFill>
                  <a:srgbClr val="2A2118"/>
                </a:solidFill>
                <a:latin typeface="Cambria" pitchFamily="34" charset="0"/>
                <a:ea typeface="Cambria" pitchFamily="34" charset="-122"/>
                <a:cs typeface="Cambria" pitchFamily="34" charset="-120"/>
              </a:rPr>
              <a:t>Success defined before spend</a:t>
            </a:r>
            <a:endParaRPr lang="en-US" sz="1800" dirty="0"/>
          </a:p>
        </p:txBody>
      </p:sp>
      <p:sp>
        <p:nvSpPr>
          <p:cNvPr id="7" name="Text 5"/>
          <p:cNvSpPr txBox="1"/>
          <p:nvPr/>
        </p:nvSpPr>
        <p:spPr>
          <a:xfrm>
            <a:off x="1691640" y="2834640"/>
            <a:ext cx="9326880" cy="640080"/>
          </a:xfrm>
          <a:prstGeom prst="rect">
            <a:avLst/>
          </a:prstGeom>
          <a:noFill/>
          <a:ln/>
        </p:spPr>
        <p:txBody>
          <a:bodyPr wrap="square" lIns="0" tIns="0" rIns="0" bIns="0" rtlCol="0" anchor="t"/>
          <a:lstStyle/>
          <a:p>
            <a:pPr indent="0" marL="0">
              <a:lnSpc>
                <a:spcPts val="1700"/>
              </a:lnSpc>
              <a:buNone/>
            </a:pPr>
            <a:r>
              <a:rPr lang="en-US" sz="1250" dirty="0">
                <a:solidFill>
                  <a:srgbClr val="6E6355"/>
                </a:solidFill>
                <a:latin typeface="Calibri" pitchFamily="34" charset="0"/>
                <a:ea typeface="Calibri" pitchFamily="34" charset="-122"/>
                <a:cs typeface="Calibri" pitchFamily="34" charset="-120"/>
              </a:rPr>
              <a:t>The objective, the audience and the measure are written down first, so there is no argument about it afterwards.</a:t>
            </a:r>
            <a:endParaRPr lang="en-US" sz="1250" dirty="0"/>
          </a:p>
        </p:txBody>
      </p:sp>
      <p:sp>
        <p:nvSpPr>
          <p:cNvPr id="8" name="Text 6"/>
          <p:cNvSpPr txBox="1"/>
          <p:nvPr/>
        </p:nvSpPr>
        <p:spPr>
          <a:xfrm>
            <a:off x="777240" y="3703320"/>
            <a:ext cx="777240" cy="640080"/>
          </a:xfrm>
          <a:prstGeom prst="rect">
            <a:avLst/>
          </a:prstGeom>
          <a:noFill/>
          <a:ln/>
        </p:spPr>
        <p:txBody>
          <a:bodyPr wrap="square" lIns="0" tIns="0" rIns="0" bIns="0" rtlCol="0" anchor="ctr"/>
          <a:lstStyle/>
          <a:p>
            <a:pPr indent="0" marL="0">
              <a:buNone/>
            </a:pPr>
            <a:r>
              <a:rPr lang="en-US" sz="3000" b="1" dirty="0">
                <a:solidFill>
                  <a:srgbClr val="8A6A3A"/>
                </a:solidFill>
                <a:latin typeface="Cambria" pitchFamily="34" charset="0"/>
                <a:ea typeface="Cambria" pitchFamily="34" charset="-122"/>
                <a:cs typeface="Cambria" pitchFamily="34" charset="-120"/>
              </a:rPr>
              <a:t>02</a:t>
            </a:r>
            <a:endParaRPr lang="en-US" sz="3000" dirty="0"/>
          </a:p>
        </p:txBody>
      </p:sp>
      <p:sp>
        <p:nvSpPr>
          <p:cNvPr id="9" name="Text 7"/>
          <p:cNvSpPr txBox="1"/>
          <p:nvPr/>
        </p:nvSpPr>
        <p:spPr>
          <a:xfrm>
            <a:off x="1691640" y="3721608"/>
            <a:ext cx="9509760" cy="384048"/>
          </a:xfrm>
          <a:prstGeom prst="rect">
            <a:avLst/>
          </a:prstGeom>
          <a:noFill/>
          <a:ln/>
        </p:spPr>
        <p:txBody>
          <a:bodyPr wrap="square" lIns="0" tIns="0" rIns="0" bIns="0" rtlCol="0" anchor="t"/>
          <a:lstStyle/>
          <a:p>
            <a:pPr indent="0" marL="0">
              <a:buNone/>
            </a:pPr>
            <a:r>
              <a:rPr lang="en-US" sz="1800" b="1" dirty="0">
                <a:solidFill>
                  <a:srgbClr val="2A2118"/>
                </a:solidFill>
                <a:latin typeface="Cambria" pitchFamily="34" charset="0"/>
                <a:ea typeface="Cambria" pitchFamily="34" charset="-122"/>
                <a:cs typeface="Cambria" pitchFamily="34" charset="-120"/>
              </a:rPr>
              <a:t>Measurement built before launch</a:t>
            </a:r>
            <a:endParaRPr lang="en-US" sz="1800" dirty="0"/>
          </a:p>
        </p:txBody>
      </p:sp>
      <p:sp>
        <p:nvSpPr>
          <p:cNvPr id="10" name="Text 8"/>
          <p:cNvSpPr txBox="1"/>
          <p:nvPr/>
        </p:nvSpPr>
        <p:spPr>
          <a:xfrm>
            <a:off x="1691640" y="4160520"/>
            <a:ext cx="9326880" cy="640080"/>
          </a:xfrm>
          <a:prstGeom prst="rect">
            <a:avLst/>
          </a:prstGeom>
          <a:noFill/>
          <a:ln/>
        </p:spPr>
        <p:txBody>
          <a:bodyPr wrap="square" lIns="0" tIns="0" rIns="0" bIns="0" rtlCol="0" anchor="t"/>
          <a:lstStyle/>
          <a:p>
            <a:pPr indent="0" marL="0">
              <a:lnSpc>
                <a:spcPts val="1700"/>
              </a:lnSpc>
              <a:buNone/>
            </a:pPr>
            <a:r>
              <a:rPr lang="en-US" sz="1250" dirty="0">
                <a:solidFill>
                  <a:srgbClr val="6E6355"/>
                </a:solidFill>
                <a:latin typeface="Calibri" pitchFamily="34" charset="0"/>
                <a:ea typeface="Calibri" pitchFamily="34" charset="-122"/>
                <a:cs typeface="Calibri" pitchFamily="34" charset="-120"/>
              </a:rPr>
              <a:t>Tracking, conversions and reporting are built and tested before the first impression, not retrofitted.</a:t>
            </a:r>
            <a:endParaRPr lang="en-US" sz="1250" dirty="0"/>
          </a:p>
        </p:txBody>
      </p:sp>
      <p:sp>
        <p:nvSpPr>
          <p:cNvPr id="11" name="Text 9"/>
          <p:cNvSpPr txBox="1"/>
          <p:nvPr/>
        </p:nvSpPr>
        <p:spPr>
          <a:xfrm>
            <a:off x="777240" y="5029200"/>
            <a:ext cx="777240" cy="640080"/>
          </a:xfrm>
          <a:prstGeom prst="rect">
            <a:avLst/>
          </a:prstGeom>
          <a:noFill/>
          <a:ln/>
        </p:spPr>
        <p:txBody>
          <a:bodyPr wrap="square" lIns="0" tIns="0" rIns="0" bIns="0" rtlCol="0" anchor="ctr"/>
          <a:lstStyle/>
          <a:p>
            <a:pPr indent="0" marL="0">
              <a:buNone/>
            </a:pPr>
            <a:r>
              <a:rPr lang="en-US" sz="3000" b="1" dirty="0">
                <a:solidFill>
                  <a:srgbClr val="8A6A3A"/>
                </a:solidFill>
                <a:latin typeface="Cambria" pitchFamily="34" charset="0"/>
                <a:ea typeface="Cambria" pitchFamily="34" charset="-122"/>
                <a:cs typeface="Cambria" pitchFamily="34" charset="-120"/>
              </a:rPr>
              <a:t>03</a:t>
            </a:r>
            <a:endParaRPr lang="en-US" sz="3000" dirty="0"/>
          </a:p>
        </p:txBody>
      </p:sp>
      <p:sp>
        <p:nvSpPr>
          <p:cNvPr id="12" name="Text 10"/>
          <p:cNvSpPr txBox="1"/>
          <p:nvPr/>
        </p:nvSpPr>
        <p:spPr>
          <a:xfrm>
            <a:off x="1691640" y="5047488"/>
            <a:ext cx="9509760" cy="384048"/>
          </a:xfrm>
          <a:prstGeom prst="rect">
            <a:avLst/>
          </a:prstGeom>
          <a:noFill/>
          <a:ln/>
        </p:spPr>
        <p:txBody>
          <a:bodyPr wrap="square" lIns="0" tIns="0" rIns="0" bIns="0" rtlCol="0" anchor="t"/>
          <a:lstStyle/>
          <a:p>
            <a:pPr indent="0" marL="0">
              <a:buNone/>
            </a:pPr>
            <a:r>
              <a:rPr lang="en-US" sz="1800" b="1" dirty="0">
                <a:solidFill>
                  <a:srgbClr val="2A2118"/>
                </a:solidFill>
                <a:latin typeface="Cambria" pitchFamily="34" charset="0"/>
                <a:ea typeface="Cambria" pitchFamily="34" charset="-122"/>
                <a:cs typeface="Cambria" pitchFamily="34" charset="-120"/>
              </a:rPr>
              <a:t>Everything built in your name</a:t>
            </a:r>
            <a:endParaRPr lang="en-US" sz="1800" dirty="0"/>
          </a:p>
        </p:txBody>
      </p:sp>
      <p:sp>
        <p:nvSpPr>
          <p:cNvPr id="13" name="Text 11"/>
          <p:cNvSpPr txBox="1"/>
          <p:nvPr/>
        </p:nvSpPr>
        <p:spPr>
          <a:xfrm>
            <a:off x="1691640" y="5486400"/>
            <a:ext cx="9326880" cy="640080"/>
          </a:xfrm>
          <a:prstGeom prst="rect">
            <a:avLst/>
          </a:prstGeom>
          <a:noFill/>
          <a:ln/>
        </p:spPr>
        <p:txBody>
          <a:bodyPr wrap="square" lIns="0" tIns="0" rIns="0" bIns="0" rtlCol="0" anchor="t"/>
          <a:lstStyle/>
          <a:p>
            <a:pPr indent="0" marL="0">
              <a:lnSpc>
                <a:spcPts val="1700"/>
              </a:lnSpc>
              <a:buNone/>
            </a:pPr>
            <a:r>
              <a:rPr lang="en-US" sz="1250" dirty="0">
                <a:solidFill>
                  <a:srgbClr val="6E6355"/>
                </a:solidFill>
                <a:latin typeface="Calibri" pitchFamily="34" charset="0"/>
                <a:ea typeface="Calibri" pitchFamily="34" charset="-122"/>
                <a:cs typeface="Calibri" pitchFamily="34" charset="-120"/>
              </a:rPr>
              <a:t>Platforms, advertising accounts, analytics and CRM are created under your company. The data and the history are yours.</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EDE4"/>
        </a:solidFill>
      </p:bgPr>
    </p:bg>
    <p:spTree>
      <p:nvGrpSpPr>
        <p:cNvPr id="1" name=""/>
        <p:cNvGrpSpPr/>
        <p:nvPr/>
      </p:nvGrpSpPr>
      <p:grpSpPr>
        <a:xfrm>
          <a:off x="0" y="0"/>
          <a:ext cx="0" cy="0"/>
          <a:chOff x="0" y="0"/>
          <a:chExt cx="0" cy="0"/>
        </a:xfrm>
      </p:grpSpPr>
      <p:sp>
        <p:nvSpPr>
          <p:cNvPr id="2" name="Text 0"/>
          <p:cNvSpPr txBox="1"/>
          <p:nvPr/>
        </p:nvSpPr>
        <p:spPr>
          <a:xfrm>
            <a:off x="11109960" y="6309360"/>
            <a:ext cx="548640" cy="274320"/>
          </a:xfrm>
          <a:prstGeom prst="rect">
            <a:avLst/>
          </a:prstGeom>
          <a:noFill/>
          <a:ln/>
        </p:spPr>
        <p:txBody>
          <a:bodyPr wrap="square" rtlCol="0" anchor="ctr"/>
          <a:lstStyle/>
          <a:p>
            <a:pPr algn="r" indent="0" marL="0">
              <a:buNone/>
            </a:pPr>
            <a:r>
              <a:rPr lang="en-US" sz="900" b="1" spc="150" kern="0" dirty="0">
                <a:solidFill>
                  <a:srgbClr val="A79C8C"/>
                </a:solidFill>
                <a:latin typeface="Calibri" pitchFamily="34" charset="0"/>
                <a:ea typeface="Calibri" pitchFamily="34" charset="-122"/>
                <a:cs typeface="Calibri" pitchFamily="34" charset="-120"/>
              </a:rPr>
              <a:t>21</a:t>
            </a:r>
            <a:endParaRPr lang="en-US" sz="900" dirty="0"/>
          </a:p>
        </p:txBody>
      </p:sp>
      <p:sp>
        <p:nvSpPr>
          <p:cNvPr id="3" name="Text 1"/>
          <p:cNvSpPr txBox="1"/>
          <p:nvPr/>
        </p:nvSpPr>
        <p:spPr>
          <a:xfrm>
            <a:off x="777240" y="548640"/>
            <a:ext cx="8686800" cy="256032"/>
          </a:xfrm>
          <a:prstGeom prst="rect">
            <a:avLst/>
          </a:prstGeom>
          <a:noFill/>
          <a:ln/>
        </p:spPr>
        <p:txBody>
          <a:bodyPr wrap="square" lIns="0" tIns="0" rIns="0" bIns="0" rtlCol="0" anchor="ctr"/>
          <a:lstStyle/>
          <a:p>
            <a:pPr indent="0" marL="0">
              <a:buNone/>
            </a:pPr>
            <a:r>
              <a:rPr lang="en-US" sz="950" b="1" spc="260" kern="0" dirty="0">
                <a:solidFill>
                  <a:srgbClr val="8A6A3A"/>
                </a:solidFill>
                <a:latin typeface="Calibri" pitchFamily="34" charset="0"/>
                <a:ea typeface="Calibri" pitchFamily="34" charset="-122"/>
                <a:cs typeface="Calibri" pitchFamily="34" charset="-120"/>
              </a:rPr>
              <a:t>HOW AN ENGAGEMENT RUNS</a:t>
            </a:r>
            <a:endParaRPr lang="en-US" sz="950" dirty="0"/>
          </a:p>
        </p:txBody>
      </p:sp>
      <p:sp>
        <p:nvSpPr>
          <p:cNvPr id="4" name="Text 2"/>
          <p:cNvSpPr txBox="1"/>
          <p:nvPr/>
        </p:nvSpPr>
        <p:spPr>
          <a:xfrm>
            <a:off x="777240" y="960120"/>
            <a:ext cx="8686800" cy="914400"/>
          </a:xfrm>
          <a:prstGeom prst="rect">
            <a:avLst/>
          </a:prstGeom>
          <a:noFill/>
          <a:ln/>
        </p:spPr>
        <p:txBody>
          <a:bodyPr wrap="square" lIns="0" tIns="0" rIns="0" bIns="0" rtlCol="0" anchor="t"/>
          <a:lstStyle/>
          <a:p>
            <a:pPr indent="0" marL="0">
              <a:lnSpc>
                <a:spcPts val="3600"/>
              </a:lnSpc>
              <a:buNone/>
            </a:pPr>
            <a:r>
              <a:rPr lang="en-US" sz="3000" dirty="0">
                <a:solidFill>
                  <a:srgbClr val="2A2118"/>
                </a:solidFill>
                <a:latin typeface="Cambria" pitchFamily="34" charset="0"/>
                <a:ea typeface="Cambria" pitchFamily="34" charset="-122"/>
                <a:cs typeface="Cambria" pitchFamily="34" charset="-120"/>
              </a:rPr>
              <a:t>One contract, one team, one point of accountability.</a:t>
            </a:r>
            <a:endParaRPr lang="en-US" sz="3000" dirty="0"/>
          </a:p>
        </p:txBody>
      </p:sp>
      <p:sp>
        <p:nvSpPr>
          <p:cNvPr id="5" name="Shape 3"/>
          <p:cNvSpPr/>
          <p:nvPr/>
        </p:nvSpPr>
        <p:spPr>
          <a:xfrm>
            <a:off x="777240" y="2423160"/>
            <a:ext cx="3291840" cy="2697480"/>
          </a:xfrm>
          <a:prstGeom prst="rect">
            <a:avLst/>
          </a:prstGeom>
          <a:solidFill>
            <a:srgbClr val="E7E0D3"/>
          </a:solidFill>
          <a:ln/>
        </p:spPr>
      </p:sp>
      <p:sp>
        <p:nvSpPr>
          <p:cNvPr id="6" name="Text 4"/>
          <p:cNvSpPr txBox="1"/>
          <p:nvPr/>
        </p:nvSpPr>
        <p:spPr>
          <a:xfrm>
            <a:off x="1033272" y="2651760"/>
            <a:ext cx="548640" cy="548640"/>
          </a:xfrm>
          <a:prstGeom prst="rect">
            <a:avLst/>
          </a:prstGeom>
          <a:noFill/>
          <a:ln/>
        </p:spPr>
        <p:txBody>
          <a:bodyPr wrap="square" lIns="0" tIns="0" rIns="0" bIns="0" rtlCol="0" anchor="ctr"/>
          <a:lstStyle/>
          <a:p>
            <a:pPr indent="0" marL="0">
              <a:buNone/>
            </a:pPr>
            <a:r>
              <a:rPr lang="en-US" sz="2600" b="1" dirty="0">
                <a:solidFill>
                  <a:srgbClr val="8A6A3A"/>
                </a:solidFill>
                <a:latin typeface="Cambria" pitchFamily="34" charset="0"/>
                <a:ea typeface="Cambria" pitchFamily="34" charset="-122"/>
                <a:cs typeface="Cambria" pitchFamily="34" charset="-120"/>
              </a:rPr>
              <a:t>1</a:t>
            </a:r>
            <a:endParaRPr lang="en-US" sz="2600" dirty="0"/>
          </a:p>
        </p:txBody>
      </p:sp>
      <p:sp>
        <p:nvSpPr>
          <p:cNvPr id="7" name="Text 5"/>
          <p:cNvSpPr txBox="1"/>
          <p:nvPr/>
        </p:nvSpPr>
        <p:spPr>
          <a:xfrm>
            <a:off x="1033272" y="3246120"/>
            <a:ext cx="2743200" cy="411480"/>
          </a:xfrm>
          <a:prstGeom prst="rect">
            <a:avLst/>
          </a:prstGeom>
          <a:noFill/>
          <a:ln/>
        </p:spPr>
        <p:txBody>
          <a:bodyPr wrap="square" lIns="0" tIns="0" rIns="0" bIns="0" rtlCol="0" anchor="t"/>
          <a:lstStyle/>
          <a:p>
            <a:pPr indent="0" marL="0">
              <a:buNone/>
            </a:pPr>
            <a:r>
              <a:rPr lang="en-US" sz="1900" b="1" dirty="0">
                <a:solidFill>
                  <a:srgbClr val="2A2118"/>
                </a:solidFill>
                <a:latin typeface="Cambria" pitchFamily="34" charset="0"/>
                <a:ea typeface="Cambria" pitchFamily="34" charset="-122"/>
                <a:cs typeface="Cambria" pitchFamily="34" charset="-120"/>
              </a:rPr>
              <a:t>Definition</a:t>
            </a:r>
            <a:endParaRPr lang="en-US" sz="1900" dirty="0"/>
          </a:p>
        </p:txBody>
      </p:sp>
      <p:sp>
        <p:nvSpPr>
          <p:cNvPr id="8" name="Text 6"/>
          <p:cNvSpPr txBox="1"/>
          <p:nvPr/>
        </p:nvSpPr>
        <p:spPr>
          <a:xfrm>
            <a:off x="1033272" y="3767328"/>
            <a:ext cx="2788920" cy="1234440"/>
          </a:xfrm>
          <a:prstGeom prst="rect">
            <a:avLst/>
          </a:prstGeom>
          <a:noFill/>
          <a:ln/>
        </p:spPr>
        <p:txBody>
          <a:bodyPr wrap="square" lIns="0" tIns="0" rIns="0" bIns="0" rtlCol="0" anchor="t"/>
          <a:lstStyle/>
          <a:p>
            <a:pPr indent="0" marL="0">
              <a:lnSpc>
                <a:spcPts val="1600"/>
              </a:lnSpc>
              <a:buNone/>
            </a:pPr>
            <a:r>
              <a:rPr lang="en-US" sz="1150" dirty="0">
                <a:solidFill>
                  <a:srgbClr val="6E6355"/>
                </a:solidFill>
                <a:latin typeface="Calibri" pitchFamily="34" charset="0"/>
                <a:ea typeface="Calibri" pitchFamily="34" charset="-122"/>
                <a:cs typeface="Calibri" pitchFamily="34" charset="-120"/>
              </a:rPr>
              <a:t>A short paid stage. Objective, audience, positioning and the measure of success, agreed and written down.</a:t>
            </a:r>
            <a:endParaRPr lang="en-US" sz="1150" dirty="0"/>
          </a:p>
        </p:txBody>
      </p:sp>
      <p:sp>
        <p:nvSpPr>
          <p:cNvPr id="9" name="Shape 7"/>
          <p:cNvSpPr/>
          <p:nvPr/>
        </p:nvSpPr>
        <p:spPr>
          <a:xfrm>
            <a:off x="4389120" y="2423160"/>
            <a:ext cx="3291840" cy="2697480"/>
          </a:xfrm>
          <a:prstGeom prst="rect">
            <a:avLst/>
          </a:prstGeom>
          <a:solidFill>
            <a:srgbClr val="E7E0D3"/>
          </a:solidFill>
          <a:ln/>
        </p:spPr>
      </p:sp>
      <p:sp>
        <p:nvSpPr>
          <p:cNvPr id="10" name="Text 8"/>
          <p:cNvSpPr txBox="1"/>
          <p:nvPr/>
        </p:nvSpPr>
        <p:spPr>
          <a:xfrm>
            <a:off x="4645152" y="2651760"/>
            <a:ext cx="548640" cy="548640"/>
          </a:xfrm>
          <a:prstGeom prst="rect">
            <a:avLst/>
          </a:prstGeom>
          <a:noFill/>
          <a:ln/>
        </p:spPr>
        <p:txBody>
          <a:bodyPr wrap="square" lIns="0" tIns="0" rIns="0" bIns="0" rtlCol="0" anchor="ctr"/>
          <a:lstStyle/>
          <a:p>
            <a:pPr indent="0" marL="0">
              <a:buNone/>
            </a:pPr>
            <a:r>
              <a:rPr lang="en-US" sz="2600" b="1" dirty="0">
                <a:solidFill>
                  <a:srgbClr val="8A6A3A"/>
                </a:solidFill>
                <a:latin typeface="Cambria" pitchFamily="34" charset="0"/>
                <a:ea typeface="Cambria" pitchFamily="34" charset="-122"/>
                <a:cs typeface="Cambria" pitchFamily="34" charset="-120"/>
              </a:rPr>
              <a:t>2</a:t>
            </a:r>
            <a:endParaRPr lang="en-US" sz="2600" dirty="0"/>
          </a:p>
        </p:txBody>
      </p:sp>
      <p:sp>
        <p:nvSpPr>
          <p:cNvPr id="11" name="Text 9"/>
          <p:cNvSpPr txBox="1"/>
          <p:nvPr/>
        </p:nvSpPr>
        <p:spPr>
          <a:xfrm>
            <a:off x="4645152" y="3246120"/>
            <a:ext cx="2743200" cy="411480"/>
          </a:xfrm>
          <a:prstGeom prst="rect">
            <a:avLst/>
          </a:prstGeom>
          <a:noFill/>
          <a:ln/>
        </p:spPr>
        <p:txBody>
          <a:bodyPr wrap="square" lIns="0" tIns="0" rIns="0" bIns="0" rtlCol="0" anchor="t"/>
          <a:lstStyle/>
          <a:p>
            <a:pPr indent="0" marL="0">
              <a:buNone/>
            </a:pPr>
            <a:r>
              <a:rPr lang="en-US" sz="1900" b="1" dirty="0">
                <a:solidFill>
                  <a:srgbClr val="2A2118"/>
                </a:solidFill>
                <a:latin typeface="Cambria" pitchFamily="34" charset="0"/>
                <a:ea typeface="Cambria" pitchFamily="34" charset="-122"/>
                <a:cs typeface="Cambria" pitchFamily="34" charset="-120"/>
              </a:rPr>
              <a:t>Build</a:t>
            </a:r>
            <a:endParaRPr lang="en-US" sz="1900" dirty="0"/>
          </a:p>
        </p:txBody>
      </p:sp>
      <p:sp>
        <p:nvSpPr>
          <p:cNvPr id="12" name="Text 10"/>
          <p:cNvSpPr txBox="1"/>
          <p:nvPr/>
        </p:nvSpPr>
        <p:spPr>
          <a:xfrm>
            <a:off x="4645152" y="3767328"/>
            <a:ext cx="2788920" cy="1234440"/>
          </a:xfrm>
          <a:prstGeom prst="rect">
            <a:avLst/>
          </a:prstGeom>
          <a:noFill/>
          <a:ln/>
        </p:spPr>
        <p:txBody>
          <a:bodyPr wrap="square" lIns="0" tIns="0" rIns="0" bIns="0" rtlCol="0" anchor="t"/>
          <a:lstStyle/>
          <a:p>
            <a:pPr indent="0" marL="0">
              <a:lnSpc>
                <a:spcPts val="1600"/>
              </a:lnSpc>
              <a:buNone/>
            </a:pPr>
            <a:r>
              <a:rPr lang="en-US" sz="1150" dirty="0">
                <a:solidFill>
                  <a:srgbClr val="6E6355"/>
                </a:solidFill>
                <a:latin typeface="Calibri" pitchFamily="34" charset="0"/>
                <a:ea typeface="Calibri" pitchFamily="34" charset="-122"/>
                <a:cs typeface="Calibri" pitchFamily="34" charset="-120"/>
              </a:rPr>
              <a:t>Platforms, measurement and creative built against that definition, in your name.</a:t>
            </a:r>
            <a:endParaRPr lang="en-US" sz="1150" dirty="0"/>
          </a:p>
        </p:txBody>
      </p:sp>
      <p:sp>
        <p:nvSpPr>
          <p:cNvPr id="13" name="Shape 11"/>
          <p:cNvSpPr/>
          <p:nvPr/>
        </p:nvSpPr>
        <p:spPr>
          <a:xfrm>
            <a:off x="8001000" y="2423160"/>
            <a:ext cx="3291840" cy="2697480"/>
          </a:xfrm>
          <a:prstGeom prst="rect">
            <a:avLst/>
          </a:prstGeom>
          <a:solidFill>
            <a:srgbClr val="E7E0D3"/>
          </a:solidFill>
          <a:ln/>
        </p:spPr>
      </p:sp>
      <p:sp>
        <p:nvSpPr>
          <p:cNvPr id="14" name="Text 12"/>
          <p:cNvSpPr txBox="1"/>
          <p:nvPr/>
        </p:nvSpPr>
        <p:spPr>
          <a:xfrm>
            <a:off x="8257032" y="2651760"/>
            <a:ext cx="548640" cy="548640"/>
          </a:xfrm>
          <a:prstGeom prst="rect">
            <a:avLst/>
          </a:prstGeom>
          <a:noFill/>
          <a:ln/>
        </p:spPr>
        <p:txBody>
          <a:bodyPr wrap="square" lIns="0" tIns="0" rIns="0" bIns="0" rtlCol="0" anchor="ctr"/>
          <a:lstStyle/>
          <a:p>
            <a:pPr indent="0" marL="0">
              <a:buNone/>
            </a:pPr>
            <a:r>
              <a:rPr lang="en-US" sz="2600" b="1" dirty="0">
                <a:solidFill>
                  <a:srgbClr val="8A6A3A"/>
                </a:solidFill>
                <a:latin typeface="Cambria" pitchFamily="34" charset="0"/>
                <a:ea typeface="Cambria" pitchFamily="34" charset="-122"/>
                <a:cs typeface="Cambria" pitchFamily="34" charset="-120"/>
              </a:rPr>
              <a:t>3</a:t>
            </a:r>
            <a:endParaRPr lang="en-US" sz="2600" dirty="0"/>
          </a:p>
        </p:txBody>
      </p:sp>
      <p:sp>
        <p:nvSpPr>
          <p:cNvPr id="15" name="Text 13"/>
          <p:cNvSpPr txBox="1"/>
          <p:nvPr/>
        </p:nvSpPr>
        <p:spPr>
          <a:xfrm>
            <a:off x="8257032" y="3246120"/>
            <a:ext cx="2743200" cy="411480"/>
          </a:xfrm>
          <a:prstGeom prst="rect">
            <a:avLst/>
          </a:prstGeom>
          <a:noFill/>
          <a:ln/>
        </p:spPr>
        <p:txBody>
          <a:bodyPr wrap="square" lIns="0" tIns="0" rIns="0" bIns="0" rtlCol="0" anchor="t"/>
          <a:lstStyle/>
          <a:p>
            <a:pPr indent="0" marL="0">
              <a:buNone/>
            </a:pPr>
            <a:r>
              <a:rPr lang="en-US" sz="1900" b="1" dirty="0">
                <a:solidFill>
                  <a:srgbClr val="2A2118"/>
                </a:solidFill>
                <a:latin typeface="Cambria" pitchFamily="34" charset="0"/>
                <a:ea typeface="Cambria" pitchFamily="34" charset="-122"/>
                <a:cs typeface="Cambria" pitchFamily="34" charset="-120"/>
              </a:rPr>
              <a:t>Run</a:t>
            </a:r>
            <a:endParaRPr lang="en-US" sz="1900" dirty="0"/>
          </a:p>
        </p:txBody>
      </p:sp>
      <p:sp>
        <p:nvSpPr>
          <p:cNvPr id="16" name="Text 14"/>
          <p:cNvSpPr txBox="1"/>
          <p:nvPr/>
        </p:nvSpPr>
        <p:spPr>
          <a:xfrm>
            <a:off x="8257032" y="3767328"/>
            <a:ext cx="2788920" cy="1234440"/>
          </a:xfrm>
          <a:prstGeom prst="rect">
            <a:avLst/>
          </a:prstGeom>
          <a:noFill/>
          <a:ln/>
        </p:spPr>
        <p:txBody>
          <a:bodyPr wrap="square" lIns="0" tIns="0" rIns="0" bIns="0" rtlCol="0" anchor="t"/>
          <a:lstStyle/>
          <a:p>
            <a:pPr indent="0" marL="0">
              <a:lnSpc>
                <a:spcPts val="1600"/>
              </a:lnSpc>
              <a:buNone/>
            </a:pPr>
            <a:r>
              <a:rPr lang="en-US" sz="1150" dirty="0">
                <a:solidFill>
                  <a:srgbClr val="6E6355"/>
                </a:solidFill>
                <a:latin typeface="Calibri" pitchFamily="34" charset="0"/>
                <a:ea typeface="Calibri" pitchFamily="34" charset="-122"/>
                <a:cs typeface="Calibri" pitchFamily="34" charset="-120"/>
              </a:rPr>
              <a:t>Delivery, reporting and optimisation on a fixed cadence, with one senior contact throughout.</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DE4"/>
        </a:solidFill>
      </p:bgPr>
    </p:bg>
    <p:spTree>
      <p:nvGrpSpPr>
        <p:cNvPr id="1" name=""/>
        <p:cNvGrpSpPr/>
        <p:nvPr/>
      </p:nvGrpSpPr>
      <p:grpSpPr>
        <a:xfrm>
          <a:off x="0" y="0"/>
          <a:ext cx="0" cy="0"/>
          <a:chOff x="0" y="0"/>
          <a:chExt cx="0" cy="0"/>
        </a:xfrm>
      </p:grpSpPr>
      <p:sp>
        <p:nvSpPr>
          <p:cNvPr id="2" name="Text 0"/>
          <p:cNvSpPr txBox="1"/>
          <p:nvPr/>
        </p:nvSpPr>
        <p:spPr>
          <a:xfrm>
            <a:off x="11109960" y="6309360"/>
            <a:ext cx="548640" cy="274320"/>
          </a:xfrm>
          <a:prstGeom prst="rect">
            <a:avLst/>
          </a:prstGeom>
          <a:noFill/>
          <a:ln/>
        </p:spPr>
        <p:txBody>
          <a:bodyPr wrap="square" rtlCol="0" anchor="ctr"/>
          <a:lstStyle/>
          <a:p>
            <a:pPr algn="r" indent="0" marL="0">
              <a:buNone/>
            </a:pPr>
            <a:r>
              <a:rPr lang="en-US" sz="900" b="1" spc="150" kern="0" dirty="0">
                <a:solidFill>
                  <a:srgbClr val="A79C8C"/>
                </a:solidFill>
                <a:latin typeface="Calibri" pitchFamily="34" charset="0"/>
                <a:ea typeface="Calibri" pitchFamily="34" charset="-122"/>
                <a:cs typeface="Calibri" pitchFamily="34" charset="-120"/>
              </a:rPr>
              <a:t>22</a:t>
            </a:r>
            <a:endParaRPr lang="en-US" sz="900" dirty="0"/>
          </a:p>
        </p:txBody>
      </p:sp>
      <p:sp>
        <p:nvSpPr>
          <p:cNvPr id="3" name="Text 1"/>
          <p:cNvSpPr txBox="1"/>
          <p:nvPr/>
        </p:nvSpPr>
        <p:spPr>
          <a:xfrm>
            <a:off x="777240" y="548640"/>
            <a:ext cx="8686800" cy="256032"/>
          </a:xfrm>
          <a:prstGeom prst="rect">
            <a:avLst/>
          </a:prstGeom>
          <a:noFill/>
          <a:ln/>
        </p:spPr>
        <p:txBody>
          <a:bodyPr wrap="square" lIns="0" tIns="0" rIns="0" bIns="0" rtlCol="0" anchor="ctr"/>
          <a:lstStyle/>
          <a:p>
            <a:pPr indent="0" marL="0">
              <a:buNone/>
            </a:pPr>
            <a:r>
              <a:rPr lang="en-US" sz="950" b="1" spc="260" kern="0" dirty="0">
                <a:solidFill>
                  <a:srgbClr val="8A6A3A"/>
                </a:solidFill>
                <a:latin typeface="Calibri" pitchFamily="34" charset="0"/>
                <a:ea typeface="Calibri" pitchFamily="34" charset="-122"/>
                <a:cs typeface="Calibri" pitchFamily="34" charset="-120"/>
              </a:rPr>
              <a:t>THE TEAM</a:t>
            </a:r>
            <a:endParaRPr lang="en-US" sz="950" dirty="0"/>
          </a:p>
        </p:txBody>
      </p:sp>
      <p:sp>
        <p:nvSpPr>
          <p:cNvPr id="4" name="Text 2"/>
          <p:cNvSpPr txBox="1"/>
          <p:nvPr/>
        </p:nvSpPr>
        <p:spPr>
          <a:xfrm>
            <a:off x="777240" y="960120"/>
            <a:ext cx="8229600" cy="914400"/>
          </a:xfrm>
          <a:prstGeom prst="rect">
            <a:avLst/>
          </a:prstGeom>
          <a:noFill/>
          <a:ln/>
        </p:spPr>
        <p:txBody>
          <a:bodyPr wrap="square" lIns="0" tIns="0" rIns="0" bIns="0" rtlCol="0" anchor="t"/>
          <a:lstStyle/>
          <a:p>
            <a:pPr indent="0" marL="0">
              <a:lnSpc>
                <a:spcPts val="3800"/>
              </a:lnSpc>
              <a:buNone/>
            </a:pPr>
            <a:r>
              <a:rPr lang="en-US" sz="3200" dirty="0">
                <a:solidFill>
                  <a:srgbClr val="2A2118"/>
                </a:solidFill>
                <a:latin typeface="Cambria" pitchFamily="34" charset="0"/>
                <a:ea typeface="Cambria" pitchFamily="34" charset="-122"/>
                <a:cs typeface="Cambria" pitchFamily="34" charset="-120"/>
              </a:rPr>
              <a:t>The people who would run your account.</a:t>
            </a:r>
            <a:endParaRPr lang="en-US" sz="3200" dirty="0"/>
          </a:p>
        </p:txBody>
      </p:sp>
      <p:sp>
        <p:nvSpPr>
          <p:cNvPr id="5" name="Shape 3"/>
          <p:cNvSpPr/>
          <p:nvPr/>
        </p:nvSpPr>
        <p:spPr>
          <a:xfrm>
            <a:off x="777240" y="2377440"/>
            <a:ext cx="2468880" cy="2331720"/>
          </a:xfrm>
          <a:prstGeom prst="rect">
            <a:avLst/>
          </a:prstGeom>
          <a:solidFill>
            <a:srgbClr val="F2EDE4"/>
          </a:solidFill>
          <a:ln w="12700">
            <a:solidFill>
              <a:srgbClr val="D9D1C2"/>
            </a:solidFill>
            <a:prstDash val="dash"/>
          </a:ln>
        </p:spPr>
      </p:sp>
      <p:sp>
        <p:nvSpPr>
          <p:cNvPr id="6" name="Text 4"/>
          <p:cNvSpPr txBox="1"/>
          <p:nvPr/>
        </p:nvSpPr>
        <p:spPr>
          <a:xfrm>
            <a:off x="886968" y="3177540"/>
            <a:ext cx="2249424" cy="731520"/>
          </a:xfrm>
          <a:prstGeom prst="rect">
            <a:avLst/>
          </a:prstGeom>
          <a:noFill/>
          <a:ln/>
        </p:spPr>
        <p:txBody>
          <a:bodyPr wrap="square" rtlCol="0" anchor="ctr"/>
          <a:lstStyle/>
          <a:p>
            <a:pPr algn="ctr" indent="0" marL="0">
              <a:buNone/>
            </a:pPr>
            <a:r>
              <a:rPr lang="en-US" sz="950" b="1" spc="130" kern="0" dirty="0">
                <a:solidFill>
                  <a:srgbClr val="A79C8C"/>
                </a:solidFill>
                <a:latin typeface="Calibri" pitchFamily="34" charset="0"/>
                <a:ea typeface="Calibri" pitchFamily="34" charset="-122"/>
                <a:cs typeface="Calibri" pitchFamily="34" charset="-120"/>
              </a:rPr>
              <a:t>Portrait</a:t>
            </a:r>
            <a:endParaRPr lang="en-US" sz="950" dirty="0"/>
          </a:p>
        </p:txBody>
      </p:sp>
      <p:sp>
        <p:nvSpPr>
          <p:cNvPr id="7" name="Text 5"/>
          <p:cNvSpPr txBox="1"/>
          <p:nvPr/>
        </p:nvSpPr>
        <p:spPr>
          <a:xfrm>
            <a:off x="777240" y="4846320"/>
            <a:ext cx="2468880" cy="320040"/>
          </a:xfrm>
          <a:prstGeom prst="rect">
            <a:avLst/>
          </a:prstGeom>
          <a:noFill/>
          <a:ln/>
        </p:spPr>
        <p:txBody>
          <a:bodyPr wrap="square" lIns="0" tIns="0" rIns="0" bIns="0" rtlCol="0" anchor="ctr"/>
          <a:lstStyle/>
          <a:p>
            <a:pPr indent="0" marL="0">
              <a:buNone/>
            </a:pPr>
            <a:r>
              <a:rPr lang="en-US" sz="1500" b="1" dirty="0">
                <a:solidFill>
                  <a:srgbClr val="2A2118"/>
                </a:solidFill>
                <a:latin typeface="Cambria" pitchFamily="34" charset="0"/>
                <a:ea typeface="Cambria" pitchFamily="34" charset="-122"/>
                <a:cs typeface="Cambria" pitchFamily="34" charset="-120"/>
              </a:rPr>
              <a:t>[NAME]</a:t>
            </a:r>
            <a:endParaRPr lang="en-US" sz="1500" dirty="0"/>
          </a:p>
        </p:txBody>
      </p:sp>
      <p:sp>
        <p:nvSpPr>
          <p:cNvPr id="8" name="Text 6"/>
          <p:cNvSpPr txBox="1"/>
          <p:nvPr/>
        </p:nvSpPr>
        <p:spPr>
          <a:xfrm>
            <a:off x="777240" y="5193792"/>
            <a:ext cx="2468880" cy="502920"/>
          </a:xfrm>
          <a:prstGeom prst="rect">
            <a:avLst/>
          </a:prstGeom>
          <a:noFill/>
          <a:ln/>
        </p:spPr>
        <p:txBody>
          <a:bodyPr wrap="square" lIns="0" tIns="0" rIns="0" bIns="0" rtlCol="0" anchor="t"/>
          <a:lstStyle/>
          <a:p>
            <a:pPr indent="0" marL="0">
              <a:lnSpc>
                <a:spcPts val="1500"/>
              </a:lnSpc>
              <a:buNone/>
            </a:pPr>
            <a:r>
              <a:rPr lang="en-US" sz="1100" dirty="0">
                <a:solidFill>
                  <a:srgbClr val="6E6355"/>
                </a:solidFill>
                <a:latin typeface="Calibri" pitchFamily="34" charset="0"/>
                <a:ea typeface="Calibri" pitchFamily="34" charset="-122"/>
                <a:cs typeface="Calibri" pitchFamily="34" charset="-120"/>
              </a:rPr>
              <a:t>[Role] · [one line]</a:t>
            </a:r>
            <a:endParaRPr lang="en-US" sz="1100" dirty="0"/>
          </a:p>
        </p:txBody>
      </p:sp>
      <p:sp>
        <p:nvSpPr>
          <p:cNvPr id="9" name="Shape 7"/>
          <p:cNvSpPr/>
          <p:nvPr/>
        </p:nvSpPr>
        <p:spPr>
          <a:xfrm>
            <a:off x="3502152" y="2377440"/>
            <a:ext cx="2468880" cy="2331720"/>
          </a:xfrm>
          <a:prstGeom prst="rect">
            <a:avLst/>
          </a:prstGeom>
          <a:solidFill>
            <a:srgbClr val="F2EDE4"/>
          </a:solidFill>
          <a:ln w="12700">
            <a:solidFill>
              <a:srgbClr val="D9D1C2"/>
            </a:solidFill>
            <a:prstDash val="dash"/>
          </a:ln>
        </p:spPr>
      </p:sp>
      <p:sp>
        <p:nvSpPr>
          <p:cNvPr id="10" name="Text 8"/>
          <p:cNvSpPr txBox="1"/>
          <p:nvPr/>
        </p:nvSpPr>
        <p:spPr>
          <a:xfrm>
            <a:off x="3611880" y="3177540"/>
            <a:ext cx="2249424" cy="731520"/>
          </a:xfrm>
          <a:prstGeom prst="rect">
            <a:avLst/>
          </a:prstGeom>
          <a:noFill/>
          <a:ln/>
        </p:spPr>
        <p:txBody>
          <a:bodyPr wrap="square" rtlCol="0" anchor="ctr"/>
          <a:lstStyle/>
          <a:p>
            <a:pPr algn="ctr" indent="0" marL="0">
              <a:buNone/>
            </a:pPr>
            <a:r>
              <a:rPr lang="en-US" sz="950" b="1" spc="130" kern="0" dirty="0">
                <a:solidFill>
                  <a:srgbClr val="A79C8C"/>
                </a:solidFill>
                <a:latin typeface="Calibri" pitchFamily="34" charset="0"/>
                <a:ea typeface="Calibri" pitchFamily="34" charset="-122"/>
                <a:cs typeface="Calibri" pitchFamily="34" charset="-120"/>
              </a:rPr>
              <a:t>Portrait</a:t>
            </a:r>
            <a:endParaRPr lang="en-US" sz="950" dirty="0"/>
          </a:p>
        </p:txBody>
      </p:sp>
      <p:sp>
        <p:nvSpPr>
          <p:cNvPr id="11" name="Text 9"/>
          <p:cNvSpPr txBox="1"/>
          <p:nvPr/>
        </p:nvSpPr>
        <p:spPr>
          <a:xfrm>
            <a:off x="3502152" y="4846320"/>
            <a:ext cx="2468880" cy="320040"/>
          </a:xfrm>
          <a:prstGeom prst="rect">
            <a:avLst/>
          </a:prstGeom>
          <a:noFill/>
          <a:ln/>
        </p:spPr>
        <p:txBody>
          <a:bodyPr wrap="square" lIns="0" tIns="0" rIns="0" bIns="0" rtlCol="0" anchor="ctr"/>
          <a:lstStyle/>
          <a:p>
            <a:pPr indent="0" marL="0">
              <a:buNone/>
            </a:pPr>
            <a:r>
              <a:rPr lang="en-US" sz="1500" b="1" dirty="0">
                <a:solidFill>
                  <a:srgbClr val="2A2118"/>
                </a:solidFill>
                <a:latin typeface="Cambria" pitchFamily="34" charset="0"/>
                <a:ea typeface="Cambria" pitchFamily="34" charset="-122"/>
                <a:cs typeface="Cambria" pitchFamily="34" charset="-120"/>
              </a:rPr>
              <a:t>[NAME]</a:t>
            </a:r>
            <a:endParaRPr lang="en-US" sz="1500" dirty="0"/>
          </a:p>
        </p:txBody>
      </p:sp>
      <p:sp>
        <p:nvSpPr>
          <p:cNvPr id="12" name="Text 10"/>
          <p:cNvSpPr txBox="1"/>
          <p:nvPr/>
        </p:nvSpPr>
        <p:spPr>
          <a:xfrm>
            <a:off x="3502152" y="5193792"/>
            <a:ext cx="2468880" cy="502920"/>
          </a:xfrm>
          <a:prstGeom prst="rect">
            <a:avLst/>
          </a:prstGeom>
          <a:noFill/>
          <a:ln/>
        </p:spPr>
        <p:txBody>
          <a:bodyPr wrap="square" lIns="0" tIns="0" rIns="0" bIns="0" rtlCol="0" anchor="t"/>
          <a:lstStyle/>
          <a:p>
            <a:pPr indent="0" marL="0">
              <a:lnSpc>
                <a:spcPts val="1500"/>
              </a:lnSpc>
              <a:buNone/>
            </a:pPr>
            <a:r>
              <a:rPr lang="en-US" sz="1100" dirty="0">
                <a:solidFill>
                  <a:srgbClr val="6E6355"/>
                </a:solidFill>
                <a:latin typeface="Calibri" pitchFamily="34" charset="0"/>
                <a:ea typeface="Calibri" pitchFamily="34" charset="-122"/>
                <a:cs typeface="Calibri" pitchFamily="34" charset="-120"/>
              </a:rPr>
              <a:t>[Role] · [one line]</a:t>
            </a:r>
            <a:endParaRPr lang="en-US" sz="1100" dirty="0"/>
          </a:p>
        </p:txBody>
      </p:sp>
      <p:sp>
        <p:nvSpPr>
          <p:cNvPr id="13" name="Shape 11"/>
          <p:cNvSpPr/>
          <p:nvPr/>
        </p:nvSpPr>
        <p:spPr>
          <a:xfrm>
            <a:off x="6227064" y="2377440"/>
            <a:ext cx="2468880" cy="2331720"/>
          </a:xfrm>
          <a:prstGeom prst="rect">
            <a:avLst/>
          </a:prstGeom>
          <a:solidFill>
            <a:srgbClr val="F2EDE4"/>
          </a:solidFill>
          <a:ln w="12700">
            <a:solidFill>
              <a:srgbClr val="D9D1C2"/>
            </a:solidFill>
            <a:prstDash val="dash"/>
          </a:ln>
        </p:spPr>
      </p:sp>
      <p:sp>
        <p:nvSpPr>
          <p:cNvPr id="14" name="Text 12"/>
          <p:cNvSpPr txBox="1"/>
          <p:nvPr/>
        </p:nvSpPr>
        <p:spPr>
          <a:xfrm>
            <a:off x="6336792" y="3177540"/>
            <a:ext cx="2249424" cy="731520"/>
          </a:xfrm>
          <a:prstGeom prst="rect">
            <a:avLst/>
          </a:prstGeom>
          <a:noFill/>
          <a:ln/>
        </p:spPr>
        <p:txBody>
          <a:bodyPr wrap="square" rtlCol="0" anchor="ctr"/>
          <a:lstStyle/>
          <a:p>
            <a:pPr algn="ctr" indent="0" marL="0">
              <a:buNone/>
            </a:pPr>
            <a:r>
              <a:rPr lang="en-US" sz="950" b="1" spc="130" kern="0" dirty="0">
                <a:solidFill>
                  <a:srgbClr val="A79C8C"/>
                </a:solidFill>
                <a:latin typeface="Calibri" pitchFamily="34" charset="0"/>
                <a:ea typeface="Calibri" pitchFamily="34" charset="-122"/>
                <a:cs typeface="Calibri" pitchFamily="34" charset="-120"/>
              </a:rPr>
              <a:t>Portrait</a:t>
            </a:r>
            <a:endParaRPr lang="en-US" sz="950" dirty="0"/>
          </a:p>
        </p:txBody>
      </p:sp>
      <p:sp>
        <p:nvSpPr>
          <p:cNvPr id="15" name="Text 13"/>
          <p:cNvSpPr txBox="1"/>
          <p:nvPr/>
        </p:nvSpPr>
        <p:spPr>
          <a:xfrm>
            <a:off x="6227064" y="4846320"/>
            <a:ext cx="2468880" cy="320040"/>
          </a:xfrm>
          <a:prstGeom prst="rect">
            <a:avLst/>
          </a:prstGeom>
          <a:noFill/>
          <a:ln/>
        </p:spPr>
        <p:txBody>
          <a:bodyPr wrap="square" lIns="0" tIns="0" rIns="0" bIns="0" rtlCol="0" anchor="ctr"/>
          <a:lstStyle/>
          <a:p>
            <a:pPr indent="0" marL="0">
              <a:buNone/>
            </a:pPr>
            <a:r>
              <a:rPr lang="en-US" sz="1500" b="1" dirty="0">
                <a:solidFill>
                  <a:srgbClr val="2A2118"/>
                </a:solidFill>
                <a:latin typeface="Cambria" pitchFamily="34" charset="0"/>
                <a:ea typeface="Cambria" pitchFamily="34" charset="-122"/>
                <a:cs typeface="Cambria" pitchFamily="34" charset="-120"/>
              </a:rPr>
              <a:t>[NAME]</a:t>
            </a:r>
            <a:endParaRPr lang="en-US" sz="1500" dirty="0"/>
          </a:p>
        </p:txBody>
      </p:sp>
      <p:sp>
        <p:nvSpPr>
          <p:cNvPr id="16" name="Text 14"/>
          <p:cNvSpPr txBox="1"/>
          <p:nvPr/>
        </p:nvSpPr>
        <p:spPr>
          <a:xfrm>
            <a:off x="6227064" y="5193792"/>
            <a:ext cx="2468880" cy="502920"/>
          </a:xfrm>
          <a:prstGeom prst="rect">
            <a:avLst/>
          </a:prstGeom>
          <a:noFill/>
          <a:ln/>
        </p:spPr>
        <p:txBody>
          <a:bodyPr wrap="square" lIns="0" tIns="0" rIns="0" bIns="0" rtlCol="0" anchor="t"/>
          <a:lstStyle/>
          <a:p>
            <a:pPr indent="0" marL="0">
              <a:lnSpc>
                <a:spcPts val="1500"/>
              </a:lnSpc>
              <a:buNone/>
            </a:pPr>
            <a:r>
              <a:rPr lang="en-US" sz="1100" dirty="0">
                <a:solidFill>
                  <a:srgbClr val="6E6355"/>
                </a:solidFill>
                <a:latin typeface="Calibri" pitchFamily="34" charset="0"/>
                <a:ea typeface="Calibri" pitchFamily="34" charset="-122"/>
                <a:cs typeface="Calibri" pitchFamily="34" charset="-120"/>
              </a:rPr>
              <a:t>[Role] · [one line]</a:t>
            </a:r>
            <a:endParaRPr lang="en-US" sz="1100" dirty="0"/>
          </a:p>
        </p:txBody>
      </p:sp>
      <p:sp>
        <p:nvSpPr>
          <p:cNvPr id="17" name="Shape 15"/>
          <p:cNvSpPr/>
          <p:nvPr/>
        </p:nvSpPr>
        <p:spPr>
          <a:xfrm>
            <a:off x="8951976" y="2377440"/>
            <a:ext cx="2468880" cy="2331720"/>
          </a:xfrm>
          <a:prstGeom prst="rect">
            <a:avLst/>
          </a:prstGeom>
          <a:solidFill>
            <a:srgbClr val="F2EDE4"/>
          </a:solidFill>
          <a:ln w="12700">
            <a:solidFill>
              <a:srgbClr val="D9D1C2"/>
            </a:solidFill>
            <a:prstDash val="dash"/>
          </a:ln>
        </p:spPr>
      </p:sp>
      <p:sp>
        <p:nvSpPr>
          <p:cNvPr id="18" name="Text 16"/>
          <p:cNvSpPr txBox="1"/>
          <p:nvPr/>
        </p:nvSpPr>
        <p:spPr>
          <a:xfrm>
            <a:off x="9061704" y="3177540"/>
            <a:ext cx="2249424" cy="731520"/>
          </a:xfrm>
          <a:prstGeom prst="rect">
            <a:avLst/>
          </a:prstGeom>
          <a:noFill/>
          <a:ln/>
        </p:spPr>
        <p:txBody>
          <a:bodyPr wrap="square" rtlCol="0" anchor="ctr"/>
          <a:lstStyle/>
          <a:p>
            <a:pPr algn="ctr" indent="0" marL="0">
              <a:buNone/>
            </a:pPr>
            <a:r>
              <a:rPr lang="en-US" sz="950" b="1" spc="130" kern="0" dirty="0">
                <a:solidFill>
                  <a:srgbClr val="A79C8C"/>
                </a:solidFill>
                <a:latin typeface="Calibri" pitchFamily="34" charset="0"/>
                <a:ea typeface="Calibri" pitchFamily="34" charset="-122"/>
                <a:cs typeface="Calibri" pitchFamily="34" charset="-120"/>
              </a:rPr>
              <a:t>Portrait</a:t>
            </a:r>
            <a:endParaRPr lang="en-US" sz="950" dirty="0"/>
          </a:p>
        </p:txBody>
      </p:sp>
      <p:sp>
        <p:nvSpPr>
          <p:cNvPr id="19" name="Text 17"/>
          <p:cNvSpPr txBox="1"/>
          <p:nvPr/>
        </p:nvSpPr>
        <p:spPr>
          <a:xfrm>
            <a:off x="8951976" y="4846320"/>
            <a:ext cx="2468880" cy="320040"/>
          </a:xfrm>
          <a:prstGeom prst="rect">
            <a:avLst/>
          </a:prstGeom>
          <a:noFill/>
          <a:ln/>
        </p:spPr>
        <p:txBody>
          <a:bodyPr wrap="square" lIns="0" tIns="0" rIns="0" bIns="0" rtlCol="0" anchor="ctr"/>
          <a:lstStyle/>
          <a:p>
            <a:pPr indent="0" marL="0">
              <a:buNone/>
            </a:pPr>
            <a:r>
              <a:rPr lang="en-US" sz="1500" b="1" dirty="0">
                <a:solidFill>
                  <a:srgbClr val="2A2118"/>
                </a:solidFill>
                <a:latin typeface="Cambria" pitchFamily="34" charset="0"/>
                <a:ea typeface="Cambria" pitchFamily="34" charset="-122"/>
                <a:cs typeface="Cambria" pitchFamily="34" charset="-120"/>
              </a:rPr>
              <a:t>[NAME]</a:t>
            </a:r>
            <a:endParaRPr lang="en-US" sz="1500" dirty="0"/>
          </a:p>
        </p:txBody>
      </p:sp>
      <p:sp>
        <p:nvSpPr>
          <p:cNvPr id="20" name="Text 18"/>
          <p:cNvSpPr txBox="1"/>
          <p:nvPr/>
        </p:nvSpPr>
        <p:spPr>
          <a:xfrm>
            <a:off x="8951976" y="5193792"/>
            <a:ext cx="2468880" cy="502920"/>
          </a:xfrm>
          <a:prstGeom prst="rect">
            <a:avLst/>
          </a:prstGeom>
          <a:noFill/>
          <a:ln/>
        </p:spPr>
        <p:txBody>
          <a:bodyPr wrap="square" lIns="0" tIns="0" rIns="0" bIns="0" rtlCol="0" anchor="t"/>
          <a:lstStyle/>
          <a:p>
            <a:pPr indent="0" marL="0">
              <a:lnSpc>
                <a:spcPts val="1500"/>
              </a:lnSpc>
              <a:buNone/>
            </a:pPr>
            <a:r>
              <a:rPr lang="en-US" sz="1100" dirty="0">
                <a:solidFill>
                  <a:srgbClr val="6E6355"/>
                </a:solidFill>
                <a:latin typeface="Calibri" pitchFamily="34" charset="0"/>
                <a:ea typeface="Calibri" pitchFamily="34" charset="-122"/>
                <a:cs typeface="Calibri" pitchFamily="34" charset="-120"/>
              </a:rPr>
              <a:t>[Role] · [one line]</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DE4"/>
        </a:solidFill>
      </p:bgPr>
    </p:bg>
    <p:spTree>
      <p:nvGrpSpPr>
        <p:cNvPr id="1" name=""/>
        <p:cNvGrpSpPr/>
        <p:nvPr/>
      </p:nvGrpSpPr>
      <p:grpSpPr>
        <a:xfrm>
          <a:off x="0" y="0"/>
          <a:ext cx="0" cy="0"/>
          <a:chOff x="0" y="0"/>
          <a:chExt cx="0" cy="0"/>
        </a:xfrm>
      </p:grpSpPr>
      <p:sp>
        <p:nvSpPr>
          <p:cNvPr id="2" name="Text 0"/>
          <p:cNvSpPr txBox="1"/>
          <p:nvPr/>
        </p:nvSpPr>
        <p:spPr>
          <a:xfrm>
            <a:off x="11109960" y="6309360"/>
            <a:ext cx="548640" cy="274320"/>
          </a:xfrm>
          <a:prstGeom prst="rect">
            <a:avLst/>
          </a:prstGeom>
          <a:noFill/>
          <a:ln/>
        </p:spPr>
        <p:txBody>
          <a:bodyPr wrap="square" rtlCol="0" anchor="ctr"/>
          <a:lstStyle/>
          <a:p>
            <a:pPr algn="r" indent="0" marL="0">
              <a:buNone/>
            </a:pPr>
            <a:r>
              <a:rPr lang="en-US" sz="900" b="1" spc="150" kern="0" dirty="0">
                <a:solidFill>
                  <a:srgbClr val="A79C8C"/>
                </a:solidFill>
                <a:latin typeface="Calibri" pitchFamily="34" charset="0"/>
                <a:ea typeface="Calibri" pitchFamily="34" charset="-122"/>
                <a:cs typeface="Calibri" pitchFamily="34" charset="-120"/>
              </a:rPr>
              <a:t>23</a:t>
            </a:r>
            <a:endParaRPr lang="en-US" sz="900" dirty="0"/>
          </a:p>
        </p:txBody>
      </p:sp>
      <p:sp>
        <p:nvSpPr>
          <p:cNvPr id="3" name="Text 1"/>
          <p:cNvSpPr txBox="1"/>
          <p:nvPr/>
        </p:nvSpPr>
        <p:spPr>
          <a:xfrm>
            <a:off x="777240" y="548640"/>
            <a:ext cx="8686800" cy="256032"/>
          </a:xfrm>
          <a:prstGeom prst="rect">
            <a:avLst/>
          </a:prstGeom>
          <a:noFill/>
          <a:ln/>
        </p:spPr>
        <p:txBody>
          <a:bodyPr wrap="square" lIns="0" tIns="0" rIns="0" bIns="0" rtlCol="0" anchor="ctr"/>
          <a:lstStyle/>
          <a:p>
            <a:pPr indent="0" marL="0">
              <a:buNone/>
            </a:pPr>
            <a:r>
              <a:rPr lang="en-US" sz="950" b="1" spc="260" kern="0" dirty="0">
                <a:solidFill>
                  <a:srgbClr val="8A6A3A"/>
                </a:solidFill>
                <a:latin typeface="Calibri" pitchFamily="34" charset="0"/>
                <a:ea typeface="Calibri" pitchFamily="34" charset="-122"/>
                <a:cs typeface="Calibri" pitchFamily="34" charset="-120"/>
              </a:rPr>
              <a:t>PARTNERS</a:t>
            </a:r>
            <a:endParaRPr lang="en-US" sz="950" dirty="0"/>
          </a:p>
        </p:txBody>
      </p:sp>
      <p:sp>
        <p:nvSpPr>
          <p:cNvPr id="4" name="Text 2"/>
          <p:cNvSpPr txBox="1"/>
          <p:nvPr/>
        </p:nvSpPr>
        <p:spPr>
          <a:xfrm>
            <a:off x="777240" y="960120"/>
            <a:ext cx="8686800" cy="1005840"/>
          </a:xfrm>
          <a:prstGeom prst="rect">
            <a:avLst/>
          </a:prstGeom>
          <a:noFill/>
          <a:ln/>
        </p:spPr>
        <p:txBody>
          <a:bodyPr wrap="square" lIns="0" tIns="0" rIns="0" bIns="0" rtlCol="0" anchor="t"/>
          <a:lstStyle/>
          <a:p>
            <a:pPr indent="0" marL="0">
              <a:lnSpc>
                <a:spcPts val="3600"/>
              </a:lnSpc>
              <a:buNone/>
            </a:pPr>
            <a:r>
              <a:rPr lang="en-US" sz="3000" dirty="0">
                <a:solidFill>
                  <a:srgbClr val="2A2118"/>
                </a:solidFill>
                <a:latin typeface="Cambria" pitchFamily="34" charset="0"/>
                <a:ea typeface="Cambria" pitchFamily="34" charset="-122"/>
                <a:cs typeface="Cambria" pitchFamily="34" charset="-120"/>
              </a:rPr>
              <a:t>Named partners, where depth is better bought than built.</a:t>
            </a:r>
            <a:endParaRPr lang="en-US" sz="3000" dirty="0"/>
          </a:p>
        </p:txBody>
      </p:sp>
      <p:sp>
        <p:nvSpPr>
          <p:cNvPr id="5" name="Text 3"/>
          <p:cNvSpPr txBox="1"/>
          <p:nvPr/>
        </p:nvSpPr>
        <p:spPr>
          <a:xfrm>
            <a:off x="777240" y="2560320"/>
            <a:ext cx="8686800" cy="640080"/>
          </a:xfrm>
          <a:prstGeom prst="rect">
            <a:avLst/>
          </a:prstGeom>
          <a:noFill/>
          <a:ln/>
        </p:spPr>
        <p:txBody>
          <a:bodyPr wrap="square" lIns="0" tIns="0" rIns="0" bIns="0" rtlCol="0" anchor="t"/>
          <a:lstStyle/>
          <a:p>
            <a:pPr indent="0" marL="0">
              <a:lnSpc>
                <a:spcPts val="2000"/>
              </a:lnSpc>
              <a:buNone/>
            </a:pPr>
            <a:r>
              <a:rPr lang="en-US" sz="1400" dirty="0">
                <a:solidFill>
                  <a:srgbClr val="6E6355"/>
                </a:solidFill>
                <a:latin typeface="Calibri" pitchFamily="34" charset="0"/>
                <a:ea typeface="Calibri" pitchFamily="34" charset="-122"/>
                <a:cs typeface="Calibri" pitchFamily="34" charset="-120"/>
              </a:rPr>
              <a:t>Capacity is the standing question asked of any agency this size. These are the relationships that answer it.</a:t>
            </a:r>
            <a:endParaRPr lang="en-US" sz="1400" dirty="0"/>
          </a:p>
        </p:txBody>
      </p:sp>
      <p:sp>
        <p:nvSpPr>
          <p:cNvPr id="6" name="Shape 4"/>
          <p:cNvSpPr/>
          <p:nvPr/>
        </p:nvSpPr>
        <p:spPr>
          <a:xfrm>
            <a:off x="777240" y="3474720"/>
            <a:ext cx="3291840" cy="1737360"/>
          </a:xfrm>
          <a:prstGeom prst="rect">
            <a:avLst/>
          </a:prstGeom>
          <a:solidFill>
            <a:srgbClr val="E7E0D3"/>
          </a:solidFill>
          <a:ln/>
        </p:spPr>
      </p:sp>
      <p:sp>
        <p:nvSpPr>
          <p:cNvPr id="7" name="Text 5"/>
          <p:cNvSpPr txBox="1"/>
          <p:nvPr/>
        </p:nvSpPr>
        <p:spPr>
          <a:xfrm>
            <a:off x="1005840" y="3474720"/>
            <a:ext cx="2834640" cy="1737360"/>
          </a:xfrm>
          <a:prstGeom prst="rect">
            <a:avLst/>
          </a:prstGeom>
          <a:noFill/>
          <a:ln/>
        </p:spPr>
        <p:txBody>
          <a:bodyPr wrap="square" rtlCol="0" anchor="ctr"/>
          <a:lstStyle/>
          <a:p>
            <a:pPr indent="0" marL="0">
              <a:buNone/>
            </a:pPr>
            <a:r>
              <a:rPr lang="en-US" sz="2000" b="1" dirty="0">
                <a:solidFill>
                  <a:srgbClr val="2A2118"/>
                </a:solidFill>
                <a:latin typeface="Cambria" pitchFamily="34" charset="0"/>
                <a:ea typeface="Cambria" pitchFamily="34" charset="-122"/>
                <a:cs typeface="Cambria" pitchFamily="34" charset="-120"/>
              </a:rPr>
              <a:t>Marcollin</a:t>
            </a:r>
            <a:endParaRPr lang="en-US" sz="2000" dirty="0"/>
          </a:p>
        </p:txBody>
      </p:sp>
      <p:sp>
        <p:nvSpPr>
          <p:cNvPr id="8" name="Shape 6"/>
          <p:cNvSpPr/>
          <p:nvPr/>
        </p:nvSpPr>
        <p:spPr>
          <a:xfrm>
            <a:off x="4389120" y="3474720"/>
            <a:ext cx="3291840" cy="1737360"/>
          </a:xfrm>
          <a:prstGeom prst="rect">
            <a:avLst/>
          </a:prstGeom>
          <a:solidFill>
            <a:srgbClr val="E7E0D3"/>
          </a:solidFill>
          <a:ln/>
        </p:spPr>
      </p:sp>
      <p:sp>
        <p:nvSpPr>
          <p:cNvPr id="9" name="Text 7"/>
          <p:cNvSpPr txBox="1"/>
          <p:nvPr/>
        </p:nvSpPr>
        <p:spPr>
          <a:xfrm>
            <a:off x="4617720" y="3474720"/>
            <a:ext cx="2834640" cy="1737360"/>
          </a:xfrm>
          <a:prstGeom prst="rect">
            <a:avLst/>
          </a:prstGeom>
          <a:noFill/>
          <a:ln/>
        </p:spPr>
        <p:txBody>
          <a:bodyPr wrap="square" rtlCol="0" anchor="ctr"/>
          <a:lstStyle/>
          <a:p>
            <a:pPr indent="0" marL="0">
              <a:buNone/>
            </a:pPr>
            <a:r>
              <a:rPr lang="en-US" sz="2000" b="1" dirty="0">
                <a:solidFill>
                  <a:srgbClr val="2A2118"/>
                </a:solidFill>
                <a:latin typeface="Cambria" pitchFamily="34" charset="0"/>
                <a:ea typeface="Cambria" pitchFamily="34" charset="-122"/>
                <a:cs typeface="Cambria" pitchFamily="34" charset="-120"/>
              </a:rPr>
              <a:t>SAA</a:t>
            </a:r>
            <a:endParaRPr lang="en-US" sz="2000" dirty="0"/>
          </a:p>
        </p:txBody>
      </p:sp>
      <p:sp>
        <p:nvSpPr>
          <p:cNvPr id="10" name="Shape 8"/>
          <p:cNvSpPr/>
          <p:nvPr/>
        </p:nvSpPr>
        <p:spPr>
          <a:xfrm>
            <a:off x="8001000" y="3474720"/>
            <a:ext cx="3291840" cy="1737360"/>
          </a:xfrm>
          <a:prstGeom prst="rect">
            <a:avLst/>
          </a:prstGeom>
          <a:solidFill>
            <a:srgbClr val="E7E0D3"/>
          </a:solidFill>
          <a:ln/>
        </p:spPr>
      </p:sp>
      <p:sp>
        <p:nvSpPr>
          <p:cNvPr id="11" name="Text 9"/>
          <p:cNvSpPr txBox="1"/>
          <p:nvPr/>
        </p:nvSpPr>
        <p:spPr>
          <a:xfrm>
            <a:off x="8229600" y="3474720"/>
            <a:ext cx="2834640" cy="1737360"/>
          </a:xfrm>
          <a:prstGeom prst="rect">
            <a:avLst/>
          </a:prstGeom>
          <a:noFill/>
          <a:ln/>
        </p:spPr>
        <p:txBody>
          <a:bodyPr wrap="square" rtlCol="0" anchor="ctr"/>
          <a:lstStyle/>
          <a:p>
            <a:pPr indent="0" marL="0">
              <a:buNone/>
            </a:pPr>
            <a:r>
              <a:rPr lang="en-US" sz="2000" b="1" dirty="0">
                <a:solidFill>
                  <a:srgbClr val="2A2118"/>
                </a:solidFill>
                <a:latin typeface="Cambria" pitchFamily="34" charset="0"/>
                <a:ea typeface="Cambria" pitchFamily="34" charset="-122"/>
                <a:cs typeface="Cambria" pitchFamily="34" charset="-120"/>
              </a:rPr>
              <a:t>Palo Alto Tribunal</a:t>
            </a:r>
            <a:endParaRPr lang="en-US" sz="2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221B14"/>
        </a:solidFill>
      </p:bgPr>
    </p:bg>
    <p:spTree>
      <p:nvGrpSpPr>
        <p:cNvPr id="1" name=""/>
        <p:cNvGrpSpPr/>
        <p:nvPr/>
      </p:nvGrpSpPr>
      <p:grpSpPr>
        <a:xfrm>
          <a:off x="0" y="0"/>
          <a:ext cx="0" cy="0"/>
          <a:chOff x="0" y="0"/>
          <a:chExt cx="0" cy="0"/>
        </a:xfrm>
      </p:grpSpPr>
      <p:sp>
        <p:nvSpPr>
          <p:cNvPr id="2" name="Text 0"/>
          <p:cNvSpPr txBox="1"/>
          <p:nvPr/>
        </p:nvSpPr>
        <p:spPr>
          <a:xfrm>
            <a:off x="11109960" y="6309360"/>
            <a:ext cx="548640" cy="274320"/>
          </a:xfrm>
          <a:prstGeom prst="rect">
            <a:avLst/>
          </a:prstGeom>
          <a:noFill/>
          <a:ln/>
        </p:spPr>
        <p:txBody>
          <a:bodyPr wrap="square" rtlCol="0" anchor="ctr"/>
          <a:lstStyle/>
          <a:p>
            <a:pPr algn="r" indent="0" marL="0">
              <a:buNone/>
            </a:pPr>
            <a:r>
              <a:rPr lang="en-US" sz="900" b="1" spc="150" kern="0" dirty="0">
                <a:solidFill>
                  <a:srgbClr val="A4988A"/>
                </a:solidFill>
                <a:latin typeface="Calibri" pitchFamily="34" charset="0"/>
                <a:ea typeface="Calibri" pitchFamily="34" charset="-122"/>
                <a:cs typeface="Calibri" pitchFamily="34" charset="-120"/>
              </a:rPr>
              <a:t>24</a:t>
            </a:r>
            <a:endParaRPr lang="en-US" sz="900" dirty="0"/>
          </a:p>
        </p:txBody>
      </p:sp>
      <p:sp>
        <p:nvSpPr>
          <p:cNvPr id="3" name="Text 1"/>
          <p:cNvSpPr txBox="1"/>
          <p:nvPr/>
        </p:nvSpPr>
        <p:spPr>
          <a:xfrm>
            <a:off x="777240" y="548640"/>
            <a:ext cx="8686800" cy="256032"/>
          </a:xfrm>
          <a:prstGeom prst="rect">
            <a:avLst/>
          </a:prstGeom>
          <a:noFill/>
          <a:ln/>
        </p:spPr>
        <p:txBody>
          <a:bodyPr wrap="square" lIns="0" tIns="0" rIns="0" bIns="0" rtlCol="0" anchor="ctr"/>
          <a:lstStyle/>
          <a:p>
            <a:pPr indent="0" marL="0">
              <a:buNone/>
            </a:pPr>
            <a:r>
              <a:rPr lang="en-US" sz="950" b="1" spc="260" kern="0" dirty="0">
                <a:solidFill>
                  <a:srgbClr val="C29A5C"/>
                </a:solidFill>
                <a:latin typeface="Calibri" pitchFamily="34" charset="0"/>
                <a:ea typeface="Calibri" pitchFamily="34" charset="-122"/>
                <a:cs typeface="Calibri" pitchFamily="34" charset="-120"/>
              </a:rPr>
              <a:t>NEXT STEP</a:t>
            </a:r>
            <a:endParaRPr lang="en-US" sz="950" dirty="0"/>
          </a:p>
        </p:txBody>
      </p:sp>
      <p:sp>
        <p:nvSpPr>
          <p:cNvPr id="4" name="Text 2"/>
          <p:cNvSpPr txBox="1"/>
          <p:nvPr/>
        </p:nvSpPr>
        <p:spPr>
          <a:xfrm>
            <a:off x="777240" y="1600200"/>
            <a:ext cx="7863840" cy="1828800"/>
          </a:xfrm>
          <a:prstGeom prst="rect">
            <a:avLst/>
          </a:prstGeom>
          <a:noFill/>
          <a:ln/>
        </p:spPr>
        <p:txBody>
          <a:bodyPr wrap="square" lIns="0" tIns="0" rIns="0" bIns="0" rtlCol="0" anchor="ctr"/>
          <a:lstStyle/>
          <a:p>
            <a:pPr indent="0" marL="0">
              <a:lnSpc>
                <a:spcPts val="5200"/>
              </a:lnSpc>
              <a:buNone/>
            </a:pPr>
            <a:r>
              <a:rPr lang="en-US" sz="4400" dirty="0">
                <a:solidFill>
                  <a:srgbClr val="EFE8DA"/>
                </a:solidFill>
                <a:latin typeface="Cambria" pitchFamily="34" charset="0"/>
                <a:ea typeface="Cambria" pitchFamily="34" charset="-122"/>
                <a:cs typeface="Cambria" pitchFamily="34" charset="-120"/>
              </a:rPr>
              <a:t>Tell us what has to be right the first time.</a:t>
            </a:r>
            <a:endParaRPr lang="en-US" sz="4400" dirty="0"/>
          </a:p>
        </p:txBody>
      </p:sp>
      <p:sp>
        <p:nvSpPr>
          <p:cNvPr id="5" name="Shape 3"/>
          <p:cNvSpPr/>
          <p:nvPr/>
        </p:nvSpPr>
        <p:spPr>
          <a:xfrm>
            <a:off x="777240" y="3794760"/>
            <a:ext cx="621792" cy="27432"/>
          </a:xfrm>
          <a:prstGeom prst="rect">
            <a:avLst/>
          </a:prstGeom>
          <a:solidFill>
            <a:srgbClr val="C29A5C"/>
          </a:solidFill>
          <a:ln/>
        </p:spPr>
      </p:sp>
      <p:sp>
        <p:nvSpPr>
          <p:cNvPr id="6" name="Text 4"/>
          <p:cNvSpPr txBox="1"/>
          <p:nvPr/>
        </p:nvSpPr>
        <p:spPr>
          <a:xfrm>
            <a:off x="777240" y="4160520"/>
            <a:ext cx="5486400" cy="914400"/>
          </a:xfrm>
          <a:prstGeom prst="rect">
            <a:avLst/>
          </a:prstGeom>
          <a:noFill/>
          <a:ln/>
        </p:spPr>
        <p:txBody>
          <a:bodyPr wrap="square" lIns="0" tIns="0" rIns="0" bIns="0" rtlCol="0" anchor="ctr"/>
          <a:lstStyle/>
          <a:p>
            <a:pPr indent="0" marL="0">
              <a:lnSpc>
                <a:spcPts val="2600"/>
              </a:lnSpc>
              <a:buNone/>
            </a:pPr>
            <a:r>
              <a:rPr lang="en-US" sz="1600" dirty="0">
                <a:solidFill>
                  <a:srgbClr val="EFE8DA"/>
                </a:solidFill>
                <a:latin typeface="Calibri" pitchFamily="34" charset="0"/>
                <a:ea typeface="Calibri" pitchFamily="34" charset="-122"/>
                <a:cs typeface="Calibri" pitchFamily="34" charset="-120"/>
              </a:rPr>
              <a:t>[NAME], [TITLE]</a:t>
            </a:r>
            <a:endParaRPr lang="en-US" sz="1600" dirty="0"/>
          </a:p>
          <a:p>
            <a:pPr indent="0" marL="0">
              <a:lnSpc>
                <a:spcPts val="2600"/>
              </a:lnSpc>
              <a:buNone/>
            </a:pPr>
            <a:r>
              <a:rPr lang="en-US" sz="1600" dirty="0">
                <a:solidFill>
                  <a:srgbClr val="EFE8DA"/>
                </a:solidFill>
                <a:latin typeface="Calibri" pitchFamily="34" charset="0"/>
                <a:ea typeface="Calibri" pitchFamily="34" charset="-122"/>
                <a:cs typeface="Calibri" pitchFamily="34" charset="-120"/>
              </a:rPr>
              <a:t>[EMAIL]  ·  [PHONE]</a:t>
            </a:r>
            <a:endParaRPr lang="en-US" sz="1600" dirty="0"/>
          </a:p>
        </p:txBody>
      </p:sp>
      <p:sp>
        <p:nvSpPr>
          <p:cNvPr id="7" name="Text 5"/>
          <p:cNvSpPr txBox="1"/>
          <p:nvPr/>
        </p:nvSpPr>
        <p:spPr>
          <a:xfrm>
            <a:off x="777240" y="5303520"/>
            <a:ext cx="5486400" cy="365760"/>
          </a:xfrm>
          <a:prstGeom prst="rect">
            <a:avLst/>
          </a:prstGeom>
          <a:noFill/>
          <a:ln/>
        </p:spPr>
        <p:txBody>
          <a:bodyPr wrap="square" lIns="0" tIns="0" rIns="0" bIns="0" rtlCol="0" anchor="ctr"/>
          <a:lstStyle/>
          <a:p>
            <a:pPr indent="0" marL="0">
              <a:buNone/>
            </a:pPr>
            <a:r>
              <a:rPr lang="en-US" sz="1250" dirty="0">
                <a:solidFill>
                  <a:srgbClr val="A4988A"/>
                </a:solidFill>
                <a:latin typeface="Calibri" pitchFamily="34" charset="0"/>
                <a:ea typeface="Calibri" pitchFamily="34" charset="-122"/>
                <a:cs typeface="Calibri" pitchFamily="34" charset="-120"/>
              </a:rPr>
              <a:t>eov.ae  ·  Abu Dhabi  ·  Dubai</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EOV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EOV Credentials</dc:title>
  <dc:subject>PptxGenJS Presentation</dc:subject>
  <dc:creator>EOV</dc:creator>
  <cp:lastModifiedBy>EOV</cp:lastModifiedBy>
  <cp:revision>1</cp:revision>
  <dcterms:created xsi:type="dcterms:W3CDTF">2026-09-02T10:33:24Z</dcterms:created>
  <dcterms:modified xsi:type="dcterms:W3CDTF">2026-09-02T10:33:24Z</dcterms:modified>
</cp:coreProperties>
</file>