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Al Quoz unit is a working production facility. Do not use the website's 400+ figure — it reads as headcount and is qualified as teams and partnerships.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hinge. Stated once and never repeated — slide 16 echoes it without restating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Replace tiles with client marks once naming consent is confirmed per client. A logo on a 2022 website is not consent to name a client in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Founding, boutique and ingredient detail from public sources. Confirm the boutique count and whether the Paris founding date may be stated as a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Eight occasion pages exist on the site. Confirm which occasions may be shown and supply campaign imagery per occasion.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Confirmed by the client: KGS and Ferronato are two brands in one group. This slide is the hinge of the range argument.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Send the PR record and this slide is finished: publications with dates and tier, retail doors, awareness study, influencer reach, and which markets US and EU distribution covers.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films exist. Stills or the films themselves are the strongest asset on this case after the boutique photography.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Delegate count, venue and delegation composition are externally documented for the OPEC International Seminar. CONFIRM which edition EOV delivered before stating the linkage — the site says 'OPEC events' plural.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Consent required — OPEC is intergovernmental and the Ministry federal. Still needed: the year, scope delivered,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only ships if the plural is confirmed. If Vienna was the only one, cut it — a single event overclaimed as a capability is exactly the kind of thing a government buyer checks.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Everything after this slide is administration.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Naming the limit alongside the claim is the house move. Confirm which disciplines are in-house. Also reconcile: the website publishes three pillars, the old deck five practices, this six.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third rule must be true today, or it comes out. It is the easiest claim in the deck for a client's technical lead to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Confirm the definition stage is real practice, and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to five named people, not the org chart. Also state how many work in Arabic to professional standard — buyers ask and most UAE agencies answer vaguely.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0000"/>
        </a:solidFill>
      </p:bgPr>
    </p:bg>
    <p:spTree>
      <p:nvGrpSpPr>
        <p:cNvPr id="1" name=""/>
        <p:cNvGrpSpPr/>
        <p:nvPr/>
      </p:nvGrpSpPr>
      <p:grpSpPr>
        <a:xfrm>
          <a:off x="0" y="0"/>
          <a:ext cx="0" cy="0"/>
          <a:chOff x="0" y="0"/>
          <a:chExt cx="0" cy="0"/>
        </a:xfrm>
      </p:grpSpPr>
      <p:pic>
        <p:nvPicPr>
          <p:cNvPr id="2" name="Image 0" descr="assets/eov-wordmark-white.png">    </p:cNvPr>
          <p:cNvPicPr>
            <a:picLocks noChangeAspect="1"/>
          </p:cNvPicPr>
          <p:nvPr/>
        </p:nvPicPr>
        <p:blipFill>
          <a:blip r:embed="rId1"/>
          <a:stretch>
            <a:fillRect/>
          </a:stretch>
        </p:blipFill>
        <p:spPr>
          <a:xfrm>
            <a:off x="685800" y="2381098"/>
            <a:ext cx="2476195" cy="828446"/>
          </a:xfrm>
          <a:prstGeom prst="rect">
            <a:avLst/>
          </a:prstGeom>
        </p:spPr>
      </p:pic>
      <p:sp>
        <p:nvSpPr>
          <p:cNvPr id="3" name="Text 0"/>
          <p:cNvSpPr txBox="1"/>
          <p:nvPr/>
        </p:nvSpPr>
        <p:spPr>
          <a:xfrm>
            <a:off x="685800" y="3619195"/>
            <a:ext cx="10820095" cy="285293"/>
          </a:xfrm>
          <a:prstGeom prst="rect">
            <a:avLst/>
          </a:prstGeom>
          <a:noFill/>
          <a:ln/>
        </p:spPr>
        <p:txBody>
          <a:bodyPr wrap="square" lIns="0" tIns="0" rIns="0" bIns="0" rtlCol="0" anchor="ctr"/>
          <a:lstStyle/>
          <a:p>
            <a:pPr indent="0" marL="0">
              <a:buNone/>
            </a:pPr>
            <a:r>
              <a:rPr lang="en-US" sz="1300" dirty="0">
                <a:solidFill>
                  <a:srgbClr val="B9BEC5"/>
                </a:solidFill>
                <a:latin typeface="Arial" pitchFamily="34" charset="0"/>
                <a:ea typeface="Arial" pitchFamily="34" charset="-122"/>
                <a:cs typeface="Arial" pitchFamily="34" charset="-120"/>
              </a:rPr>
              <a:t>Integrated marketing  ·  Abu Dhabi and Dubai  ·  Since 2006</a:t>
            </a:r>
            <a:endParaRPr lang="en-US" sz="1300" dirty="0"/>
          </a:p>
        </p:txBody>
      </p:sp>
      <p:sp>
        <p:nvSpPr>
          <p:cNvPr id="4" name="Text 1"/>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54D2FE"/>
                </a:solidFill>
                <a:latin typeface="Arial" pitchFamily="34" charset="0"/>
                <a:ea typeface="Arial" pitchFamily="34" charset="-122"/>
                <a:cs typeface="Arial" pitchFamily="34" charset="-120"/>
              </a:rPr>
              <a:t>CREDENTIALS  ·  2026</a:t>
            </a:r>
            <a:endParaRPr lang="en-US" sz="950" dirty="0"/>
          </a:p>
        </p:txBody>
      </p:sp>
      <p:sp>
        <p:nvSpPr>
          <p:cNvPr id="5" name="Text 2"/>
          <p:cNvSpPr txBox="1"/>
          <p:nvPr/>
        </p:nvSpPr>
        <p:spPr>
          <a:xfrm>
            <a:off x="685800" y="6238951"/>
            <a:ext cx="7619695" cy="190195"/>
          </a:xfrm>
          <a:prstGeom prst="rect">
            <a:avLst/>
          </a:prstGeom>
          <a:noFill/>
          <a:ln/>
        </p:spPr>
        <p:txBody>
          <a:bodyPr wrap="square" lIns="0" tIns="0" rIns="0" bIns="0" rtlCol="0" anchor="ctr"/>
          <a:lstStyle/>
          <a:p>
            <a:pPr indent="0" marL="0">
              <a:buNone/>
            </a:pPr>
            <a:r>
              <a:rPr lang="en-US" sz="950" dirty="0">
                <a:solidFill>
                  <a:srgbClr val="6E7379"/>
                </a:solidFill>
                <a:latin typeface="Arial" pitchFamily="34" charset="0"/>
                <a:ea typeface="Arial" pitchFamily="34" charset="-122"/>
                <a:cs typeface="Arial" pitchFamily="34" charset="-120"/>
              </a:rPr>
              <a:t>tanvi@eov.ae  ·  eov.ae  ·  Abu Dhabi and Dubai</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0" y="0"/>
            <a:ext cx="6248370" cy="6858000"/>
          </a:xfrm>
          <a:prstGeom prst="rect">
            <a:avLst/>
          </a:prstGeom>
          <a:solidFill>
            <a:srgbClr val="F4F6F8"/>
          </a:solidFill>
          <a:ln/>
        </p:spPr>
      </p:sp>
      <p:sp>
        <p:nvSpPr>
          <p:cNvPr id="3" name="Text 1"/>
          <p:cNvSpPr txBox="1"/>
          <p:nvPr/>
        </p:nvSpPr>
        <p:spPr>
          <a:xfrm>
            <a:off x="6228893" y="3238805"/>
            <a:ext cx="5676870" cy="381305"/>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mohamed-yousif.png · team</a:t>
            </a:r>
            <a:endParaRPr lang="en-US" sz="950" dirty="0"/>
          </a:p>
        </p:txBody>
      </p:sp>
      <p:sp>
        <p:nvSpPr>
          <p:cNvPr id="4" name="Text 2"/>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WHO WE ARE</a:t>
            </a:r>
            <a:endParaRPr lang="en-US" sz="950" dirty="0"/>
          </a:p>
        </p:txBody>
      </p:sp>
      <p:sp>
        <p:nvSpPr>
          <p:cNvPr id="5" name="Text 3"/>
          <p:cNvSpPr txBox="1"/>
          <p:nvPr/>
        </p:nvSpPr>
        <p:spPr>
          <a:xfrm>
            <a:off x="685800" y="800100"/>
            <a:ext cx="4762195" cy="1904695"/>
          </a:xfrm>
          <a:prstGeom prst="rect">
            <a:avLst/>
          </a:prstGeom>
          <a:noFill/>
          <a:ln/>
        </p:spPr>
        <p:txBody>
          <a:bodyPr wrap="square" lIns="0" tIns="0" rIns="0" bIns="0" rtlCol="0" anchor="t"/>
          <a:lstStyle/>
          <a:p>
            <a:pPr indent="0" marL="0">
              <a:lnSpc>
                <a:spcPts val="3080"/>
              </a:lnSpc>
              <a:buNone/>
            </a:pPr>
            <a:r>
              <a:rPr lang="en-US" sz="2550" b="1" dirty="0">
                <a:solidFill>
                  <a:srgbClr val="111111"/>
                </a:solidFill>
                <a:latin typeface="Arial" pitchFamily="34" charset="0"/>
                <a:ea typeface="Arial" pitchFamily="34" charset="-122"/>
                <a:cs typeface="Arial" pitchFamily="34" charset="-120"/>
              </a:rPr>
              <a:t>An Emirati-founded integrated marketing agency, working in the UAE since 2006.</a:t>
            </a:r>
            <a:endParaRPr lang="en-US" sz="2550" dirty="0"/>
          </a:p>
        </p:txBody>
      </p:sp>
      <p:sp>
        <p:nvSpPr>
          <p:cNvPr id="6" name="Text 4"/>
          <p:cNvSpPr txBox="1"/>
          <p:nvPr/>
        </p:nvSpPr>
        <p:spPr>
          <a:xfrm>
            <a:off x="685800" y="2952598"/>
            <a:ext cx="4762195" cy="1143000"/>
          </a:xfrm>
          <a:prstGeom prst="rect">
            <a:avLst/>
          </a:prstGeom>
          <a:noFill/>
          <a:ln/>
        </p:spPr>
        <p:txBody>
          <a:bodyPr wrap="square" lIns="0" tIns="0" rIns="0" bIns="0" rtlCol="0" anchor="t"/>
          <a:lstStyle/>
          <a:p>
            <a:pPr indent="0" marL="0">
              <a:lnSpc>
                <a:spcPts val="1950"/>
              </a:lnSpc>
              <a:buNone/>
            </a:pPr>
            <a:r>
              <a:rPr lang="en-US" sz="1300" dirty="0">
                <a:solidFill>
                  <a:srgbClr val="5A6068"/>
                </a:solidFill>
                <a:latin typeface="Arial" pitchFamily="34" charset="0"/>
                <a:ea typeface="Arial" pitchFamily="34" charset="-122"/>
                <a:cs typeface="Arial" pitchFamily="34" charset="-120"/>
              </a:rPr>
              <a:t>Abu Dhabi office, Dubai production facility. Six disciplines under one team and one contract — which is what turns single accountability from a claim into a structure.</a:t>
            </a:r>
            <a:endParaRPr lang="en-US" sz="1300" dirty="0"/>
          </a:p>
        </p:txBody>
      </p:sp>
      <p:sp>
        <p:nvSpPr>
          <p:cNvPr id="7" name="Text 5"/>
          <p:cNvSpPr txBox="1"/>
          <p:nvPr/>
        </p:nvSpPr>
        <p:spPr>
          <a:xfrm>
            <a:off x="685800" y="4095598"/>
            <a:ext cx="1447495" cy="437998"/>
          </a:xfrm>
          <a:prstGeom prst="rect">
            <a:avLst/>
          </a:prstGeom>
          <a:noFill/>
          <a:ln/>
        </p:spPr>
        <p:txBody>
          <a:bodyPr wrap="square" lIns="0" tIns="0" rIns="0" bIns="0" rtlCol="0" anchor="ctr"/>
          <a:lstStyle/>
          <a:p>
            <a:pPr indent="0" marL="0">
              <a:buNone/>
            </a:pPr>
            <a:r>
              <a:rPr lang="en-US" sz="2850" b="1" dirty="0">
                <a:solidFill>
                  <a:srgbClr val="111111"/>
                </a:solidFill>
                <a:latin typeface="Arial" pitchFamily="34" charset="0"/>
                <a:ea typeface="Arial" pitchFamily="34" charset="-122"/>
                <a:cs typeface="Arial" pitchFamily="34" charset="-120"/>
              </a:rPr>
              <a:t>2</a:t>
            </a:r>
            <a:endParaRPr lang="en-US" sz="2850" dirty="0"/>
          </a:p>
        </p:txBody>
      </p:sp>
      <p:sp>
        <p:nvSpPr>
          <p:cNvPr id="8" name="Text 6"/>
          <p:cNvSpPr txBox="1"/>
          <p:nvPr/>
        </p:nvSpPr>
        <p:spPr>
          <a:xfrm>
            <a:off x="685800" y="4572000"/>
            <a:ext cx="1410005" cy="381305"/>
          </a:xfrm>
          <a:prstGeom prst="rect">
            <a:avLst/>
          </a:prstGeom>
          <a:noFill/>
          <a:ln/>
        </p:spPr>
        <p:txBody>
          <a:bodyPr wrap="square" lIns="0" tIns="0" rIns="0" bIns="0" rtlCol="0" anchor="t"/>
          <a:lstStyle/>
          <a:p>
            <a:pPr indent="0" marL="0">
              <a:lnSpc>
                <a:spcPts val="1200"/>
              </a:lnSpc>
              <a:buNone/>
            </a:pPr>
            <a:r>
              <a:rPr lang="en-US" sz="950" b="1" spc="220" kern="0" dirty="0">
                <a:solidFill>
                  <a:srgbClr val="8A8F98"/>
                </a:solidFill>
                <a:latin typeface="Arial" pitchFamily="34" charset="0"/>
                <a:ea typeface="Arial" pitchFamily="34" charset="-122"/>
                <a:cs typeface="Arial" pitchFamily="34" charset="-120"/>
              </a:rPr>
              <a:t>EMIRATES</a:t>
            </a:r>
            <a:endParaRPr lang="en-US" sz="950" dirty="0"/>
          </a:p>
        </p:txBody>
      </p:sp>
      <p:sp>
        <p:nvSpPr>
          <p:cNvPr id="9" name="Text 7"/>
          <p:cNvSpPr txBox="1"/>
          <p:nvPr/>
        </p:nvSpPr>
        <p:spPr>
          <a:xfrm>
            <a:off x="2286000" y="4095598"/>
            <a:ext cx="1447495" cy="437998"/>
          </a:xfrm>
          <a:prstGeom prst="rect">
            <a:avLst/>
          </a:prstGeom>
          <a:noFill/>
          <a:ln/>
        </p:spPr>
        <p:txBody>
          <a:bodyPr wrap="square" lIns="0" tIns="0" rIns="0" bIns="0" rtlCol="0" anchor="ctr"/>
          <a:lstStyle/>
          <a:p>
            <a:pPr indent="0" marL="0">
              <a:buNone/>
            </a:pPr>
            <a:r>
              <a:rPr lang="en-US" sz="2850" b="1" dirty="0">
                <a:solidFill>
                  <a:srgbClr val="111111"/>
                </a:solidFill>
                <a:latin typeface="Arial" pitchFamily="34" charset="0"/>
                <a:ea typeface="Arial" pitchFamily="34" charset="-122"/>
                <a:cs typeface="Arial" pitchFamily="34" charset="-120"/>
              </a:rPr>
              <a:t>6</a:t>
            </a:r>
            <a:endParaRPr lang="en-US" sz="2850" dirty="0"/>
          </a:p>
        </p:txBody>
      </p:sp>
      <p:sp>
        <p:nvSpPr>
          <p:cNvPr id="10" name="Text 8"/>
          <p:cNvSpPr txBox="1"/>
          <p:nvPr/>
        </p:nvSpPr>
        <p:spPr>
          <a:xfrm>
            <a:off x="2286000" y="4572000"/>
            <a:ext cx="1410005" cy="381305"/>
          </a:xfrm>
          <a:prstGeom prst="rect">
            <a:avLst/>
          </a:prstGeom>
          <a:noFill/>
          <a:ln/>
        </p:spPr>
        <p:txBody>
          <a:bodyPr wrap="square" lIns="0" tIns="0" rIns="0" bIns="0" rtlCol="0" anchor="t"/>
          <a:lstStyle/>
          <a:p>
            <a:pPr indent="0" marL="0">
              <a:lnSpc>
                <a:spcPts val="1200"/>
              </a:lnSpc>
              <a:buNone/>
            </a:pPr>
            <a:r>
              <a:rPr lang="en-US" sz="950" b="1" spc="220" kern="0" dirty="0">
                <a:solidFill>
                  <a:srgbClr val="8A8F98"/>
                </a:solidFill>
                <a:latin typeface="Arial" pitchFamily="34" charset="0"/>
                <a:ea typeface="Arial" pitchFamily="34" charset="-122"/>
                <a:cs typeface="Arial" pitchFamily="34" charset="-120"/>
              </a:rPr>
              <a:t>DISCIPLINES</a:t>
            </a:r>
            <a:endParaRPr lang="en-US" sz="950" dirty="0"/>
          </a:p>
        </p:txBody>
      </p:sp>
      <p:sp>
        <p:nvSpPr>
          <p:cNvPr id="11" name="Text 9"/>
          <p:cNvSpPr txBox="1"/>
          <p:nvPr/>
        </p:nvSpPr>
        <p:spPr>
          <a:xfrm>
            <a:off x="3886200" y="4095598"/>
            <a:ext cx="1447495" cy="437998"/>
          </a:xfrm>
          <a:prstGeom prst="rect">
            <a:avLst/>
          </a:prstGeom>
          <a:noFill/>
          <a:ln/>
        </p:spPr>
        <p:txBody>
          <a:bodyPr wrap="square" lIns="0" tIns="0" rIns="0" bIns="0" rtlCol="0" anchor="ctr"/>
          <a:lstStyle/>
          <a:p>
            <a:pPr indent="0" marL="0">
              <a:buNone/>
            </a:pPr>
            <a:r>
              <a:rPr lang="en-US" sz="2850" b="1" dirty="0">
                <a:solidFill>
                  <a:srgbClr val="111111"/>
                </a:solidFill>
                <a:latin typeface="Arial" pitchFamily="34" charset="0"/>
                <a:ea typeface="Arial" pitchFamily="34" charset="-122"/>
                <a:cs typeface="Arial" pitchFamily="34" charset="-120"/>
              </a:rPr>
              <a:t>20</a:t>
            </a:r>
            <a:endParaRPr lang="en-US" sz="2850" dirty="0"/>
          </a:p>
        </p:txBody>
      </p:sp>
      <p:sp>
        <p:nvSpPr>
          <p:cNvPr id="12" name="Text 10"/>
          <p:cNvSpPr txBox="1"/>
          <p:nvPr/>
        </p:nvSpPr>
        <p:spPr>
          <a:xfrm>
            <a:off x="3886200" y="4572000"/>
            <a:ext cx="1410005" cy="381305"/>
          </a:xfrm>
          <a:prstGeom prst="rect">
            <a:avLst/>
          </a:prstGeom>
          <a:noFill/>
          <a:ln/>
        </p:spPr>
        <p:txBody>
          <a:bodyPr wrap="square" lIns="0" tIns="0" rIns="0" bIns="0" rtlCol="0" anchor="t"/>
          <a:lstStyle/>
          <a:p>
            <a:pPr indent="0" marL="0">
              <a:lnSpc>
                <a:spcPts val="1200"/>
              </a:lnSpc>
              <a:buNone/>
            </a:pPr>
            <a:r>
              <a:rPr lang="en-US" sz="950" b="1" spc="220" kern="0" dirty="0">
                <a:solidFill>
                  <a:srgbClr val="8A8F98"/>
                </a:solidFill>
                <a:latin typeface="Arial" pitchFamily="34" charset="0"/>
                <a:ea typeface="Arial" pitchFamily="34" charset="-122"/>
                <a:cs typeface="Arial" pitchFamily="34" charset="-120"/>
              </a:rPr>
              <a:t>YEARS</a:t>
            </a:r>
            <a:endParaRPr lang="en-US" sz="950" dirty="0"/>
          </a:p>
        </p:txBody>
      </p:sp>
      <p:pic>
        <p:nvPicPr>
          <p:cNvPr id="13"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14" name="Text 11"/>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02</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THE PREMISE</a:t>
            </a:r>
            <a:endParaRPr lang="en-US" sz="950" dirty="0"/>
          </a:p>
        </p:txBody>
      </p:sp>
      <p:sp>
        <p:nvSpPr>
          <p:cNvPr id="3" name="Text 1"/>
          <p:cNvSpPr txBox="1"/>
          <p:nvPr/>
        </p:nvSpPr>
        <p:spPr>
          <a:xfrm>
            <a:off x="685800" y="800100"/>
            <a:ext cx="10820095" cy="1428293"/>
          </a:xfrm>
          <a:prstGeom prst="rect">
            <a:avLst/>
          </a:prstGeom>
          <a:noFill/>
          <a:ln/>
        </p:spPr>
        <p:txBody>
          <a:bodyPr wrap="square" lIns="0" tIns="0" rIns="0" bIns="0" rtlCol="0" anchor="t"/>
          <a:lstStyle/>
          <a:p>
            <a:pPr indent="0" marL="0">
              <a:lnSpc>
                <a:spcPts val="4050"/>
              </a:lnSpc>
              <a:buNone/>
            </a:pPr>
            <a:r>
              <a:rPr lang="en-US" sz="3400" b="1" dirty="0">
                <a:solidFill>
                  <a:srgbClr val="111111"/>
                </a:solidFill>
                <a:latin typeface="Arial" pitchFamily="34" charset="0"/>
                <a:ea typeface="Arial" pitchFamily="34" charset="-122"/>
                <a:cs typeface="Arial" pitchFamily="34" charset="-120"/>
              </a:rPr>
              <a:t>Marketing bought in pieces.</a:t>
            </a:r>
            <a:endParaRPr lang="en-US" sz="3400" dirty="0"/>
          </a:p>
          <a:p>
            <a:pPr indent="0" marL="0">
              <a:lnSpc>
                <a:spcPts val="4050"/>
              </a:lnSpc>
              <a:buNone/>
            </a:pPr>
            <a:r>
              <a:rPr lang="en-US" sz="3400" b="1" dirty="0">
                <a:solidFill>
                  <a:srgbClr val="111111"/>
                </a:solidFill>
                <a:latin typeface="Arial" pitchFamily="34" charset="0"/>
                <a:ea typeface="Arial" pitchFamily="34" charset="-122"/>
                <a:cs typeface="Arial" pitchFamily="34" charset="-120"/>
              </a:rPr>
              <a:t>Nobody answerable for the whole.</a:t>
            </a:r>
            <a:endParaRPr lang="en-US" sz="3400" dirty="0"/>
          </a:p>
        </p:txBody>
      </p:sp>
      <p:sp>
        <p:nvSpPr>
          <p:cNvPr id="4" name="Text 2"/>
          <p:cNvSpPr txBox="1"/>
          <p:nvPr/>
        </p:nvSpPr>
        <p:spPr>
          <a:xfrm>
            <a:off x="685800" y="2476195"/>
            <a:ext cx="7239305" cy="533095"/>
          </a:xfrm>
          <a:prstGeom prst="rect">
            <a:avLst/>
          </a:prstGeom>
          <a:noFill/>
          <a:ln/>
        </p:spPr>
        <p:txBody>
          <a:bodyPr wrap="square" lIns="0" tIns="0" rIns="0" bIns="0" rtlCol="0" anchor="t"/>
          <a:lstStyle/>
          <a:p>
            <a:pPr indent="0" marL="0">
              <a:lnSpc>
                <a:spcPts val="1950"/>
              </a:lnSpc>
              <a:buNone/>
            </a:pPr>
            <a:r>
              <a:rPr lang="en-US" sz="1300" dirty="0">
                <a:solidFill>
                  <a:srgbClr val="5A6068"/>
                </a:solidFill>
                <a:latin typeface="Arial" pitchFamily="34" charset="0"/>
                <a:ea typeface="Arial" pitchFamily="34" charset="-122"/>
                <a:cs typeface="Arial" pitchFamily="34" charset="-120"/>
              </a:rPr>
              <a:t>Brand from one supplier, media from another, the website from a third. Each part is delivered competently. The value is lost in the joins.</a:t>
            </a:r>
            <a:endParaRPr lang="en-US" sz="1300" dirty="0"/>
          </a:p>
        </p:txBody>
      </p:sp>
      <p:sp>
        <p:nvSpPr>
          <p:cNvPr id="5" name="Shape 3"/>
          <p:cNvSpPr/>
          <p:nvPr/>
        </p:nvSpPr>
        <p:spPr>
          <a:xfrm>
            <a:off x="685800" y="3810305"/>
            <a:ext cx="10820095" cy="1143000"/>
          </a:xfrm>
          <a:prstGeom prst="roundRect">
            <a:avLst>
              <a:gd name="adj" fmla="val 8320"/>
            </a:avLst>
          </a:prstGeom>
          <a:solidFill>
            <a:srgbClr val="111111"/>
          </a:solidFill>
          <a:ln/>
        </p:spPr>
      </p:sp>
      <p:sp>
        <p:nvSpPr>
          <p:cNvPr id="6" name="Text 4"/>
          <p:cNvSpPr txBox="1"/>
          <p:nvPr/>
        </p:nvSpPr>
        <p:spPr>
          <a:xfrm>
            <a:off x="1067105" y="3810305"/>
            <a:ext cx="10058400" cy="1143000"/>
          </a:xfrm>
          <a:prstGeom prst="rect">
            <a:avLst/>
          </a:prstGeom>
          <a:noFill/>
          <a:ln/>
        </p:spPr>
        <p:txBody>
          <a:bodyPr wrap="square" rtlCol="0" anchor="ctr"/>
          <a:lstStyle/>
          <a:p>
            <a:pPr indent="0" marL="0">
              <a:buNone/>
            </a:pPr>
            <a:r>
              <a:rPr lang="en-US" sz="1900" b="1" dirty="0">
                <a:solidFill>
                  <a:srgbClr val="FFFFFF"/>
                </a:solidFill>
                <a:latin typeface="Arial" pitchFamily="34" charset="0"/>
                <a:ea typeface="Arial" pitchFamily="34" charset="-122"/>
                <a:cs typeface="Arial" pitchFamily="34" charset="-120"/>
              </a:rPr>
              <a:t>It works — until something cannot be done twice.</a:t>
            </a:r>
            <a:endParaRPr lang="en-US" sz="1900" dirty="0"/>
          </a:p>
        </p:txBody>
      </p:sp>
      <p:pic>
        <p:nvPicPr>
          <p:cNvPr id="7"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8" name="Text 5"/>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03</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54D2FE"/>
                </a:solidFill>
                <a:latin typeface="Arial" pitchFamily="34" charset="0"/>
                <a:ea typeface="Arial" pitchFamily="34" charset="-122"/>
                <a:cs typeface="Arial" pitchFamily="34" charset="-120"/>
              </a:rPr>
              <a:t>WHAT EOV IS FOR</a:t>
            </a:r>
            <a:endParaRPr lang="en-US" sz="950" dirty="0"/>
          </a:p>
        </p:txBody>
      </p:sp>
      <p:sp>
        <p:nvSpPr>
          <p:cNvPr id="3" name="Text 1"/>
          <p:cNvSpPr txBox="1"/>
          <p:nvPr/>
        </p:nvSpPr>
        <p:spPr>
          <a:xfrm>
            <a:off x="685800" y="800100"/>
            <a:ext cx="10820095" cy="2190902"/>
          </a:xfrm>
          <a:prstGeom prst="rect">
            <a:avLst/>
          </a:prstGeom>
          <a:noFill/>
          <a:ln/>
        </p:spPr>
        <p:txBody>
          <a:bodyPr wrap="square" lIns="0" tIns="0" rIns="0" bIns="0" rtlCol="0" anchor="t"/>
          <a:lstStyle/>
          <a:p>
            <a:pPr indent="0" marL="0">
              <a:lnSpc>
                <a:spcPts val="4950"/>
              </a:lnSpc>
              <a:buNone/>
            </a:pPr>
            <a:r>
              <a:rPr lang="en-US" sz="4200" b="1" dirty="0">
                <a:solidFill>
                  <a:srgbClr val="FFFFFF"/>
                </a:solidFill>
                <a:latin typeface="Arial" pitchFamily="34" charset="0"/>
                <a:ea typeface="Arial" pitchFamily="34" charset="-122"/>
                <a:cs typeface="Arial" pitchFamily="34" charset="-120"/>
              </a:rPr>
              <a:t>Twenty years of work that had to be right the first time.</a:t>
            </a:r>
            <a:endParaRPr lang="en-US" sz="4200" dirty="0"/>
          </a:p>
        </p:txBody>
      </p:sp>
      <p:sp>
        <p:nvSpPr>
          <p:cNvPr id="4" name="Text 2"/>
          <p:cNvSpPr txBox="1"/>
          <p:nvPr/>
        </p:nvSpPr>
        <p:spPr>
          <a:xfrm>
            <a:off x="685800" y="3429000"/>
            <a:ext cx="8382305" cy="533095"/>
          </a:xfrm>
          <a:prstGeom prst="rect">
            <a:avLst/>
          </a:prstGeom>
          <a:noFill/>
          <a:ln/>
        </p:spPr>
        <p:txBody>
          <a:bodyPr wrap="square" lIns="0" tIns="0" rIns="0" bIns="0" rtlCol="0" anchor="t"/>
          <a:lstStyle/>
          <a:p>
            <a:pPr indent="0" marL="0">
              <a:lnSpc>
                <a:spcPts val="1950"/>
              </a:lnSpc>
              <a:buNone/>
            </a:pPr>
            <a:r>
              <a:rPr lang="en-US" sz="1300" dirty="0">
                <a:solidFill>
                  <a:srgbClr val="B9BEC5"/>
                </a:solidFill>
                <a:latin typeface="Arial" pitchFamily="34" charset="0"/>
                <a:ea typeface="Arial" pitchFamily="34" charset="-122"/>
                <a:cs typeface="Arial" pitchFamily="34" charset="-120"/>
              </a:rPr>
              <a:t>A national event staged abroad on a fixed date. A retail season that arrives whether the work is ready or not. A category-first launch with one window.</a:t>
            </a:r>
            <a:endParaRPr lang="en-US" sz="1300" dirty="0"/>
          </a:p>
        </p:txBody>
      </p:sp>
      <p:pic>
        <p:nvPicPr>
          <p:cNvPr id="5" name="Image 0" descr="assets/eov-wordmark-white.png">    </p:cNvPr>
          <p:cNvPicPr>
            <a:picLocks noChangeAspect="1"/>
          </p:cNvPicPr>
          <p:nvPr/>
        </p:nvPicPr>
        <p:blipFill>
          <a:blip r:embed="rId1"/>
          <a:stretch>
            <a:fillRect/>
          </a:stretch>
        </p:blipFill>
        <p:spPr>
          <a:xfrm>
            <a:off x="685800" y="6238951"/>
            <a:ext cx="571500" cy="190195"/>
          </a:xfrm>
          <a:prstGeom prst="rect">
            <a:avLst/>
          </a:prstGeom>
        </p:spPr>
      </p:pic>
      <p:sp>
        <p:nvSpPr>
          <p:cNvPr id="6" name="Text 3"/>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6E7379"/>
                </a:solidFill>
                <a:latin typeface="Arial" pitchFamily="34" charset="0"/>
                <a:ea typeface="Arial" pitchFamily="34" charset="-122"/>
                <a:cs typeface="Arial" pitchFamily="34" charset="-120"/>
              </a:rPr>
              <a:t>04</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2667305"/>
            <a:ext cx="10820095" cy="856793"/>
          </a:xfrm>
          <a:prstGeom prst="rect">
            <a:avLst/>
          </a:prstGeom>
          <a:noFill/>
          <a:ln/>
        </p:spPr>
        <p:txBody>
          <a:bodyPr wrap="square" lIns="0" tIns="0" rIns="0" bIns="0" rtlCol="0" anchor="t"/>
          <a:lstStyle/>
          <a:p>
            <a:pPr indent="0" marL="0">
              <a:buNone/>
            </a:pPr>
            <a:r>
              <a:rPr lang="en-US" sz="4200" b="1" dirty="0">
                <a:solidFill>
                  <a:srgbClr val="FFFFFF"/>
                </a:solidFill>
                <a:latin typeface="Arial" pitchFamily="34" charset="0"/>
                <a:ea typeface="Arial" pitchFamily="34" charset="-122"/>
                <a:cs typeface="Arial" pitchFamily="34" charset="-120"/>
              </a:rPr>
              <a:t>The work.</a:t>
            </a:r>
            <a:endParaRPr lang="en-US" sz="4200" dirty="0"/>
          </a:p>
        </p:txBody>
      </p:sp>
      <p:sp>
        <p:nvSpPr>
          <p:cNvPr id="3" name="Text 1"/>
          <p:cNvSpPr txBox="1"/>
          <p:nvPr/>
        </p:nvSpPr>
        <p:spPr>
          <a:xfrm>
            <a:off x="685800" y="3714293"/>
            <a:ext cx="10820095" cy="228600"/>
          </a:xfrm>
          <a:prstGeom prst="rect">
            <a:avLst/>
          </a:prstGeom>
          <a:noFill/>
          <a:ln/>
        </p:spPr>
        <p:txBody>
          <a:bodyPr wrap="square" lIns="0" tIns="0" rIns="0" bIns="0" rtlCol="0" anchor="ctr"/>
          <a:lstStyle/>
          <a:p>
            <a:pPr indent="0" marL="0">
              <a:buNone/>
            </a:pPr>
            <a:r>
              <a:rPr lang="en-US" sz="950" b="1" spc="300" kern="0" dirty="0">
                <a:solidFill>
                  <a:srgbClr val="54D2FE"/>
                </a:solidFill>
                <a:latin typeface="Arial" pitchFamily="34" charset="0"/>
                <a:ea typeface="Arial" pitchFamily="34" charset="-122"/>
                <a:cs typeface="Arial" pitchFamily="34" charset="-120"/>
              </a:rPr>
              <a:t>FOUR CLIENTS · RISING STAKES</a:t>
            </a:r>
            <a:endParaRPr lang="en-US" sz="950" dirty="0"/>
          </a:p>
        </p:txBody>
      </p:sp>
      <p:pic>
        <p:nvPicPr>
          <p:cNvPr id="4" name="Image 0" descr="assets/eov-wordmark-white.png">    </p:cNvPr>
          <p:cNvPicPr>
            <a:picLocks noChangeAspect="1"/>
          </p:cNvPicPr>
          <p:nvPr/>
        </p:nvPicPr>
        <p:blipFill>
          <a:blip r:embed="rId1"/>
          <a:stretch>
            <a:fillRect/>
          </a:stretch>
        </p:blipFill>
        <p:spPr>
          <a:xfrm>
            <a:off x="685800" y="6238951"/>
            <a:ext cx="571500" cy="190195"/>
          </a:xfrm>
          <a:prstGeom prst="rect">
            <a:avLst/>
          </a:prstGeom>
        </p:spPr>
      </p:pic>
      <p:sp>
        <p:nvSpPr>
          <p:cNvPr id="5" name="Text 2"/>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6E7379"/>
                </a:solidFill>
                <a:latin typeface="Arial" pitchFamily="34" charset="0"/>
                <a:ea typeface="Arial" pitchFamily="34" charset="-122"/>
                <a:cs typeface="Arial" pitchFamily="34" charset="-120"/>
              </a:rPr>
              <a:t>05</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CLIENTS</a:t>
            </a:r>
            <a:endParaRPr lang="en-US" sz="950" dirty="0"/>
          </a:p>
        </p:txBody>
      </p:sp>
      <p:sp>
        <p:nvSpPr>
          <p:cNvPr id="3" name="Text 1"/>
          <p:cNvSpPr txBox="1"/>
          <p:nvPr/>
        </p:nvSpPr>
        <p:spPr>
          <a:xfrm>
            <a:off x="685800" y="800100"/>
            <a:ext cx="10820095" cy="590702"/>
          </a:xfrm>
          <a:prstGeom prst="rect">
            <a:avLst/>
          </a:prstGeom>
          <a:noFill/>
          <a:ln/>
        </p:spPr>
        <p:txBody>
          <a:bodyPr wrap="square" lIns="0" tIns="0" rIns="0" bIns="0" rtlCol="0" anchor="t"/>
          <a:lstStyle/>
          <a:p>
            <a:pPr indent="0" marL="0">
              <a:lnSpc>
                <a:spcPts val="4050"/>
              </a:lnSpc>
              <a:buNone/>
            </a:pPr>
            <a:r>
              <a:rPr lang="en-US" sz="2850" b="1" dirty="0">
                <a:solidFill>
                  <a:srgbClr val="111111"/>
                </a:solidFill>
                <a:latin typeface="Arial" pitchFamily="34" charset="0"/>
                <a:ea typeface="Arial" pitchFamily="34" charset="-122"/>
                <a:cs typeface="Arial" pitchFamily="34" charset="-120"/>
              </a:rPr>
              <a:t>Twenty years across government, luxury, retail and industry.</a:t>
            </a:r>
            <a:endParaRPr lang="en-US" sz="2850" dirty="0"/>
          </a:p>
        </p:txBody>
      </p:sp>
      <p:sp>
        <p:nvSpPr>
          <p:cNvPr id="4" name="Text 2"/>
          <p:cNvSpPr txBox="1"/>
          <p:nvPr/>
        </p:nvSpPr>
        <p:spPr>
          <a:xfrm>
            <a:off x="685800" y="1485900"/>
            <a:ext cx="10820095" cy="437998"/>
          </a:xfrm>
          <a:prstGeom prst="rect">
            <a:avLst/>
          </a:prstGeom>
          <a:noFill/>
          <a:ln/>
        </p:spPr>
        <p:txBody>
          <a:bodyPr wrap="square" lIns="0" tIns="0" rIns="0" bIns="0" rtlCol="0" anchor="t"/>
          <a:lstStyle/>
          <a:p>
            <a:pPr indent="0" marL="0">
              <a:lnSpc>
                <a:spcPts val="1950"/>
              </a:lnSpc>
              <a:buNone/>
            </a:pPr>
            <a:r>
              <a:rPr lang="en-US" sz="1300" dirty="0">
                <a:solidFill>
                  <a:srgbClr val="5A6068"/>
                </a:solidFill>
                <a:latin typeface="Arial" pitchFamily="34" charset="0"/>
                <a:ea typeface="Arial" pitchFamily="34" charset="-122"/>
                <a:cs typeface="Arial" pitchFamily="34" charset="-120"/>
              </a:rPr>
              <a:t>Government and semi-government work is won on published criteria and delivered under audit — the least forgiving way to build a client list, and the most durable.</a:t>
            </a:r>
            <a:endParaRPr lang="en-US" sz="1300" dirty="0"/>
          </a:p>
        </p:txBody>
      </p:sp>
      <p:sp>
        <p:nvSpPr>
          <p:cNvPr id="5" name="Shape 3"/>
          <p:cNvSpPr/>
          <p:nvPr/>
        </p:nvSpPr>
        <p:spPr>
          <a:xfrm>
            <a:off x="685800" y="2048256"/>
            <a:ext cx="1695298" cy="1257300"/>
          </a:xfrm>
          <a:prstGeom prst="roundRect">
            <a:avLst>
              <a:gd name="adj" fmla="val 7564"/>
            </a:avLst>
          </a:prstGeom>
          <a:solidFill>
            <a:srgbClr val="F4F6F8"/>
          </a:solidFill>
          <a:ln/>
        </p:spPr>
      </p:sp>
      <p:sp>
        <p:nvSpPr>
          <p:cNvPr id="6" name="Text 4"/>
          <p:cNvSpPr txBox="1"/>
          <p:nvPr/>
        </p:nvSpPr>
        <p:spPr>
          <a:xfrm>
            <a:off x="780898" y="2048256"/>
            <a:ext cx="1505102" cy="1257300"/>
          </a:xfrm>
          <a:prstGeom prst="rect">
            <a:avLst/>
          </a:prstGeom>
          <a:noFill/>
          <a:ln/>
        </p:spPr>
        <p:txBody>
          <a:bodyPr wrap="square" rtlCol="0" anchor="ctr"/>
          <a:lstStyle/>
          <a:p>
            <a:pPr algn="ctr" indent="0" marL="0">
              <a:buNone/>
            </a:pPr>
            <a:r>
              <a:rPr lang="en-US" sz="950" b="1" spc="120" kern="0" dirty="0">
                <a:solidFill>
                  <a:srgbClr val="8A8F98"/>
                </a:solidFill>
                <a:latin typeface="Arial" pitchFamily="34" charset="0"/>
                <a:ea typeface="Arial" pitchFamily="34" charset="-122"/>
                <a:cs typeface="Arial" pitchFamily="34" charset="-120"/>
              </a:rPr>
              <a:t>OPEC</a:t>
            </a:r>
            <a:endParaRPr lang="en-US" sz="950" dirty="0"/>
          </a:p>
        </p:txBody>
      </p:sp>
      <p:sp>
        <p:nvSpPr>
          <p:cNvPr id="7" name="Shape 5"/>
          <p:cNvSpPr/>
          <p:nvPr/>
        </p:nvSpPr>
        <p:spPr>
          <a:xfrm>
            <a:off x="2514600" y="2048256"/>
            <a:ext cx="1695298" cy="1257300"/>
          </a:xfrm>
          <a:prstGeom prst="roundRect">
            <a:avLst>
              <a:gd name="adj" fmla="val 7564"/>
            </a:avLst>
          </a:prstGeom>
          <a:solidFill>
            <a:srgbClr val="F4F6F8"/>
          </a:solidFill>
          <a:ln/>
        </p:spPr>
      </p:sp>
      <p:sp>
        <p:nvSpPr>
          <p:cNvPr id="8" name="Text 6"/>
          <p:cNvSpPr txBox="1"/>
          <p:nvPr/>
        </p:nvSpPr>
        <p:spPr>
          <a:xfrm>
            <a:off x="2609698" y="2048256"/>
            <a:ext cx="1505102" cy="1257300"/>
          </a:xfrm>
          <a:prstGeom prst="rect">
            <a:avLst/>
          </a:prstGeom>
          <a:noFill/>
          <a:ln/>
        </p:spPr>
        <p:txBody>
          <a:bodyPr wrap="square" rtlCol="0" anchor="ctr"/>
          <a:lstStyle/>
          <a:p>
            <a:pPr algn="ctr" indent="0" marL="0">
              <a:buNone/>
            </a:pPr>
            <a:r>
              <a:rPr lang="en-US" sz="950" b="1" spc="120" kern="0" dirty="0">
                <a:solidFill>
                  <a:srgbClr val="8A8F98"/>
                </a:solidFill>
                <a:latin typeface="Arial" pitchFamily="34" charset="0"/>
                <a:ea typeface="Arial" pitchFamily="34" charset="-122"/>
                <a:cs typeface="Arial" pitchFamily="34" charset="-120"/>
              </a:rPr>
              <a:t>MUBADALA</a:t>
            </a:r>
            <a:endParaRPr lang="en-US" sz="950" dirty="0"/>
          </a:p>
        </p:txBody>
      </p:sp>
      <p:sp>
        <p:nvSpPr>
          <p:cNvPr id="9" name="Shape 7"/>
          <p:cNvSpPr/>
          <p:nvPr/>
        </p:nvSpPr>
        <p:spPr>
          <a:xfrm>
            <a:off x="4343400" y="2048256"/>
            <a:ext cx="1695298" cy="1257300"/>
          </a:xfrm>
          <a:prstGeom prst="roundRect">
            <a:avLst>
              <a:gd name="adj" fmla="val 7564"/>
            </a:avLst>
          </a:prstGeom>
          <a:solidFill>
            <a:srgbClr val="F4F6F8"/>
          </a:solidFill>
          <a:ln/>
        </p:spPr>
      </p:sp>
      <p:sp>
        <p:nvSpPr>
          <p:cNvPr id="10" name="Text 8"/>
          <p:cNvSpPr txBox="1"/>
          <p:nvPr/>
        </p:nvSpPr>
        <p:spPr>
          <a:xfrm>
            <a:off x="4438498" y="2048256"/>
            <a:ext cx="1505102" cy="1257300"/>
          </a:xfrm>
          <a:prstGeom prst="rect">
            <a:avLst/>
          </a:prstGeom>
          <a:noFill/>
          <a:ln/>
        </p:spPr>
        <p:txBody>
          <a:bodyPr wrap="square" rtlCol="0" anchor="ctr"/>
          <a:lstStyle/>
          <a:p>
            <a:pPr algn="ctr" indent="0" marL="0">
              <a:buNone/>
            </a:pPr>
            <a:r>
              <a:rPr lang="en-US" sz="950" b="1" spc="120" kern="0" dirty="0">
                <a:solidFill>
                  <a:srgbClr val="8A8F98"/>
                </a:solidFill>
                <a:latin typeface="Arial" pitchFamily="34" charset="0"/>
                <a:ea typeface="Arial" pitchFamily="34" charset="-122"/>
                <a:cs typeface="Arial" pitchFamily="34" charset="-120"/>
              </a:rPr>
              <a:t>ADNOC</a:t>
            </a:r>
            <a:endParaRPr lang="en-US" sz="950" dirty="0"/>
          </a:p>
        </p:txBody>
      </p:sp>
      <p:sp>
        <p:nvSpPr>
          <p:cNvPr id="11" name="Shape 9"/>
          <p:cNvSpPr/>
          <p:nvPr/>
        </p:nvSpPr>
        <p:spPr>
          <a:xfrm>
            <a:off x="6172200" y="2048256"/>
            <a:ext cx="1695298" cy="1257300"/>
          </a:xfrm>
          <a:prstGeom prst="roundRect">
            <a:avLst>
              <a:gd name="adj" fmla="val 7564"/>
            </a:avLst>
          </a:prstGeom>
          <a:solidFill>
            <a:srgbClr val="F4F6F8"/>
          </a:solidFill>
          <a:ln/>
        </p:spPr>
      </p:sp>
      <p:sp>
        <p:nvSpPr>
          <p:cNvPr id="12" name="Text 10"/>
          <p:cNvSpPr txBox="1"/>
          <p:nvPr/>
        </p:nvSpPr>
        <p:spPr>
          <a:xfrm>
            <a:off x="6267298" y="2048256"/>
            <a:ext cx="1505102" cy="1257300"/>
          </a:xfrm>
          <a:prstGeom prst="rect">
            <a:avLst/>
          </a:prstGeom>
          <a:noFill/>
          <a:ln/>
        </p:spPr>
        <p:txBody>
          <a:bodyPr wrap="square" rtlCol="0" anchor="ctr"/>
          <a:lstStyle/>
          <a:p>
            <a:pPr algn="ctr" indent="0" marL="0">
              <a:buNone/>
            </a:pPr>
            <a:r>
              <a:rPr lang="en-US" sz="950" b="1" spc="120" kern="0" dirty="0">
                <a:solidFill>
                  <a:srgbClr val="8A8F98"/>
                </a:solidFill>
                <a:latin typeface="Arial" pitchFamily="34" charset="0"/>
                <a:ea typeface="Arial" pitchFamily="34" charset="-122"/>
                <a:cs typeface="Arial" pitchFamily="34" charset="-120"/>
              </a:rPr>
              <a:t>RTA</a:t>
            </a:r>
            <a:endParaRPr lang="en-US" sz="950" dirty="0"/>
          </a:p>
        </p:txBody>
      </p:sp>
      <p:sp>
        <p:nvSpPr>
          <p:cNvPr id="13" name="Shape 11"/>
          <p:cNvSpPr/>
          <p:nvPr/>
        </p:nvSpPr>
        <p:spPr>
          <a:xfrm>
            <a:off x="8001000" y="2048256"/>
            <a:ext cx="1695298" cy="1257300"/>
          </a:xfrm>
          <a:prstGeom prst="roundRect">
            <a:avLst>
              <a:gd name="adj" fmla="val 7564"/>
            </a:avLst>
          </a:prstGeom>
          <a:solidFill>
            <a:srgbClr val="F4F6F8"/>
          </a:solidFill>
          <a:ln/>
        </p:spPr>
      </p:sp>
      <p:sp>
        <p:nvSpPr>
          <p:cNvPr id="14" name="Text 12"/>
          <p:cNvSpPr txBox="1"/>
          <p:nvPr/>
        </p:nvSpPr>
        <p:spPr>
          <a:xfrm>
            <a:off x="8096098" y="2048256"/>
            <a:ext cx="1505102" cy="1257300"/>
          </a:xfrm>
          <a:prstGeom prst="rect">
            <a:avLst/>
          </a:prstGeom>
          <a:noFill/>
          <a:ln/>
        </p:spPr>
        <p:txBody>
          <a:bodyPr wrap="square" rtlCol="0" anchor="ctr"/>
          <a:lstStyle/>
          <a:p>
            <a:pPr algn="ctr" indent="0" marL="0">
              <a:buNone/>
            </a:pPr>
            <a:r>
              <a:rPr lang="en-US" sz="950" b="1" spc="120" kern="0" dirty="0">
                <a:solidFill>
                  <a:srgbClr val="8A8F98"/>
                </a:solidFill>
                <a:latin typeface="Arial" pitchFamily="34" charset="0"/>
                <a:ea typeface="Arial" pitchFamily="34" charset="-122"/>
                <a:cs typeface="Arial" pitchFamily="34" charset="-120"/>
              </a:rPr>
              <a:t>DEWA</a:t>
            </a:r>
            <a:endParaRPr lang="en-US" sz="950" dirty="0"/>
          </a:p>
        </p:txBody>
      </p:sp>
      <p:sp>
        <p:nvSpPr>
          <p:cNvPr id="15" name="Shape 13"/>
          <p:cNvSpPr/>
          <p:nvPr/>
        </p:nvSpPr>
        <p:spPr>
          <a:xfrm>
            <a:off x="9829800" y="2048256"/>
            <a:ext cx="1695298" cy="1257300"/>
          </a:xfrm>
          <a:prstGeom prst="roundRect">
            <a:avLst>
              <a:gd name="adj" fmla="val 7564"/>
            </a:avLst>
          </a:prstGeom>
          <a:solidFill>
            <a:srgbClr val="F4F6F8"/>
          </a:solidFill>
          <a:ln/>
        </p:spPr>
      </p:sp>
      <p:sp>
        <p:nvSpPr>
          <p:cNvPr id="16" name="Text 14"/>
          <p:cNvSpPr txBox="1"/>
          <p:nvPr/>
        </p:nvSpPr>
        <p:spPr>
          <a:xfrm>
            <a:off x="9924898" y="2048256"/>
            <a:ext cx="1505102" cy="1257300"/>
          </a:xfrm>
          <a:prstGeom prst="rect">
            <a:avLst/>
          </a:prstGeom>
          <a:noFill/>
          <a:ln/>
        </p:spPr>
        <p:txBody>
          <a:bodyPr wrap="square" rtlCol="0" anchor="ctr"/>
          <a:lstStyle/>
          <a:p>
            <a:pPr algn="ctr" indent="0" marL="0">
              <a:buNone/>
            </a:pPr>
            <a:r>
              <a:rPr lang="en-US" sz="950" b="1" spc="120" kern="0" dirty="0">
                <a:solidFill>
                  <a:srgbClr val="8A8F98"/>
                </a:solidFill>
                <a:latin typeface="Arial" pitchFamily="34" charset="0"/>
                <a:ea typeface="Arial" pitchFamily="34" charset="-122"/>
                <a:cs typeface="Arial" pitchFamily="34" charset="-120"/>
              </a:rPr>
              <a:t>ESMA</a:t>
            </a:r>
            <a:endParaRPr lang="en-US" sz="950" dirty="0"/>
          </a:p>
        </p:txBody>
      </p:sp>
      <p:sp>
        <p:nvSpPr>
          <p:cNvPr id="17" name="Shape 15"/>
          <p:cNvSpPr/>
          <p:nvPr/>
        </p:nvSpPr>
        <p:spPr>
          <a:xfrm>
            <a:off x="685800" y="3476549"/>
            <a:ext cx="1695298" cy="1257300"/>
          </a:xfrm>
          <a:prstGeom prst="roundRect">
            <a:avLst>
              <a:gd name="adj" fmla="val 7564"/>
            </a:avLst>
          </a:prstGeom>
          <a:solidFill>
            <a:srgbClr val="F4F6F8"/>
          </a:solidFill>
          <a:ln/>
        </p:spPr>
      </p:sp>
      <p:sp>
        <p:nvSpPr>
          <p:cNvPr id="18" name="Text 16"/>
          <p:cNvSpPr txBox="1"/>
          <p:nvPr/>
        </p:nvSpPr>
        <p:spPr>
          <a:xfrm>
            <a:off x="780898" y="3476549"/>
            <a:ext cx="1505102" cy="1257300"/>
          </a:xfrm>
          <a:prstGeom prst="rect">
            <a:avLst/>
          </a:prstGeom>
          <a:noFill/>
          <a:ln/>
        </p:spPr>
        <p:txBody>
          <a:bodyPr wrap="square" rtlCol="0" anchor="ctr"/>
          <a:lstStyle/>
          <a:p>
            <a:pPr algn="ctr" indent="0" marL="0">
              <a:buNone/>
            </a:pPr>
            <a:r>
              <a:rPr lang="en-US" sz="950" b="1" spc="120" kern="0" dirty="0">
                <a:solidFill>
                  <a:srgbClr val="8A8F98"/>
                </a:solidFill>
                <a:latin typeface="Arial" pitchFamily="34" charset="0"/>
                <a:ea typeface="Arial" pitchFamily="34" charset="-122"/>
                <a:cs typeface="Arial" pitchFamily="34" charset="-120"/>
              </a:rPr>
              <a:t>MIN. OF ENERGY</a:t>
            </a:r>
            <a:endParaRPr lang="en-US" sz="950" dirty="0"/>
          </a:p>
        </p:txBody>
      </p:sp>
      <p:sp>
        <p:nvSpPr>
          <p:cNvPr id="19" name="Shape 17"/>
          <p:cNvSpPr/>
          <p:nvPr/>
        </p:nvSpPr>
        <p:spPr>
          <a:xfrm>
            <a:off x="2514600" y="3476549"/>
            <a:ext cx="1695298" cy="1257300"/>
          </a:xfrm>
          <a:prstGeom prst="roundRect">
            <a:avLst>
              <a:gd name="adj" fmla="val 7564"/>
            </a:avLst>
          </a:prstGeom>
          <a:solidFill>
            <a:srgbClr val="F4F6F8"/>
          </a:solidFill>
          <a:ln/>
        </p:spPr>
      </p:sp>
      <p:sp>
        <p:nvSpPr>
          <p:cNvPr id="20" name="Text 18"/>
          <p:cNvSpPr txBox="1"/>
          <p:nvPr/>
        </p:nvSpPr>
        <p:spPr>
          <a:xfrm>
            <a:off x="2609698" y="3476549"/>
            <a:ext cx="1505102" cy="1257300"/>
          </a:xfrm>
          <a:prstGeom prst="rect">
            <a:avLst/>
          </a:prstGeom>
          <a:noFill/>
          <a:ln/>
        </p:spPr>
        <p:txBody>
          <a:bodyPr wrap="square" rtlCol="0" anchor="ctr"/>
          <a:lstStyle/>
          <a:p>
            <a:pPr algn="ctr" indent="0" marL="0">
              <a:buNone/>
            </a:pPr>
            <a:r>
              <a:rPr lang="en-US" sz="950" b="1" spc="120" kern="0" dirty="0">
                <a:solidFill>
                  <a:srgbClr val="8A8F98"/>
                </a:solidFill>
                <a:latin typeface="Arial" pitchFamily="34" charset="0"/>
                <a:ea typeface="Arial" pitchFamily="34" charset="-122"/>
                <a:cs typeface="Arial" pitchFamily="34" charset="-120"/>
              </a:rPr>
              <a:t>MIN. OF ECONOMY</a:t>
            </a:r>
            <a:endParaRPr lang="en-US" sz="950" dirty="0"/>
          </a:p>
        </p:txBody>
      </p:sp>
      <p:sp>
        <p:nvSpPr>
          <p:cNvPr id="21" name="Shape 19"/>
          <p:cNvSpPr/>
          <p:nvPr/>
        </p:nvSpPr>
        <p:spPr>
          <a:xfrm>
            <a:off x="4343400" y="3476549"/>
            <a:ext cx="1695298" cy="1257300"/>
          </a:xfrm>
          <a:prstGeom prst="roundRect">
            <a:avLst>
              <a:gd name="adj" fmla="val 7564"/>
            </a:avLst>
          </a:prstGeom>
          <a:solidFill>
            <a:srgbClr val="F4F6F8"/>
          </a:solidFill>
          <a:ln/>
        </p:spPr>
      </p:sp>
      <p:sp>
        <p:nvSpPr>
          <p:cNvPr id="22" name="Text 20"/>
          <p:cNvSpPr txBox="1"/>
          <p:nvPr/>
        </p:nvSpPr>
        <p:spPr>
          <a:xfrm>
            <a:off x="4438498" y="3476549"/>
            <a:ext cx="1505102" cy="1257300"/>
          </a:xfrm>
          <a:prstGeom prst="rect">
            <a:avLst/>
          </a:prstGeom>
          <a:noFill/>
          <a:ln/>
        </p:spPr>
        <p:txBody>
          <a:bodyPr wrap="square" rtlCol="0" anchor="ctr"/>
          <a:lstStyle/>
          <a:p>
            <a:pPr algn="ctr" indent="0" marL="0">
              <a:buNone/>
            </a:pPr>
            <a:r>
              <a:rPr lang="en-US" sz="950" b="1" spc="120" kern="0" dirty="0">
                <a:solidFill>
                  <a:srgbClr val="8A8F98"/>
                </a:solidFill>
                <a:latin typeface="Arial" pitchFamily="34" charset="0"/>
                <a:ea typeface="Arial" pitchFamily="34" charset="-122"/>
                <a:cs typeface="Arial" pitchFamily="34" charset="-120"/>
              </a:rPr>
              <a:t>FCA</a:t>
            </a:r>
            <a:endParaRPr lang="en-US" sz="950" dirty="0"/>
          </a:p>
        </p:txBody>
      </p:sp>
      <p:sp>
        <p:nvSpPr>
          <p:cNvPr id="23" name="Shape 21"/>
          <p:cNvSpPr/>
          <p:nvPr/>
        </p:nvSpPr>
        <p:spPr>
          <a:xfrm>
            <a:off x="6172200" y="3476549"/>
            <a:ext cx="1695298" cy="1257300"/>
          </a:xfrm>
          <a:prstGeom prst="roundRect">
            <a:avLst>
              <a:gd name="adj" fmla="val 7564"/>
            </a:avLst>
          </a:prstGeom>
          <a:solidFill>
            <a:srgbClr val="F4F6F8"/>
          </a:solidFill>
          <a:ln/>
        </p:spPr>
      </p:sp>
      <p:sp>
        <p:nvSpPr>
          <p:cNvPr id="24" name="Text 22"/>
          <p:cNvSpPr txBox="1"/>
          <p:nvPr/>
        </p:nvSpPr>
        <p:spPr>
          <a:xfrm>
            <a:off x="6267298" y="3476549"/>
            <a:ext cx="1505102" cy="1257300"/>
          </a:xfrm>
          <a:prstGeom prst="rect">
            <a:avLst/>
          </a:prstGeom>
          <a:noFill/>
          <a:ln/>
        </p:spPr>
        <p:txBody>
          <a:bodyPr wrap="square" rtlCol="0" anchor="ctr"/>
          <a:lstStyle/>
          <a:p>
            <a:pPr algn="ctr" indent="0" marL="0">
              <a:buNone/>
            </a:pPr>
            <a:r>
              <a:rPr lang="en-US" sz="950" b="1" spc="120" kern="0" dirty="0">
                <a:solidFill>
                  <a:srgbClr val="8A8F98"/>
                </a:solidFill>
                <a:latin typeface="Arial" pitchFamily="34" charset="0"/>
                <a:ea typeface="Arial" pitchFamily="34" charset="-122"/>
                <a:cs typeface="Arial" pitchFamily="34" charset="-120"/>
              </a:rPr>
              <a:t>DAMAC</a:t>
            </a:r>
            <a:endParaRPr lang="en-US" sz="950" dirty="0"/>
          </a:p>
        </p:txBody>
      </p:sp>
      <p:sp>
        <p:nvSpPr>
          <p:cNvPr id="25" name="Shape 23"/>
          <p:cNvSpPr/>
          <p:nvPr/>
        </p:nvSpPr>
        <p:spPr>
          <a:xfrm>
            <a:off x="8001000" y="3476549"/>
            <a:ext cx="1695298" cy="1257300"/>
          </a:xfrm>
          <a:prstGeom prst="roundRect">
            <a:avLst>
              <a:gd name="adj" fmla="val 7564"/>
            </a:avLst>
          </a:prstGeom>
          <a:solidFill>
            <a:srgbClr val="F4F6F8"/>
          </a:solidFill>
          <a:ln/>
        </p:spPr>
      </p:sp>
      <p:sp>
        <p:nvSpPr>
          <p:cNvPr id="26" name="Text 24"/>
          <p:cNvSpPr txBox="1"/>
          <p:nvPr/>
        </p:nvSpPr>
        <p:spPr>
          <a:xfrm>
            <a:off x="8096098" y="3476549"/>
            <a:ext cx="1505102" cy="1257300"/>
          </a:xfrm>
          <a:prstGeom prst="rect">
            <a:avLst/>
          </a:prstGeom>
          <a:noFill/>
          <a:ln/>
        </p:spPr>
        <p:txBody>
          <a:bodyPr wrap="square" rtlCol="0" anchor="ctr"/>
          <a:lstStyle/>
          <a:p>
            <a:pPr algn="ctr" indent="0" marL="0">
              <a:buNone/>
            </a:pPr>
            <a:r>
              <a:rPr lang="en-US" sz="950" b="1" spc="120" kern="0" dirty="0">
                <a:solidFill>
                  <a:srgbClr val="8A8F98"/>
                </a:solidFill>
                <a:latin typeface="Arial" pitchFamily="34" charset="0"/>
                <a:ea typeface="Arial" pitchFamily="34" charset="-122"/>
                <a:cs typeface="Arial" pitchFamily="34" charset="-120"/>
              </a:rPr>
              <a:t>HMS</a:t>
            </a:r>
            <a:endParaRPr lang="en-US" sz="950" dirty="0"/>
          </a:p>
        </p:txBody>
      </p:sp>
      <p:sp>
        <p:nvSpPr>
          <p:cNvPr id="27" name="Shape 25"/>
          <p:cNvSpPr/>
          <p:nvPr/>
        </p:nvSpPr>
        <p:spPr>
          <a:xfrm>
            <a:off x="9829800" y="3476549"/>
            <a:ext cx="1695298" cy="1257300"/>
          </a:xfrm>
          <a:prstGeom prst="roundRect">
            <a:avLst>
              <a:gd name="adj" fmla="val 7564"/>
            </a:avLst>
          </a:prstGeom>
          <a:solidFill>
            <a:srgbClr val="F4F6F8"/>
          </a:solidFill>
          <a:ln/>
        </p:spPr>
      </p:sp>
      <p:sp>
        <p:nvSpPr>
          <p:cNvPr id="28" name="Text 26"/>
          <p:cNvSpPr txBox="1"/>
          <p:nvPr/>
        </p:nvSpPr>
        <p:spPr>
          <a:xfrm>
            <a:off x="9924898" y="3476549"/>
            <a:ext cx="1505102" cy="1257300"/>
          </a:xfrm>
          <a:prstGeom prst="rect">
            <a:avLst/>
          </a:prstGeom>
          <a:noFill/>
          <a:ln/>
        </p:spPr>
        <p:txBody>
          <a:bodyPr wrap="square" rtlCol="0" anchor="ctr"/>
          <a:lstStyle/>
          <a:p>
            <a:pPr algn="ctr" indent="0" marL="0">
              <a:buNone/>
            </a:pPr>
            <a:r>
              <a:rPr lang="en-US" sz="950" b="1" spc="120" kern="0" dirty="0">
                <a:solidFill>
                  <a:srgbClr val="8A8F98"/>
                </a:solidFill>
                <a:latin typeface="Arial" pitchFamily="34" charset="0"/>
                <a:ea typeface="Arial" pitchFamily="34" charset="-122"/>
                <a:cs typeface="Arial" pitchFamily="34" charset="-120"/>
              </a:rPr>
              <a:t>MBR</a:t>
            </a:r>
            <a:endParaRPr lang="en-US" sz="950" dirty="0"/>
          </a:p>
        </p:txBody>
      </p:sp>
      <p:sp>
        <p:nvSpPr>
          <p:cNvPr id="29" name="Text 27"/>
          <p:cNvSpPr txBox="1"/>
          <p:nvPr/>
        </p:nvSpPr>
        <p:spPr>
          <a:xfrm>
            <a:off x="685800" y="5095951"/>
            <a:ext cx="10820095" cy="247802"/>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Also SPSA · MOPA · ADAEGP · POD/DCD · Pension Fund · ADAFSA · Department of Economic Development</a:t>
            </a:r>
            <a:endParaRPr lang="en-US" sz="1150" dirty="0"/>
          </a:p>
        </p:txBody>
      </p:sp>
      <p:pic>
        <p:nvPicPr>
          <p:cNvPr id="30"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31" name="Text 28"/>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06</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54D2FE"/>
                </a:solidFill>
                <a:latin typeface="Arial" pitchFamily="34" charset="0"/>
                <a:ea typeface="Arial" pitchFamily="34" charset="-122"/>
                <a:cs typeface="Arial" pitchFamily="34" charset="-120"/>
              </a:rPr>
              <a:t>FORREY &amp; GALLAND · PARIS, LA BELLE ÉPOQUE</a:t>
            </a:r>
            <a:endParaRPr lang="en-US" sz="950" dirty="0"/>
          </a:p>
        </p:txBody>
      </p:sp>
      <p:sp>
        <p:nvSpPr>
          <p:cNvPr id="3" name="Text 1"/>
          <p:cNvSpPr txBox="1"/>
          <p:nvPr/>
        </p:nvSpPr>
        <p:spPr>
          <a:xfrm>
            <a:off x="685800" y="800100"/>
            <a:ext cx="10820095" cy="1238098"/>
          </a:xfrm>
          <a:prstGeom prst="rect">
            <a:avLst/>
          </a:prstGeom>
          <a:noFill/>
          <a:ln/>
        </p:spPr>
        <p:txBody>
          <a:bodyPr wrap="square" lIns="0" tIns="0" rIns="0" bIns="0" rtlCol="0" anchor="t"/>
          <a:lstStyle/>
          <a:p>
            <a:pPr indent="0" marL="0">
              <a:lnSpc>
                <a:spcPts val="3600"/>
              </a:lnSpc>
              <a:buNone/>
            </a:pPr>
            <a:r>
              <a:rPr lang="en-US" sz="3000" b="1" dirty="0">
                <a:solidFill>
                  <a:srgbClr val="FFFFFF"/>
                </a:solidFill>
                <a:latin typeface="Arial" pitchFamily="34" charset="0"/>
                <a:ea typeface="Arial" pitchFamily="34" charset="-122"/>
                <a:cs typeface="Arial" pitchFamily="34" charset="-120"/>
              </a:rPr>
              <a:t>A Parisian chocolate house, reintroduced to the Gulf.</a:t>
            </a:r>
            <a:endParaRPr lang="en-US" sz="3000" dirty="0"/>
          </a:p>
        </p:txBody>
      </p:sp>
      <p:sp>
        <p:nvSpPr>
          <p:cNvPr id="4" name="Text 2"/>
          <p:cNvSpPr txBox="1"/>
          <p:nvPr/>
        </p:nvSpPr>
        <p:spPr>
          <a:xfrm>
            <a:off x="685800" y="2190902"/>
            <a:ext cx="8572500" cy="666598"/>
          </a:xfrm>
          <a:prstGeom prst="rect">
            <a:avLst/>
          </a:prstGeom>
          <a:noFill/>
          <a:ln/>
        </p:spPr>
        <p:txBody>
          <a:bodyPr wrap="square" lIns="0" tIns="0" rIns="0" bIns="0" rtlCol="0" anchor="t"/>
          <a:lstStyle/>
          <a:p>
            <a:pPr indent="0" marL="0">
              <a:lnSpc>
                <a:spcPts val="1950"/>
              </a:lnSpc>
              <a:buNone/>
            </a:pPr>
            <a:r>
              <a:rPr lang="en-US" sz="1300" dirty="0">
                <a:solidFill>
                  <a:srgbClr val="B9BEC5"/>
                </a:solidFill>
                <a:latin typeface="Arial" pitchFamily="34" charset="0"/>
                <a:ea typeface="Arial" pitchFamily="34" charset="-122"/>
                <a:cs typeface="Arial" pitchFamily="34" charset="-120"/>
              </a:rPr>
              <a:t>Two families, Forrey and Galland, founded the house in Paris in the 1900s. It now trades from The Dubai Mall, working saffron, dates, pistachios and rose into a French craft tradition.</a:t>
            </a:r>
            <a:endParaRPr lang="en-US" sz="1300" dirty="0"/>
          </a:p>
        </p:txBody>
      </p:sp>
      <p:sp>
        <p:nvSpPr>
          <p:cNvPr id="5" name="Text 3"/>
          <p:cNvSpPr txBox="1"/>
          <p:nvPr/>
        </p:nvSpPr>
        <p:spPr>
          <a:xfrm>
            <a:off x="685800" y="3238805"/>
            <a:ext cx="1943100" cy="437998"/>
          </a:xfrm>
          <a:prstGeom prst="rect">
            <a:avLst/>
          </a:prstGeom>
          <a:noFill/>
          <a:ln/>
        </p:spPr>
        <p:txBody>
          <a:bodyPr wrap="square" lIns="0" tIns="0" rIns="0" bIns="0" rtlCol="0" anchor="ctr"/>
          <a:lstStyle/>
          <a:p>
            <a:pPr indent="0" marL="0">
              <a:buNone/>
            </a:pPr>
            <a:r>
              <a:rPr lang="en-US" sz="2850" b="1" dirty="0">
                <a:solidFill>
                  <a:srgbClr val="FFFFFF"/>
                </a:solidFill>
                <a:latin typeface="Arial" pitchFamily="34" charset="0"/>
                <a:ea typeface="Arial" pitchFamily="34" charset="-122"/>
                <a:cs typeface="Arial" pitchFamily="34" charset="-120"/>
              </a:rPr>
              <a:t>1900s</a:t>
            </a:r>
            <a:endParaRPr lang="en-US" sz="2850" dirty="0"/>
          </a:p>
        </p:txBody>
      </p:sp>
      <p:sp>
        <p:nvSpPr>
          <p:cNvPr id="6" name="Text 4"/>
          <p:cNvSpPr txBox="1"/>
          <p:nvPr/>
        </p:nvSpPr>
        <p:spPr>
          <a:xfrm>
            <a:off x="685800" y="3715207"/>
            <a:ext cx="1905610" cy="381305"/>
          </a:xfrm>
          <a:prstGeom prst="rect">
            <a:avLst/>
          </a:prstGeom>
          <a:noFill/>
          <a:ln/>
        </p:spPr>
        <p:txBody>
          <a:bodyPr wrap="square" lIns="0" tIns="0" rIns="0" bIns="0" rtlCol="0" anchor="t"/>
          <a:lstStyle/>
          <a:p>
            <a:pPr indent="0" marL="0">
              <a:lnSpc>
                <a:spcPts val="1200"/>
              </a:lnSpc>
              <a:buNone/>
            </a:pPr>
            <a:r>
              <a:rPr lang="en-US" sz="950" b="1" spc="220" kern="0" dirty="0">
                <a:solidFill>
                  <a:srgbClr val="54D2FE"/>
                </a:solidFill>
                <a:latin typeface="Arial" pitchFamily="34" charset="0"/>
                <a:ea typeface="Arial" pitchFamily="34" charset="-122"/>
                <a:cs typeface="Arial" pitchFamily="34" charset="-120"/>
              </a:rPr>
              <a:t>FOUNDED, PARIS</a:t>
            </a:r>
            <a:endParaRPr lang="en-US" sz="950" dirty="0"/>
          </a:p>
        </p:txBody>
      </p:sp>
      <p:sp>
        <p:nvSpPr>
          <p:cNvPr id="7" name="Text 5"/>
          <p:cNvSpPr txBox="1"/>
          <p:nvPr/>
        </p:nvSpPr>
        <p:spPr>
          <a:xfrm>
            <a:off x="2781605" y="3238805"/>
            <a:ext cx="1943100" cy="437998"/>
          </a:xfrm>
          <a:prstGeom prst="rect">
            <a:avLst/>
          </a:prstGeom>
          <a:noFill/>
          <a:ln/>
        </p:spPr>
        <p:txBody>
          <a:bodyPr wrap="square" lIns="0" tIns="0" rIns="0" bIns="0" rtlCol="0" anchor="ctr"/>
          <a:lstStyle/>
          <a:p>
            <a:pPr indent="0" marL="0">
              <a:buNone/>
            </a:pPr>
            <a:r>
              <a:rPr lang="en-US" sz="2850" b="1" dirty="0">
                <a:solidFill>
                  <a:srgbClr val="FFFFFF"/>
                </a:solidFill>
                <a:latin typeface="Arial" pitchFamily="34" charset="0"/>
                <a:ea typeface="Arial" pitchFamily="34" charset="-122"/>
                <a:cs typeface="Arial" pitchFamily="34" charset="-120"/>
              </a:rPr>
              <a:t>100</a:t>
            </a:r>
            <a:endParaRPr lang="en-US" sz="2850" dirty="0"/>
          </a:p>
        </p:txBody>
      </p:sp>
      <p:sp>
        <p:nvSpPr>
          <p:cNvPr id="8" name="Text 6"/>
          <p:cNvSpPr txBox="1"/>
          <p:nvPr/>
        </p:nvSpPr>
        <p:spPr>
          <a:xfrm>
            <a:off x="2781605" y="3715207"/>
            <a:ext cx="1905610" cy="381305"/>
          </a:xfrm>
          <a:prstGeom prst="rect">
            <a:avLst/>
          </a:prstGeom>
          <a:noFill/>
          <a:ln/>
        </p:spPr>
        <p:txBody>
          <a:bodyPr wrap="square" lIns="0" tIns="0" rIns="0" bIns="0" rtlCol="0" anchor="t"/>
          <a:lstStyle/>
          <a:p>
            <a:pPr indent="0" marL="0">
              <a:lnSpc>
                <a:spcPts val="1200"/>
              </a:lnSpc>
              <a:buNone/>
            </a:pPr>
            <a:r>
              <a:rPr lang="en-US" sz="950" b="1" spc="220" kern="0" dirty="0">
                <a:solidFill>
                  <a:srgbClr val="54D2FE"/>
                </a:solidFill>
                <a:latin typeface="Arial" pitchFamily="34" charset="0"/>
                <a:ea typeface="Arial" pitchFamily="34" charset="-122"/>
                <a:cs typeface="Arial" pitchFamily="34" charset="-120"/>
              </a:rPr>
              <a:t>YEARS OF THE HOUSE</a:t>
            </a:r>
            <a:endParaRPr lang="en-US" sz="950" dirty="0"/>
          </a:p>
        </p:txBody>
      </p:sp>
      <p:sp>
        <p:nvSpPr>
          <p:cNvPr id="9" name="Text 7"/>
          <p:cNvSpPr txBox="1"/>
          <p:nvPr/>
        </p:nvSpPr>
        <p:spPr>
          <a:xfrm>
            <a:off x="4877410" y="3238805"/>
            <a:ext cx="1943100" cy="437998"/>
          </a:xfrm>
          <a:prstGeom prst="rect">
            <a:avLst/>
          </a:prstGeom>
          <a:noFill/>
          <a:ln/>
        </p:spPr>
        <p:txBody>
          <a:bodyPr wrap="square" lIns="0" tIns="0" rIns="0" bIns="0" rtlCol="0" anchor="ctr"/>
          <a:lstStyle/>
          <a:p>
            <a:pPr indent="0" marL="0">
              <a:buNone/>
            </a:pPr>
            <a:r>
              <a:rPr lang="en-US" sz="2850" b="1" dirty="0">
                <a:solidFill>
                  <a:srgbClr val="FFFFFF"/>
                </a:solidFill>
                <a:latin typeface="Arial" pitchFamily="34" charset="0"/>
                <a:ea typeface="Arial" pitchFamily="34" charset="-122"/>
                <a:cs typeface="Arial" pitchFamily="34" charset="-120"/>
              </a:rPr>
              <a:t>Dubai Mall</a:t>
            </a:r>
            <a:endParaRPr lang="en-US" sz="2850" dirty="0"/>
          </a:p>
        </p:txBody>
      </p:sp>
      <p:sp>
        <p:nvSpPr>
          <p:cNvPr id="10" name="Text 8"/>
          <p:cNvSpPr txBox="1"/>
          <p:nvPr/>
        </p:nvSpPr>
        <p:spPr>
          <a:xfrm>
            <a:off x="4877410" y="3715207"/>
            <a:ext cx="1905610" cy="381305"/>
          </a:xfrm>
          <a:prstGeom prst="rect">
            <a:avLst/>
          </a:prstGeom>
          <a:noFill/>
          <a:ln/>
        </p:spPr>
        <p:txBody>
          <a:bodyPr wrap="square" lIns="0" tIns="0" rIns="0" bIns="0" rtlCol="0" anchor="t"/>
          <a:lstStyle/>
          <a:p>
            <a:pPr indent="0" marL="0">
              <a:lnSpc>
                <a:spcPts val="1200"/>
              </a:lnSpc>
              <a:buNone/>
            </a:pPr>
            <a:r>
              <a:rPr lang="en-US" sz="950" b="1" spc="220" kern="0" dirty="0">
                <a:solidFill>
                  <a:srgbClr val="54D2FE"/>
                </a:solidFill>
                <a:latin typeface="Arial" pitchFamily="34" charset="0"/>
                <a:ea typeface="Arial" pitchFamily="34" charset="-122"/>
                <a:cs typeface="Arial" pitchFamily="34" charset="-120"/>
              </a:rPr>
              <a:t>FLAGSHIP BOUTIQUE</a:t>
            </a:r>
            <a:endParaRPr lang="en-US" sz="950" dirty="0"/>
          </a:p>
        </p:txBody>
      </p:sp>
      <p:sp>
        <p:nvSpPr>
          <p:cNvPr id="11" name="Text 9"/>
          <p:cNvSpPr txBox="1"/>
          <p:nvPr/>
        </p:nvSpPr>
        <p:spPr>
          <a:xfrm>
            <a:off x="6973214" y="3238805"/>
            <a:ext cx="1943100" cy="437998"/>
          </a:xfrm>
          <a:prstGeom prst="rect">
            <a:avLst/>
          </a:prstGeom>
          <a:noFill/>
          <a:ln/>
        </p:spPr>
        <p:txBody>
          <a:bodyPr wrap="square" lIns="0" tIns="0" rIns="0" bIns="0" rtlCol="0" anchor="ctr"/>
          <a:lstStyle/>
          <a:p>
            <a:pPr indent="0" marL="0">
              <a:buNone/>
            </a:pPr>
            <a:r>
              <a:rPr lang="en-US" sz="2850" b="1" dirty="0">
                <a:solidFill>
                  <a:srgbClr val="FFFFFF"/>
                </a:solidFill>
                <a:latin typeface="Arial" pitchFamily="34" charset="0"/>
                <a:ea typeface="Arial" pitchFamily="34" charset="-122"/>
                <a:cs typeface="Arial" pitchFamily="34" charset="-120"/>
              </a:rPr>
              <a:t>5-star</a:t>
            </a:r>
            <a:endParaRPr lang="en-US" sz="2850" dirty="0"/>
          </a:p>
        </p:txBody>
      </p:sp>
      <p:sp>
        <p:nvSpPr>
          <p:cNvPr id="12" name="Text 10"/>
          <p:cNvSpPr txBox="1"/>
          <p:nvPr/>
        </p:nvSpPr>
        <p:spPr>
          <a:xfrm>
            <a:off x="6973214" y="3715207"/>
            <a:ext cx="1905610" cy="381305"/>
          </a:xfrm>
          <a:prstGeom prst="rect">
            <a:avLst/>
          </a:prstGeom>
          <a:noFill/>
          <a:ln/>
        </p:spPr>
        <p:txBody>
          <a:bodyPr wrap="square" lIns="0" tIns="0" rIns="0" bIns="0" rtlCol="0" anchor="t"/>
          <a:lstStyle/>
          <a:p>
            <a:pPr indent="0" marL="0">
              <a:lnSpc>
                <a:spcPts val="1200"/>
              </a:lnSpc>
              <a:buNone/>
            </a:pPr>
            <a:r>
              <a:rPr lang="en-US" sz="950" b="1" spc="220" kern="0" dirty="0">
                <a:solidFill>
                  <a:srgbClr val="54D2FE"/>
                </a:solidFill>
                <a:latin typeface="Arial" pitchFamily="34" charset="0"/>
                <a:ea typeface="Arial" pitchFamily="34" charset="-122"/>
                <a:cs typeface="Arial" pitchFamily="34" charset="-120"/>
              </a:rPr>
              <a:t>HOTELS, AIRLINES, VIP</a:t>
            </a:r>
            <a:endParaRPr lang="en-US" sz="950" dirty="0"/>
          </a:p>
        </p:txBody>
      </p:sp>
      <p:sp>
        <p:nvSpPr>
          <p:cNvPr id="13" name="Shape 11"/>
          <p:cNvSpPr/>
          <p:nvPr/>
        </p:nvSpPr>
        <p:spPr>
          <a:xfrm>
            <a:off x="685800" y="4572000"/>
            <a:ext cx="10820095" cy="1428293"/>
          </a:xfrm>
          <a:prstGeom prst="roundRect">
            <a:avLst>
              <a:gd name="adj" fmla="val 6658"/>
            </a:avLst>
          </a:prstGeom>
          <a:solidFill>
            <a:srgbClr val="111111"/>
          </a:solidFill>
          <a:ln/>
        </p:spPr>
      </p:sp>
      <p:sp>
        <p:nvSpPr>
          <p:cNvPr id="14" name="Text 12"/>
          <p:cNvSpPr txBox="1"/>
          <p:nvPr/>
        </p:nvSpPr>
        <p:spPr>
          <a:xfrm>
            <a:off x="819302" y="5115154"/>
            <a:ext cx="10553090"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FG-KINARA-1.PNG</a:t>
            </a:r>
            <a:endParaRPr lang="en-US" sz="950" dirty="0"/>
          </a:p>
        </p:txBody>
      </p:sp>
      <p:pic>
        <p:nvPicPr>
          <p:cNvPr id="15" name="Image 0" descr="assets/eov-wordmark-white.png">    </p:cNvPr>
          <p:cNvPicPr>
            <a:picLocks noChangeAspect="1"/>
          </p:cNvPicPr>
          <p:nvPr/>
        </p:nvPicPr>
        <p:blipFill>
          <a:blip r:embed="rId1"/>
          <a:stretch>
            <a:fillRect/>
          </a:stretch>
        </p:blipFill>
        <p:spPr>
          <a:xfrm>
            <a:off x="685800" y="6238951"/>
            <a:ext cx="571500" cy="190195"/>
          </a:xfrm>
          <a:prstGeom prst="rect">
            <a:avLst/>
          </a:prstGeom>
        </p:spPr>
      </p:pic>
      <p:sp>
        <p:nvSpPr>
          <p:cNvPr id="16" name="Text 13"/>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6E7379"/>
                </a:solidFill>
                <a:latin typeface="Arial" pitchFamily="34" charset="0"/>
                <a:ea typeface="Arial" pitchFamily="34" charset="-122"/>
                <a:cs typeface="Arial" pitchFamily="34" charset="-120"/>
              </a:rPr>
              <a:t>07</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0" y="0"/>
            <a:ext cx="6248370" cy="6858000"/>
          </a:xfrm>
          <a:prstGeom prst="rect">
            <a:avLst/>
          </a:prstGeom>
          <a:solidFill>
            <a:srgbClr val="F4F6F8"/>
          </a:solidFill>
          <a:ln/>
        </p:spPr>
      </p:sp>
      <p:sp>
        <p:nvSpPr>
          <p:cNvPr id="3" name="Text 1"/>
          <p:cNvSpPr txBox="1"/>
          <p:nvPr/>
        </p:nvSpPr>
        <p:spPr>
          <a:xfrm>
            <a:off x="6228893" y="2171700"/>
            <a:ext cx="5676870" cy="381305"/>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CEYLON-RANGE.PNG</a:t>
            </a:r>
            <a:endParaRPr lang="en-US" sz="950" dirty="0"/>
          </a:p>
        </p:txBody>
      </p:sp>
      <p:sp>
        <p:nvSpPr>
          <p:cNvPr id="4" name="Shape 2"/>
          <p:cNvSpPr/>
          <p:nvPr/>
        </p:nvSpPr>
        <p:spPr>
          <a:xfrm>
            <a:off x="5943600" y="4742993"/>
            <a:ext cx="6248370" cy="2115007"/>
          </a:xfrm>
          <a:prstGeom prst="rect">
            <a:avLst/>
          </a:prstGeom>
          <a:solidFill>
            <a:srgbClr val="000000"/>
          </a:solidFill>
          <a:ln/>
        </p:spPr>
      </p:sp>
      <p:sp>
        <p:nvSpPr>
          <p:cNvPr id="5" name="Text 3"/>
          <p:cNvSpPr txBox="1"/>
          <p:nvPr/>
        </p:nvSpPr>
        <p:spPr>
          <a:xfrm>
            <a:off x="6324905" y="5067605"/>
            <a:ext cx="5486674" cy="724205"/>
          </a:xfrm>
          <a:prstGeom prst="rect">
            <a:avLst/>
          </a:prstGeom>
          <a:noFill/>
          <a:ln/>
        </p:spPr>
        <p:txBody>
          <a:bodyPr wrap="square" lIns="0" tIns="0" rIns="0" bIns="0" rtlCol="0" anchor="t"/>
          <a:lstStyle/>
          <a:p>
            <a:pPr indent="0" marL="0">
              <a:buNone/>
            </a:pPr>
            <a:r>
              <a:rPr lang="en-US" sz="3750" b="1" dirty="0">
                <a:solidFill>
                  <a:srgbClr val="FFFFFF"/>
                </a:solidFill>
                <a:latin typeface="Arial" pitchFamily="34" charset="0"/>
                <a:ea typeface="Arial" pitchFamily="34" charset="-122"/>
                <a:cs typeface="Arial" pitchFamily="34" charset="-120"/>
              </a:rPr>
              <a:t>3.4×</a:t>
            </a:r>
            <a:endParaRPr lang="en-US" sz="3750" dirty="0"/>
          </a:p>
        </p:txBody>
      </p:sp>
      <p:sp>
        <p:nvSpPr>
          <p:cNvPr id="6" name="Text 4"/>
          <p:cNvSpPr txBox="1"/>
          <p:nvPr/>
        </p:nvSpPr>
        <p:spPr>
          <a:xfrm>
            <a:off x="6324905" y="5848502"/>
            <a:ext cx="5486674" cy="437998"/>
          </a:xfrm>
          <a:prstGeom prst="rect">
            <a:avLst/>
          </a:prstGeom>
          <a:noFill/>
          <a:ln/>
        </p:spPr>
        <p:txBody>
          <a:bodyPr wrap="square" lIns="0" tIns="0" rIns="0" bIns="0" rtlCol="0" anchor="t"/>
          <a:lstStyle/>
          <a:p>
            <a:pPr indent="0" marL="0">
              <a:lnSpc>
                <a:spcPts val="1200"/>
              </a:lnSpc>
              <a:buNone/>
            </a:pPr>
            <a:r>
              <a:rPr lang="en-US" sz="850" b="1" spc="240" kern="0" dirty="0">
                <a:solidFill>
                  <a:srgbClr val="54D2FE"/>
                </a:solidFill>
                <a:latin typeface="Arial" pitchFamily="34" charset="0"/>
                <a:ea typeface="Arial" pitchFamily="34" charset="-122"/>
                <a:cs typeface="Arial" pitchFamily="34" charset="-120"/>
              </a:rPr>
              <a:t>SEARCH VISIBILITY · ZERO PAID MEDIA</a:t>
            </a:r>
            <a:endParaRPr lang="en-US" sz="850" dirty="0"/>
          </a:p>
        </p:txBody>
      </p:sp>
      <p:sp>
        <p:nvSpPr>
          <p:cNvPr id="7" name="Text 5"/>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FORREY &amp; GALLAND · LUXURY CONFECTIONERY</a:t>
            </a:r>
            <a:endParaRPr lang="en-US" sz="950" dirty="0"/>
          </a:p>
        </p:txBody>
      </p:sp>
      <p:sp>
        <p:nvSpPr>
          <p:cNvPr id="8" name="Text 6"/>
          <p:cNvSpPr txBox="1"/>
          <p:nvPr/>
        </p:nvSpPr>
        <p:spPr>
          <a:xfrm>
            <a:off x="685800" y="800100"/>
            <a:ext cx="4724705" cy="1181405"/>
          </a:xfrm>
          <a:prstGeom prst="rect">
            <a:avLst/>
          </a:prstGeom>
          <a:noFill/>
          <a:ln/>
        </p:spPr>
        <p:txBody>
          <a:bodyPr wrap="square" lIns="0" tIns="0" rIns="0" bIns="0" rtlCol="0" anchor="t"/>
          <a:lstStyle/>
          <a:p>
            <a:pPr indent="0" marL="0">
              <a:lnSpc>
                <a:spcPts val="2700"/>
              </a:lnSpc>
              <a:buNone/>
            </a:pPr>
            <a:r>
              <a:rPr lang="en-US" sz="2250" b="1" dirty="0">
                <a:solidFill>
                  <a:srgbClr val="111111"/>
                </a:solidFill>
                <a:latin typeface="Arial" pitchFamily="34" charset="0"/>
                <a:ea typeface="Arial" pitchFamily="34" charset="-122"/>
                <a:cs typeface="Arial" pitchFamily="34" charset="-120"/>
              </a:rPr>
              <a:t>Owning the occasions the business sells into.</a:t>
            </a:r>
            <a:endParaRPr lang="en-US" sz="2250" dirty="0"/>
          </a:p>
        </p:txBody>
      </p:sp>
      <p:sp>
        <p:nvSpPr>
          <p:cNvPr id="9" name="Text 7"/>
          <p:cNvSpPr txBox="1"/>
          <p:nvPr/>
        </p:nvSpPr>
        <p:spPr>
          <a:xfrm>
            <a:off x="685800" y="2171700"/>
            <a:ext cx="4724705" cy="170993"/>
          </a:xfrm>
          <a:prstGeom prst="rect">
            <a:avLst/>
          </a:prstGeom>
          <a:noFill/>
          <a:ln/>
        </p:spPr>
        <p:txBody>
          <a:bodyPr wrap="square" lIns="0" tIns="0" rIns="0" bIns="0" rtlCol="0" anchor="ctr"/>
          <a:lstStyle/>
          <a:p>
            <a:pPr indent="0" marL="0">
              <a:buNone/>
            </a:pPr>
            <a:r>
              <a:rPr lang="en-US" sz="830" b="1" spc="260" kern="0" dirty="0">
                <a:solidFill>
                  <a:srgbClr val="8A8F98"/>
                </a:solidFill>
                <a:latin typeface="Arial" pitchFamily="34" charset="0"/>
                <a:ea typeface="Arial" pitchFamily="34" charset="-122"/>
                <a:cs typeface="Arial" pitchFamily="34" charset="-120"/>
              </a:rPr>
              <a:t>THE SITUATION</a:t>
            </a:r>
            <a:endParaRPr lang="en-US" sz="830" dirty="0"/>
          </a:p>
        </p:txBody>
      </p:sp>
      <p:sp>
        <p:nvSpPr>
          <p:cNvPr id="10" name="Text 8"/>
          <p:cNvSpPr txBox="1"/>
          <p:nvPr/>
        </p:nvSpPr>
        <p:spPr>
          <a:xfrm>
            <a:off x="685800" y="2400300"/>
            <a:ext cx="4724705" cy="742493"/>
          </a:xfrm>
          <a:prstGeom prst="rect">
            <a:avLst/>
          </a:prstGeom>
          <a:noFill/>
          <a:ln/>
        </p:spPr>
        <p:txBody>
          <a:bodyPr wrap="square" lIns="0" tIns="0" rIns="0" bIns="0" rtlCol="0" anchor="t"/>
          <a:lstStyle/>
          <a:p>
            <a:pPr indent="0" marL="0">
              <a:lnSpc>
                <a:spcPts val="1580"/>
              </a:lnSpc>
              <a:buNone/>
            </a:pPr>
            <a:r>
              <a:rPr lang="en-US" sz="1150" dirty="0">
                <a:solidFill>
                  <a:srgbClr val="5A6068"/>
                </a:solidFill>
                <a:latin typeface="Arial" pitchFamily="34" charset="0"/>
                <a:ea typeface="Arial" pitchFamily="34" charset="-122"/>
                <a:cs typeface="Arial" pitchFamily="34" charset="-120"/>
              </a:rPr>
              <a:t>A hundred-year-old Parisian house trading in a market that knew the mall but not the name. Its four selling seasons move with the lunar calendar, so nothing carries over.</a:t>
            </a:r>
            <a:endParaRPr lang="en-US" sz="1150" dirty="0"/>
          </a:p>
        </p:txBody>
      </p:sp>
      <p:sp>
        <p:nvSpPr>
          <p:cNvPr id="11" name="Text 9"/>
          <p:cNvSpPr txBox="1"/>
          <p:nvPr/>
        </p:nvSpPr>
        <p:spPr>
          <a:xfrm>
            <a:off x="685800" y="3295498"/>
            <a:ext cx="4724705" cy="170993"/>
          </a:xfrm>
          <a:prstGeom prst="rect">
            <a:avLst/>
          </a:prstGeom>
          <a:noFill/>
          <a:ln/>
        </p:spPr>
        <p:txBody>
          <a:bodyPr wrap="square" lIns="0" tIns="0" rIns="0" bIns="0" rtlCol="0" anchor="ctr"/>
          <a:lstStyle/>
          <a:p>
            <a:pPr indent="0" marL="0">
              <a:buNone/>
            </a:pPr>
            <a:r>
              <a:rPr lang="en-US" sz="830" b="1" spc="260" kern="0" dirty="0">
                <a:solidFill>
                  <a:srgbClr val="8A8F98"/>
                </a:solidFill>
                <a:latin typeface="Arial" pitchFamily="34" charset="0"/>
                <a:ea typeface="Arial" pitchFamily="34" charset="-122"/>
                <a:cs typeface="Arial" pitchFamily="34" charset="-120"/>
              </a:rPr>
              <a:t>WHAT EOV DID</a:t>
            </a:r>
            <a:endParaRPr lang="en-US" sz="830" dirty="0"/>
          </a:p>
        </p:txBody>
      </p:sp>
      <p:sp>
        <p:nvSpPr>
          <p:cNvPr id="12" name="Text 10"/>
          <p:cNvSpPr txBox="1"/>
          <p:nvPr/>
        </p:nvSpPr>
        <p:spPr>
          <a:xfrm>
            <a:off x="685800" y="3524098"/>
            <a:ext cx="4724705" cy="1162202"/>
          </a:xfrm>
          <a:prstGeom prst="rect">
            <a:avLst/>
          </a:prstGeom>
          <a:noFill/>
          <a:ln/>
        </p:spPr>
        <p:txBody>
          <a:bodyPr wrap="square" lIns="0" tIns="0" rIns="0" bIns="0" rtlCol="0" anchor="t"/>
          <a:lstStyle/>
          <a:p>
            <a:pPr indent="0" marL="0">
              <a:lnSpc>
                <a:spcPts val="1580"/>
              </a:lnSpc>
              <a:buNone/>
            </a:pPr>
            <a:r>
              <a:rPr lang="en-US" sz="1150" dirty="0">
                <a:solidFill>
                  <a:srgbClr val="5A6068"/>
                </a:solidFill>
                <a:latin typeface="Arial" pitchFamily="34" charset="0"/>
                <a:ea typeface="Arial" pitchFamily="34" charset="-122"/>
                <a:cs typeface="Arial" pitchFamily="34" charset="-120"/>
              </a:rPr>
              <a:t>EOV built each occasion as a permanent asset rather than a campaign that expires — product, photography, film, retail and search produced as one programme, so the same work carried the boutique, the feed and the search result. No paid search at any point.</a:t>
            </a:r>
            <a:endParaRPr lang="en-US" sz="1150" dirty="0"/>
          </a:p>
        </p:txBody>
      </p:sp>
      <p:sp>
        <p:nvSpPr>
          <p:cNvPr id="13" name="Text 11"/>
          <p:cNvSpPr txBox="1"/>
          <p:nvPr/>
        </p:nvSpPr>
        <p:spPr>
          <a:xfrm>
            <a:off x="685800" y="4762195"/>
            <a:ext cx="4724705" cy="170993"/>
          </a:xfrm>
          <a:prstGeom prst="rect">
            <a:avLst/>
          </a:prstGeom>
          <a:noFill/>
          <a:ln/>
        </p:spPr>
        <p:txBody>
          <a:bodyPr wrap="square" lIns="0" tIns="0" rIns="0" bIns="0" rtlCol="0" anchor="ctr"/>
          <a:lstStyle/>
          <a:p>
            <a:pPr indent="0" marL="0">
              <a:buNone/>
            </a:pPr>
            <a:r>
              <a:rPr lang="en-US" sz="830" b="1" spc="260" kern="0" dirty="0">
                <a:solidFill>
                  <a:srgbClr val="8A8F98"/>
                </a:solidFill>
                <a:latin typeface="Arial" pitchFamily="34" charset="0"/>
                <a:ea typeface="Arial" pitchFamily="34" charset="-122"/>
                <a:cs typeface="Arial" pitchFamily="34" charset="-120"/>
              </a:rPr>
              <a:t>WHAT CHANGED</a:t>
            </a:r>
            <a:endParaRPr lang="en-US" sz="830" dirty="0"/>
          </a:p>
        </p:txBody>
      </p:sp>
      <p:sp>
        <p:nvSpPr>
          <p:cNvPr id="14" name="Text 12"/>
          <p:cNvSpPr txBox="1"/>
          <p:nvPr/>
        </p:nvSpPr>
        <p:spPr>
          <a:xfrm>
            <a:off x="685800" y="4990795"/>
            <a:ext cx="4724705" cy="742493"/>
          </a:xfrm>
          <a:prstGeom prst="rect">
            <a:avLst/>
          </a:prstGeom>
          <a:noFill/>
          <a:ln/>
        </p:spPr>
        <p:txBody>
          <a:bodyPr wrap="square" lIns="0" tIns="0" rIns="0" bIns="0" rtlCol="0" anchor="t"/>
          <a:lstStyle/>
          <a:p>
            <a:pPr indent="0" marL="0">
              <a:lnSpc>
                <a:spcPts val="1580"/>
              </a:lnSpc>
              <a:buNone/>
            </a:pPr>
            <a:r>
              <a:rPr lang="en-US" sz="1150" dirty="0">
                <a:solidFill>
                  <a:srgbClr val="5A6068"/>
                </a:solidFill>
                <a:latin typeface="Arial" pitchFamily="34" charset="0"/>
                <a:ea typeface="Arial" pitchFamily="34" charset="-122"/>
                <a:cs typeface="Arial" pitchFamily="34" charset="-120"/>
              </a:rPr>
              <a:t>Search visibility up 3.4× and a peak of 1,510 visits, in a category where competitors buy their way to the top of the page.</a:t>
            </a:r>
            <a:endParaRPr lang="en-US" sz="1150" dirty="0"/>
          </a:p>
        </p:txBody>
      </p:sp>
      <p:sp>
        <p:nvSpPr>
          <p:cNvPr id="15" name="Text 13"/>
          <p:cNvSpPr txBox="1"/>
          <p:nvPr/>
        </p:nvSpPr>
        <p:spPr>
          <a:xfrm>
            <a:off x="685800" y="5771693"/>
            <a:ext cx="4724705" cy="342900"/>
          </a:xfrm>
          <a:prstGeom prst="rect">
            <a:avLst/>
          </a:prstGeom>
          <a:noFill/>
          <a:ln/>
        </p:spPr>
        <p:txBody>
          <a:bodyPr wrap="square" lIns="0" tIns="0" rIns="0" bIns="0" rtlCol="0" anchor="t"/>
          <a:lstStyle/>
          <a:p>
            <a:pPr indent="0" marL="0">
              <a:lnSpc>
                <a:spcPts val="1200"/>
              </a:lnSpc>
              <a:buNone/>
            </a:pPr>
            <a:r>
              <a:rPr lang="en-US" sz="830" b="1" spc="160" kern="0" dirty="0">
                <a:solidFill>
                  <a:srgbClr val="8A8F98"/>
                </a:solidFill>
                <a:latin typeface="Arial" pitchFamily="34" charset="0"/>
                <a:ea typeface="Arial" pitchFamily="34" charset="-122"/>
                <a:cs typeface="Arial" pitchFamily="34" charset="-120"/>
              </a:rPr>
              <a:t>Strategy · brand · photography · film · digital · retail · events</a:t>
            </a:r>
            <a:endParaRPr lang="en-US" sz="830" dirty="0"/>
          </a:p>
        </p:txBody>
      </p:sp>
      <p:pic>
        <p:nvPicPr>
          <p:cNvPr id="16"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17" name="Text 14"/>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08</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7239305" cy="6858000"/>
          </a:xfrm>
          <a:prstGeom prst="roundRect">
            <a:avLst>
              <a:gd name="adj" fmla="val 1387"/>
            </a:avLst>
          </a:prstGeom>
          <a:solidFill>
            <a:srgbClr val="111111"/>
          </a:solidFill>
          <a:ln/>
        </p:spPr>
      </p:sp>
      <p:sp>
        <p:nvSpPr>
          <p:cNvPr id="3" name="Text 1"/>
          <p:cNvSpPr txBox="1"/>
          <p:nvPr/>
        </p:nvSpPr>
        <p:spPr>
          <a:xfrm>
            <a:off x="133502" y="3258007"/>
            <a:ext cx="6972300"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FG-KINARA-4.PNG</a:t>
            </a:r>
            <a:endParaRPr lang="en-US" sz="950" dirty="0"/>
          </a:p>
        </p:txBody>
      </p:sp>
      <p:sp>
        <p:nvSpPr>
          <p:cNvPr id="4" name="Shape 2"/>
          <p:cNvSpPr/>
          <p:nvPr/>
        </p:nvSpPr>
        <p:spPr>
          <a:xfrm>
            <a:off x="7315200" y="0"/>
            <a:ext cx="4876770" cy="3391052"/>
          </a:xfrm>
          <a:prstGeom prst="roundRect">
            <a:avLst>
              <a:gd name="adj" fmla="val 2804"/>
            </a:avLst>
          </a:prstGeom>
          <a:solidFill>
            <a:srgbClr val="111111"/>
          </a:solidFill>
          <a:ln/>
        </p:spPr>
      </p:sp>
      <p:sp>
        <p:nvSpPr>
          <p:cNvPr id="5" name="Text 3"/>
          <p:cNvSpPr txBox="1"/>
          <p:nvPr/>
        </p:nvSpPr>
        <p:spPr>
          <a:xfrm>
            <a:off x="7448702" y="1524533"/>
            <a:ext cx="4609765"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FG-KINARA-2.PNG</a:t>
            </a:r>
            <a:endParaRPr lang="en-US" sz="950" dirty="0"/>
          </a:p>
        </p:txBody>
      </p:sp>
      <p:sp>
        <p:nvSpPr>
          <p:cNvPr id="6" name="Shape 4"/>
          <p:cNvSpPr/>
          <p:nvPr/>
        </p:nvSpPr>
        <p:spPr>
          <a:xfrm>
            <a:off x="7315200" y="3466948"/>
            <a:ext cx="4876770" cy="3391052"/>
          </a:xfrm>
          <a:prstGeom prst="roundRect">
            <a:avLst>
              <a:gd name="adj" fmla="val 2804"/>
            </a:avLst>
          </a:prstGeom>
          <a:solidFill>
            <a:srgbClr val="111111"/>
          </a:solidFill>
          <a:ln/>
        </p:spPr>
      </p:sp>
      <p:sp>
        <p:nvSpPr>
          <p:cNvPr id="7" name="Text 5"/>
          <p:cNvSpPr txBox="1"/>
          <p:nvPr/>
        </p:nvSpPr>
        <p:spPr>
          <a:xfrm>
            <a:off x="7448702" y="4991481"/>
            <a:ext cx="4609765"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RETAIL-ACTIVATION.PNG</a:t>
            </a:r>
            <a:endParaRPr lang="en-US" sz="950" dirty="0"/>
          </a:p>
        </p:txBody>
      </p:sp>
      <p:sp>
        <p:nvSpPr>
          <p:cNvPr id="8" name="Shape 6"/>
          <p:cNvSpPr/>
          <p:nvPr/>
        </p:nvSpPr>
        <p:spPr>
          <a:xfrm>
            <a:off x="0" y="4762195"/>
            <a:ext cx="7239305" cy="2095805"/>
          </a:xfrm>
          <a:prstGeom prst="rect">
            <a:avLst/>
          </a:prstGeom>
          <a:solidFill>
            <a:srgbClr val="000000">
              <a:alpha val="86000"/>
            </a:srgbClr>
          </a:solidFill>
          <a:ln/>
        </p:spPr>
      </p:sp>
      <p:sp>
        <p:nvSpPr>
          <p:cNvPr id="9" name="Text 7"/>
          <p:cNvSpPr txBox="1"/>
          <p:nvPr/>
        </p:nvSpPr>
        <p:spPr>
          <a:xfrm>
            <a:off x="533095" y="5219395"/>
            <a:ext cx="6191402" cy="190195"/>
          </a:xfrm>
          <a:prstGeom prst="rect">
            <a:avLst/>
          </a:prstGeom>
          <a:noFill/>
          <a:ln/>
        </p:spPr>
        <p:txBody>
          <a:bodyPr wrap="square" lIns="0" tIns="0" rIns="0" bIns="0" rtlCol="0" anchor="ctr"/>
          <a:lstStyle/>
          <a:p>
            <a:pPr indent="0" marL="0">
              <a:buNone/>
            </a:pPr>
            <a:r>
              <a:rPr lang="en-US" sz="950" b="1" spc="300" kern="0" dirty="0">
                <a:solidFill>
                  <a:srgbClr val="54D2FE"/>
                </a:solidFill>
                <a:latin typeface="Arial" pitchFamily="34" charset="0"/>
                <a:ea typeface="Arial" pitchFamily="34" charset="-122"/>
                <a:cs typeface="Arial" pitchFamily="34" charset="-120"/>
              </a:rPr>
              <a:t>FORREY &amp; GALLAND</a:t>
            </a:r>
            <a:endParaRPr lang="en-US" sz="950" dirty="0"/>
          </a:p>
        </p:txBody>
      </p:sp>
      <p:sp>
        <p:nvSpPr>
          <p:cNvPr id="10" name="Text 8"/>
          <p:cNvSpPr txBox="1"/>
          <p:nvPr/>
        </p:nvSpPr>
        <p:spPr>
          <a:xfrm>
            <a:off x="533095" y="5543093"/>
            <a:ext cx="6191402" cy="914400"/>
          </a:xfrm>
          <a:prstGeom prst="rect">
            <a:avLst/>
          </a:prstGeom>
          <a:noFill/>
          <a:ln/>
        </p:spPr>
        <p:txBody>
          <a:bodyPr wrap="square" lIns="0" tIns="0" rIns="0" bIns="0" rtlCol="0" anchor="t"/>
          <a:lstStyle/>
          <a:p>
            <a:pPr indent="0" marL="0">
              <a:lnSpc>
                <a:spcPts val="2400"/>
              </a:lnSpc>
              <a:buNone/>
            </a:pPr>
            <a:r>
              <a:rPr lang="en-US" sz="1900" b="1" dirty="0">
                <a:solidFill>
                  <a:srgbClr val="FFFFFF"/>
                </a:solidFill>
                <a:latin typeface="Arial" pitchFamily="34" charset="0"/>
                <a:ea typeface="Arial" pitchFamily="34" charset="-122"/>
                <a:cs typeface="Arial" pitchFamily="34" charset="-120"/>
              </a:rPr>
              <a:t>For a business built on occasions, the calendar is the strategy.</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FORREY &amp; GALLAND · THE CALENDAR</a:t>
            </a:r>
            <a:endParaRPr lang="en-US" sz="950" dirty="0"/>
          </a:p>
        </p:txBody>
      </p:sp>
      <p:sp>
        <p:nvSpPr>
          <p:cNvPr id="3" name="Text 1"/>
          <p:cNvSpPr txBox="1"/>
          <p:nvPr/>
        </p:nvSpPr>
        <p:spPr>
          <a:xfrm>
            <a:off x="685800" y="800100"/>
            <a:ext cx="10820095" cy="666598"/>
          </a:xfrm>
          <a:prstGeom prst="rect">
            <a:avLst/>
          </a:prstGeom>
          <a:noFill/>
          <a:ln/>
        </p:spPr>
        <p:txBody>
          <a:bodyPr wrap="square" lIns="0" tIns="0" rIns="0" bIns="0" rtlCol="0" anchor="t"/>
          <a:lstStyle/>
          <a:p>
            <a:pPr indent="0" marL="0">
              <a:lnSpc>
                <a:spcPts val="4050"/>
              </a:lnSpc>
              <a:buNone/>
            </a:pPr>
            <a:r>
              <a:rPr lang="en-US" sz="2850" b="1" dirty="0">
                <a:solidFill>
                  <a:srgbClr val="111111"/>
                </a:solidFill>
                <a:latin typeface="Arial" pitchFamily="34" charset="0"/>
                <a:ea typeface="Arial" pitchFamily="34" charset="-122"/>
                <a:cs typeface="Arial" pitchFamily="34" charset="-120"/>
              </a:rPr>
              <a:t>Four occasions, rebuilt every year.</a:t>
            </a:r>
            <a:endParaRPr lang="en-US" sz="2850" dirty="0"/>
          </a:p>
        </p:txBody>
      </p:sp>
      <p:sp>
        <p:nvSpPr>
          <p:cNvPr id="4" name="Text 2"/>
          <p:cNvSpPr txBox="1"/>
          <p:nvPr/>
        </p:nvSpPr>
        <p:spPr>
          <a:xfrm>
            <a:off x="685800" y="1676095"/>
            <a:ext cx="9525305" cy="761695"/>
          </a:xfrm>
          <a:prstGeom prst="rect">
            <a:avLst/>
          </a:prstGeom>
          <a:noFill/>
          <a:ln/>
        </p:spPr>
        <p:txBody>
          <a:bodyPr wrap="square" lIns="0" tIns="0" rIns="0" bIns="0" rtlCol="0" anchor="t"/>
          <a:lstStyle/>
          <a:p>
            <a:pPr indent="0" marL="0">
              <a:lnSpc>
                <a:spcPts val="1950"/>
              </a:lnSpc>
              <a:buNone/>
            </a:pPr>
            <a:r>
              <a:rPr lang="en-US" sz="1300" dirty="0">
                <a:solidFill>
                  <a:srgbClr val="5A6068"/>
                </a:solidFill>
                <a:latin typeface="Arial" pitchFamily="34" charset="0"/>
                <a:ea typeface="Arial" pitchFamily="34" charset="-122"/>
                <a:cs typeface="Arial" pitchFamily="34" charset="-120"/>
              </a:rPr>
              <a:t>The lunar calendar moves roughly eleven days a year, so nothing carries over and nothing can be rescheduled. Each occasion is rebuilt from scratch as a full programme — product, photography, campaign, events and retail — against a shelf date that does not move.</a:t>
            </a:r>
            <a:endParaRPr lang="en-US" sz="1300" dirty="0"/>
          </a:p>
        </p:txBody>
      </p:sp>
      <p:sp>
        <p:nvSpPr>
          <p:cNvPr id="5" name="Shape 3"/>
          <p:cNvSpPr/>
          <p:nvPr/>
        </p:nvSpPr>
        <p:spPr>
          <a:xfrm>
            <a:off x="685800" y="2571293"/>
            <a:ext cx="2562149" cy="1714500"/>
          </a:xfrm>
          <a:prstGeom prst="roundRect">
            <a:avLst>
              <a:gd name="adj" fmla="val 5547"/>
            </a:avLst>
          </a:prstGeom>
          <a:solidFill>
            <a:srgbClr val="F4F6F8"/>
          </a:solidFill>
          <a:ln/>
        </p:spPr>
      </p:sp>
      <p:sp>
        <p:nvSpPr>
          <p:cNvPr id="6" name="Text 4"/>
          <p:cNvSpPr txBox="1"/>
          <p:nvPr/>
        </p:nvSpPr>
        <p:spPr>
          <a:xfrm>
            <a:off x="819302" y="3257550"/>
            <a:ext cx="22951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HATTA-RAMADAN.PNG / UAE-NATIONAL-DAY.PNG</a:t>
            </a:r>
            <a:endParaRPr lang="en-US" sz="950" dirty="0"/>
          </a:p>
        </p:txBody>
      </p:sp>
      <p:sp>
        <p:nvSpPr>
          <p:cNvPr id="7" name="Text 5"/>
          <p:cNvSpPr txBox="1"/>
          <p:nvPr/>
        </p:nvSpPr>
        <p:spPr>
          <a:xfrm>
            <a:off x="685800" y="4457700"/>
            <a:ext cx="2562149" cy="323698"/>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Ramadan</a:t>
            </a:r>
            <a:endParaRPr lang="en-US" sz="1400" dirty="0"/>
          </a:p>
        </p:txBody>
      </p:sp>
      <p:sp>
        <p:nvSpPr>
          <p:cNvPr id="8" name="Shape 6"/>
          <p:cNvSpPr/>
          <p:nvPr/>
        </p:nvSpPr>
        <p:spPr>
          <a:xfrm>
            <a:off x="3429000" y="2571293"/>
            <a:ext cx="2562149" cy="1714500"/>
          </a:xfrm>
          <a:prstGeom prst="roundRect">
            <a:avLst>
              <a:gd name="adj" fmla="val 5547"/>
            </a:avLst>
          </a:prstGeom>
          <a:solidFill>
            <a:srgbClr val="F4F6F8"/>
          </a:solidFill>
          <a:ln/>
        </p:spPr>
      </p:sp>
      <p:sp>
        <p:nvSpPr>
          <p:cNvPr id="9" name="Text 7"/>
          <p:cNvSpPr txBox="1"/>
          <p:nvPr/>
        </p:nvSpPr>
        <p:spPr>
          <a:xfrm>
            <a:off x="3562502" y="3257550"/>
            <a:ext cx="22951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HATTA-RAMADAN.PNG / UAE-NATIONAL-DAY.PNG</a:t>
            </a:r>
            <a:endParaRPr lang="en-US" sz="950" dirty="0"/>
          </a:p>
        </p:txBody>
      </p:sp>
      <p:sp>
        <p:nvSpPr>
          <p:cNvPr id="10" name="Text 8"/>
          <p:cNvSpPr txBox="1"/>
          <p:nvPr/>
        </p:nvSpPr>
        <p:spPr>
          <a:xfrm>
            <a:off x="3429000" y="4457700"/>
            <a:ext cx="2562149" cy="323698"/>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Eid al-Fitr</a:t>
            </a:r>
            <a:endParaRPr lang="en-US" sz="1400" dirty="0"/>
          </a:p>
        </p:txBody>
      </p:sp>
      <p:sp>
        <p:nvSpPr>
          <p:cNvPr id="11" name="Shape 9"/>
          <p:cNvSpPr/>
          <p:nvPr/>
        </p:nvSpPr>
        <p:spPr>
          <a:xfrm>
            <a:off x="6172200" y="2571293"/>
            <a:ext cx="2562149" cy="1714500"/>
          </a:xfrm>
          <a:prstGeom prst="roundRect">
            <a:avLst>
              <a:gd name="adj" fmla="val 5547"/>
            </a:avLst>
          </a:prstGeom>
          <a:solidFill>
            <a:srgbClr val="F4F6F8"/>
          </a:solidFill>
          <a:ln/>
        </p:spPr>
      </p:sp>
      <p:sp>
        <p:nvSpPr>
          <p:cNvPr id="12" name="Text 10"/>
          <p:cNvSpPr txBox="1"/>
          <p:nvPr/>
        </p:nvSpPr>
        <p:spPr>
          <a:xfrm>
            <a:off x="6305702" y="3257550"/>
            <a:ext cx="22951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HATTA-RAMADAN.PNG / UAE-NATIONAL-DAY.PNG</a:t>
            </a:r>
            <a:endParaRPr lang="en-US" sz="950" dirty="0"/>
          </a:p>
        </p:txBody>
      </p:sp>
      <p:sp>
        <p:nvSpPr>
          <p:cNvPr id="13" name="Text 11"/>
          <p:cNvSpPr txBox="1"/>
          <p:nvPr/>
        </p:nvSpPr>
        <p:spPr>
          <a:xfrm>
            <a:off x="6172200" y="4457700"/>
            <a:ext cx="2562149" cy="323698"/>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Eid al-Adha</a:t>
            </a:r>
            <a:endParaRPr lang="en-US" sz="1400" dirty="0"/>
          </a:p>
        </p:txBody>
      </p:sp>
      <p:sp>
        <p:nvSpPr>
          <p:cNvPr id="14" name="Shape 12"/>
          <p:cNvSpPr/>
          <p:nvPr/>
        </p:nvSpPr>
        <p:spPr>
          <a:xfrm>
            <a:off x="8915400" y="2571293"/>
            <a:ext cx="2562149" cy="1714500"/>
          </a:xfrm>
          <a:prstGeom prst="roundRect">
            <a:avLst>
              <a:gd name="adj" fmla="val 5547"/>
            </a:avLst>
          </a:prstGeom>
          <a:solidFill>
            <a:srgbClr val="F4F6F8"/>
          </a:solidFill>
          <a:ln/>
        </p:spPr>
      </p:sp>
      <p:sp>
        <p:nvSpPr>
          <p:cNvPr id="15" name="Text 13"/>
          <p:cNvSpPr txBox="1"/>
          <p:nvPr/>
        </p:nvSpPr>
        <p:spPr>
          <a:xfrm>
            <a:off x="9048902" y="3257550"/>
            <a:ext cx="22951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HATTA-RAMADAN.PNG / UAE-NATIONAL-DAY.PNG</a:t>
            </a:r>
            <a:endParaRPr lang="en-US" sz="950" dirty="0"/>
          </a:p>
        </p:txBody>
      </p:sp>
      <p:sp>
        <p:nvSpPr>
          <p:cNvPr id="16" name="Text 14"/>
          <p:cNvSpPr txBox="1"/>
          <p:nvPr/>
        </p:nvSpPr>
        <p:spPr>
          <a:xfrm>
            <a:off x="8915400" y="4457700"/>
            <a:ext cx="2562149" cy="323698"/>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Diwali</a:t>
            </a:r>
            <a:endParaRPr lang="en-US" sz="1400" dirty="0"/>
          </a:p>
        </p:txBody>
      </p:sp>
      <p:pic>
        <p:nvPicPr>
          <p:cNvPr id="17"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18" name="Text 15"/>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54D2FE"/>
                </a:solidFill>
                <a:latin typeface="Arial" pitchFamily="34" charset="0"/>
                <a:ea typeface="Arial" pitchFamily="34" charset="-122"/>
                <a:cs typeface="Arial" pitchFamily="34" charset="-120"/>
              </a:rPr>
              <a:t>FERRONATO KGS GROUP · LUGANO, 1906</a:t>
            </a:r>
            <a:endParaRPr lang="en-US" sz="950" dirty="0"/>
          </a:p>
        </p:txBody>
      </p:sp>
      <p:sp>
        <p:nvSpPr>
          <p:cNvPr id="3" name="Text 1"/>
          <p:cNvSpPr txBox="1"/>
          <p:nvPr/>
        </p:nvSpPr>
        <p:spPr>
          <a:xfrm>
            <a:off x="685800" y="800100"/>
            <a:ext cx="10820095" cy="1238098"/>
          </a:xfrm>
          <a:prstGeom prst="rect">
            <a:avLst/>
          </a:prstGeom>
          <a:noFill/>
          <a:ln/>
        </p:spPr>
        <p:txBody>
          <a:bodyPr wrap="square" lIns="0" tIns="0" rIns="0" bIns="0" rtlCol="0" anchor="t"/>
          <a:lstStyle/>
          <a:p>
            <a:pPr indent="0" marL="0">
              <a:lnSpc>
                <a:spcPts val="3600"/>
              </a:lnSpc>
              <a:buNone/>
            </a:pPr>
            <a:r>
              <a:rPr lang="en-US" sz="3000" b="1" dirty="0">
                <a:solidFill>
                  <a:srgbClr val="FFFFFF"/>
                </a:solidFill>
                <a:latin typeface="Arial" pitchFamily="34" charset="0"/>
                <a:ea typeface="Arial" pitchFamily="34" charset="-122"/>
                <a:cs typeface="Arial" pitchFamily="34" charset="-120"/>
              </a:rPr>
              <a:t>One group. Engineers on one side, luxury buyers on the other.</a:t>
            </a:r>
            <a:endParaRPr lang="en-US" sz="3000" dirty="0"/>
          </a:p>
        </p:txBody>
      </p:sp>
      <p:sp>
        <p:nvSpPr>
          <p:cNvPr id="4" name="Text 2"/>
          <p:cNvSpPr txBox="1"/>
          <p:nvPr/>
        </p:nvSpPr>
        <p:spPr>
          <a:xfrm>
            <a:off x="685800" y="2190902"/>
            <a:ext cx="8572500" cy="533095"/>
          </a:xfrm>
          <a:prstGeom prst="rect">
            <a:avLst/>
          </a:prstGeom>
          <a:noFill/>
          <a:ln/>
        </p:spPr>
        <p:txBody>
          <a:bodyPr wrap="square" lIns="0" tIns="0" rIns="0" bIns="0" rtlCol="0" anchor="t"/>
          <a:lstStyle/>
          <a:p>
            <a:pPr indent="0" marL="0">
              <a:lnSpc>
                <a:spcPts val="1950"/>
              </a:lnSpc>
              <a:buNone/>
            </a:pPr>
            <a:r>
              <a:rPr lang="en-US" sz="1300" dirty="0">
                <a:solidFill>
                  <a:srgbClr val="B9BEC5"/>
                </a:solidFill>
                <a:latin typeface="Arial" pitchFamily="34" charset="0"/>
                <a:ea typeface="Arial" pitchFamily="34" charset="-122"/>
                <a:cs typeface="Arial" pitchFamily="34" charset="-120"/>
              </a:rPr>
              <a:t>A leading manufacturer of flexible diamond abrasives and metallised fabrics, entering the lifestyle category on its own industrial technology.</a:t>
            </a:r>
            <a:endParaRPr lang="en-US" sz="1300" dirty="0"/>
          </a:p>
        </p:txBody>
      </p:sp>
      <p:sp>
        <p:nvSpPr>
          <p:cNvPr id="5" name="Text 3"/>
          <p:cNvSpPr txBox="1"/>
          <p:nvPr/>
        </p:nvSpPr>
        <p:spPr>
          <a:xfrm>
            <a:off x="685800" y="3047695"/>
            <a:ext cx="1943100" cy="437998"/>
          </a:xfrm>
          <a:prstGeom prst="rect">
            <a:avLst/>
          </a:prstGeom>
          <a:noFill/>
          <a:ln/>
        </p:spPr>
        <p:txBody>
          <a:bodyPr wrap="square" lIns="0" tIns="0" rIns="0" bIns="0" rtlCol="0" anchor="ctr"/>
          <a:lstStyle/>
          <a:p>
            <a:pPr indent="0" marL="0">
              <a:buNone/>
            </a:pPr>
            <a:r>
              <a:rPr lang="en-US" sz="2850" b="1" dirty="0">
                <a:solidFill>
                  <a:srgbClr val="FFFFFF"/>
                </a:solidFill>
                <a:latin typeface="Arial" pitchFamily="34" charset="0"/>
                <a:ea typeface="Arial" pitchFamily="34" charset="-122"/>
                <a:cs typeface="Arial" pitchFamily="34" charset="-120"/>
              </a:rPr>
              <a:t>1906</a:t>
            </a:r>
            <a:endParaRPr lang="en-US" sz="2850" dirty="0"/>
          </a:p>
        </p:txBody>
      </p:sp>
      <p:sp>
        <p:nvSpPr>
          <p:cNvPr id="6" name="Text 4"/>
          <p:cNvSpPr txBox="1"/>
          <p:nvPr/>
        </p:nvSpPr>
        <p:spPr>
          <a:xfrm>
            <a:off x="685800" y="3524098"/>
            <a:ext cx="1905610" cy="381305"/>
          </a:xfrm>
          <a:prstGeom prst="rect">
            <a:avLst/>
          </a:prstGeom>
          <a:noFill/>
          <a:ln/>
        </p:spPr>
        <p:txBody>
          <a:bodyPr wrap="square" lIns="0" tIns="0" rIns="0" bIns="0" rtlCol="0" anchor="t"/>
          <a:lstStyle/>
          <a:p>
            <a:pPr indent="0" marL="0">
              <a:lnSpc>
                <a:spcPts val="1200"/>
              </a:lnSpc>
              <a:buNone/>
            </a:pPr>
            <a:r>
              <a:rPr lang="en-US" sz="950" b="1" spc="220" kern="0" dirty="0">
                <a:solidFill>
                  <a:srgbClr val="54D2FE"/>
                </a:solidFill>
                <a:latin typeface="Arial" pitchFamily="34" charset="0"/>
                <a:ea typeface="Arial" pitchFamily="34" charset="-122"/>
                <a:cs typeface="Arial" pitchFamily="34" charset="-120"/>
              </a:rPr>
              <a:t>FOUNDED, LUGANO</a:t>
            </a:r>
            <a:endParaRPr lang="en-US" sz="950" dirty="0"/>
          </a:p>
        </p:txBody>
      </p:sp>
      <p:sp>
        <p:nvSpPr>
          <p:cNvPr id="7" name="Text 5"/>
          <p:cNvSpPr txBox="1"/>
          <p:nvPr/>
        </p:nvSpPr>
        <p:spPr>
          <a:xfrm>
            <a:off x="2781605" y="3047695"/>
            <a:ext cx="1943100" cy="437998"/>
          </a:xfrm>
          <a:prstGeom prst="rect">
            <a:avLst/>
          </a:prstGeom>
          <a:noFill/>
          <a:ln/>
        </p:spPr>
        <p:txBody>
          <a:bodyPr wrap="square" lIns="0" tIns="0" rIns="0" bIns="0" rtlCol="0" anchor="ctr"/>
          <a:lstStyle/>
          <a:p>
            <a:pPr indent="0" marL="0">
              <a:buNone/>
            </a:pPr>
            <a:r>
              <a:rPr lang="en-US" sz="2850" b="1" dirty="0">
                <a:solidFill>
                  <a:srgbClr val="FFFFFF"/>
                </a:solidFill>
                <a:latin typeface="Arial" pitchFamily="34" charset="0"/>
                <a:ea typeface="Arial" pitchFamily="34" charset="-122"/>
                <a:cs typeface="Arial" pitchFamily="34" charset="-120"/>
              </a:rPr>
              <a:t>4th</a:t>
            </a:r>
            <a:endParaRPr lang="en-US" sz="2850" dirty="0"/>
          </a:p>
        </p:txBody>
      </p:sp>
      <p:sp>
        <p:nvSpPr>
          <p:cNvPr id="8" name="Text 6"/>
          <p:cNvSpPr txBox="1"/>
          <p:nvPr/>
        </p:nvSpPr>
        <p:spPr>
          <a:xfrm>
            <a:off x="2781605" y="3524098"/>
            <a:ext cx="1905610" cy="381305"/>
          </a:xfrm>
          <a:prstGeom prst="rect">
            <a:avLst/>
          </a:prstGeom>
          <a:noFill/>
          <a:ln/>
        </p:spPr>
        <p:txBody>
          <a:bodyPr wrap="square" lIns="0" tIns="0" rIns="0" bIns="0" rtlCol="0" anchor="t"/>
          <a:lstStyle/>
          <a:p>
            <a:pPr indent="0" marL="0">
              <a:lnSpc>
                <a:spcPts val="1200"/>
              </a:lnSpc>
              <a:buNone/>
            </a:pPr>
            <a:r>
              <a:rPr lang="en-US" sz="950" b="1" spc="220" kern="0" dirty="0">
                <a:solidFill>
                  <a:srgbClr val="54D2FE"/>
                </a:solidFill>
                <a:latin typeface="Arial" pitchFamily="34" charset="0"/>
                <a:ea typeface="Arial" pitchFamily="34" charset="-122"/>
                <a:cs typeface="Arial" pitchFamily="34" charset="-120"/>
              </a:rPr>
              <a:t>GENERATION</a:t>
            </a:r>
            <a:endParaRPr lang="en-US" sz="950" dirty="0"/>
          </a:p>
        </p:txBody>
      </p:sp>
      <p:sp>
        <p:nvSpPr>
          <p:cNvPr id="9" name="Text 7"/>
          <p:cNvSpPr txBox="1"/>
          <p:nvPr/>
        </p:nvSpPr>
        <p:spPr>
          <a:xfrm>
            <a:off x="4877410" y="3047695"/>
            <a:ext cx="1943100" cy="437998"/>
          </a:xfrm>
          <a:prstGeom prst="rect">
            <a:avLst/>
          </a:prstGeom>
          <a:noFill/>
          <a:ln/>
        </p:spPr>
        <p:txBody>
          <a:bodyPr wrap="square" lIns="0" tIns="0" rIns="0" bIns="0" rtlCol="0" anchor="ctr"/>
          <a:lstStyle/>
          <a:p>
            <a:pPr indent="0" marL="0">
              <a:buNone/>
            </a:pPr>
            <a:r>
              <a:rPr lang="en-US" sz="2850" b="1" dirty="0">
                <a:solidFill>
                  <a:srgbClr val="FFFFFF"/>
                </a:solidFill>
                <a:latin typeface="Arial" pitchFamily="34" charset="0"/>
                <a:ea typeface="Arial" pitchFamily="34" charset="-122"/>
                <a:cs typeface="Arial" pitchFamily="34" charset="-120"/>
              </a:rPr>
              <a:t>16</a:t>
            </a:r>
            <a:endParaRPr lang="en-US" sz="2850" dirty="0"/>
          </a:p>
        </p:txBody>
      </p:sp>
      <p:sp>
        <p:nvSpPr>
          <p:cNvPr id="10" name="Text 8"/>
          <p:cNvSpPr txBox="1"/>
          <p:nvPr/>
        </p:nvSpPr>
        <p:spPr>
          <a:xfrm>
            <a:off x="4877410" y="3524098"/>
            <a:ext cx="1905610" cy="381305"/>
          </a:xfrm>
          <a:prstGeom prst="rect">
            <a:avLst/>
          </a:prstGeom>
          <a:noFill/>
          <a:ln/>
        </p:spPr>
        <p:txBody>
          <a:bodyPr wrap="square" lIns="0" tIns="0" rIns="0" bIns="0" rtlCol="0" anchor="t"/>
          <a:lstStyle/>
          <a:p>
            <a:pPr indent="0" marL="0">
              <a:lnSpc>
                <a:spcPts val="1200"/>
              </a:lnSpc>
              <a:buNone/>
            </a:pPr>
            <a:r>
              <a:rPr lang="en-US" sz="950" b="1" spc="220" kern="0" dirty="0">
                <a:solidFill>
                  <a:srgbClr val="54D2FE"/>
                </a:solidFill>
                <a:latin typeface="Arial" pitchFamily="34" charset="0"/>
                <a:ea typeface="Arial" pitchFamily="34" charset="-122"/>
                <a:cs typeface="Arial" pitchFamily="34" charset="-120"/>
              </a:rPr>
              <a:t>COUNTRIES</a:t>
            </a:r>
            <a:endParaRPr lang="en-US" sz="950" dirty="0"/>
          </a:p>
        </p:txBody>
      </p:sp>
      <p:sp>
        <p:nvSpPr>
          <p:cNvPr id="11" name="Text 9"/>
          <p:cNvSpPr txBox="1"/>
          <p:nvPr/>
        </p:nvSpPr>
        <p:spPr>
          <a:xfrm>
            <a:off x="6973214" y="3047695"/>
            <a:ext cx="1943100" cy="437998"/>
          </a:xfrm>
          <a:prstGeom prst="rect">
            <a:avLst/>
          </a:prstGeom>
          <a:noFill/>
          <a:ln/>
        </p:spPr>
        <p:txBody>
          <a:bodyPr wrap="square" lIns="0" tIns="0" rIns="0" bIns="0" rtlCol="0" anchor="ctr"/>
          <a:lstStyle/>
          <a:p>
            <a:pPr indent="0" marL="0">
              <a:buNone/>
            </a:pPr>
            <a:r>
              <a:rPr lang="en-US" sz="2850" b="1" dirty="0">
                <a:solidFill>
                  <a:srgbClr val="FFFFFF"/>
                </a:solidFill>
                <a:latin typeface="Arial" pitchFamily="34" charset="0"/>
                <a:ea typeface="Arial" pitchFamily="34" charset="-122"/>
                <a:cs typeface="Arial" pitchFamily="34" charset="-120"/>
              </a:rPr>
              <a:t>100+</a:t>
            </a:r>
            <a:endParaRPr lang="en-US" sz="2850" dirty="0"/>
          </a:p>
        </p:txBody>
      </p:sp>
      <p:sp>
        <p:nvSpPr>
          <p:cNvPr id="12" name="Text 10"/>
          <p:cNvSpPr txBox="1"/>
          <p:nvPr/>
        </p:nvSpPr>
        <p:spPr>
          <a:xfrm>
            <a:off x="6973214" y="3524098"/>
            <a:ext cx="1905610" cy="381305"/>
          </a:xfrm>
          <a:prstGeom prst="rect">
            <a:avLst/>
          </a:prstGeom>
          <a:noFill/>
          <a:ln/>
        </p:spPr>
        <p:txBody>
          <a:bodyPr wrap="square" lIns="0" tIns="0" rIns="0" bIns="0" rtlCol="0" anchor="t"/>
          <a:lstStyle/>
          <a:p>
            <a:pPr indent="0" marL="0">
              <a:lnSpc>
                <a:spcPts val="1200"/>
              </a:lnSpc>
              <a:buNone/>
            </a:pPr>
            <a:r>
              <a:rPr lang="en-US" sz="950" b="1" spc="220" kern="0" dirty="0">
                <a:solidFill>
                  <a:srgbClr val="54D2FE"/>
                </a:solidFill>
                <a:latin typeface="Arial" pitchFamily="34" charset="0"/>
                <a:ea typeface="Arial" pitchFamily="34" charset="-122"/>
                <a:cs typeface="Arial" pitchFamily="34" charset="-120"/>
              </a:rPr>
              <a:t>MARKETS SUPPLIED</a:t>
            </a:r>
            <a:endParaRPr lang="en-US" sz="950" dirty="0"/>
          </a:p>
        </p:txBody>
      </p:sp>
      <p:sp>
        <p:nvSpPr>
          <p:cNvPr id="13" name="Shape 11"/>
          <p:cNvSpPr/>
          <p:nvPr/>
        </p:nvSpPr>
        <p:spPr>
          <a:xfrm>
            <a:off x="685800" y="4476902"/>
            <a:ext cx="5257800" cy="1524305"/>
          </a:xfrm>
          <a:prstGeom prst="roundRect">
            <a:avLst>
              <a:gd name="adj" fmla="val 6239"/>
            </a:avLst>
          </a:prstGeom>
          <a:solidFill>
            <a:srgbClr val="111111"/>
          </a:solidFill>
          <a:ln/>
        </p:spPr>
      </p:sp>
      <p:sp>
        <p:nvSpPr>
          <p:cNvPr id="14" name="Text 12"/>
          <p:cNvSpPr txBox="1"/>
          <p:nvPr/>
        </p:nvSpPr>
        <p:spPr>
          <a:xfrm>
            <a:off x="819302" y="5068062"/>
            <a:ext cx="4990795"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EXHIBITION-STAND.PNG</a:t>
            </a:r>
            <a:endParaRPr lang="en-US" sz="950" dirty="0"/>
          </a:p>
        </p:txBody>
      </p:sp>
      <p:sp>
        <p:nvSpPr>
          <p:cNvPr id="15" name="Shape 13"/>
          <p:cNvSpPr/>
          <p:nvPr/>
        </p:nvSpPr>
        <p:spPr>
          <a:xfrm>
            <a:off x="6248095" y="4476902"/>
            <a:ext cx="5257800" cy="1524305"/>
          </a:xfrm>
          <a:prstGeom prst="roundRect">
            <a:avLst>
              <a:gd name="adj" fmla="val 6239"/>
            </a:avLst>
          </a:prstGeom>
          <a:solidFill>
            <a:srgbClr val="111111"/>
          </a:solidFill>
          <a:ln/>
        </p:spPr>
      </p:sp>
      <p:sp>
        <p:nvSpPr>
          <p:cNvPr id="16" name="Text 14"/>
          <p:cNvSpPr txBox="1"/>
          <p:nvPr/>
        </p:nvSpPr>
        <p:spPr>
          <a:xfrm>
            <a:off x="6381598" y="5068062"/>
            <a:ext cx="4990795"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FERRONATO-PRODUCT.PNG</a:t>
            </a:r>
            <a:endParaRPr lang="en-US" sz="950" dirty="0"/>
          </a:p>
        </p:txBody>
      </p:sp>
      <p:pic>
        <p:nvPicPr>
          <p:cNvPr id="17" name="Image 0" descr="assets/eov-wordmark-white.png">    </p:cNvPr>
          <p:cNvPicPr>
            <a:picLocks noChangeAspect="1"/>
          </p:cNvPicPr>
          <p:nvPr/>
        </p:nvPicPr>
        <p:blipFill>
          <a:blip r:embed="rId1"/>
          <a:stretch>
            <a:fillRect/>
          </a:stretch>
        </p:blipFill>
        <p:spPr>
          <a:xfrm>
            <a:off x="685800" y="6238951"/>
            <a:ext cx="571500" cy="190195"/>
          </a:xfrm>
          <a:prstGeom prst="rect">
            <a:avLst/>
          </a:prstGeom>
        </p:spPr>
      </p:pic>
      <p:sp>
        <p:nvSpPr>
          <p:cNvPr id="18" name="Text 15"/>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6E7379"/>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0" y="0"/>
            <a:ext cx="6248370" cy="6858000"/>
          </a:xfrm>
          <a:prstGeom prst="rect">
            <a:avLst/>
          </a:prstGeom>
          <a:solidFill>
            <a:srgbClr val="F4F6F8"/>
          </a:solidFill>
          <a:ln/>
        </p:spPr>
      </p:sp>
      <p:sp>
        <p:nvSpPr>
          <p:cNvPr id="3" name="Text 1"/>
          <p:cNvSpPr txBox="1"/>
          <p:nvPr/>
        </p:nvSpPr>
        <p:spPr>
          <a:xfrm>
            <a:off x="6228893" y="2171700"/>
            <a:ext cx="5676870" cy="381305"/>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FERRONATO-PRODUCT.PNG</a:t>
            </a:r>
            <a:endParaRPr lang="en-US" sz="950" dirty="0"/>
          </a:p>
        </p:txBody>
      </p:sp>
      <p:sp>
        <p:nvSpPr>
          <p:cNvPr id="4" name="Shape 2"/>
          <p:cNvSpPr/>
          <p:nvPr/>
        </p:nvSpPr>
        <p:spPr>
          <a:xfrm>
            <a:off x="5943600" y="4742993"/>
            <a:ext cx="6248370" cy="2115007"/>
          </a:xfrm>
          <a:prstGeom prst="rect">
            <a:avLst/>
          </a:prstGeom>
          <a:solidFill>
            <a:srgbClr val="000000"/>
          </a:solidFill>
          <a:ln/>
        </p:spPr>
      </p:sp>
      <p:sp>
        <p:nvSpPr>
          <p:cNvPr id="5" name="Text 3"/>
          <p:cNvSpPr txBox="1"/>
          <p:nvPr/>
        </p:nvSpPr>
        <p:spPr>
          <a:xfrm>
            <a:off x="6324905" y="5067605"/>
            <a:ext cx="5486674" cy="724205"/>
          </a:xfrm>
          <a:prstGeom prst="rect">
            <a:avLst/>
          </a:prstGeom>
          <a:noFill/>
          <a:ln/>
        </p:spPr>
        <p:txBody>
          <a:bodyPr wrap="square" lIns="0" tIns="0" rIns="0" bIns="0" rtlCol="0" anchor="t"/>
          <a:lstStyle/>
          <a:p>
            <a:pPr indent="0" marL="0">
              <a:buNone/>
            </a:pPr>
            <a:r>
              <a:rPr lang="en-US" sz="3750" b="1" dirty="0">
                <a:solidFill>
                  <a:srgbClr val="FFFFFF"/>
                </a:solidFill>
                <a:latin typeface="Arial" pitchFamily="34" charset="0"/>
                <a:ea typeface="Arial" pitchFamily="34" charset="-122"/>
                <a:cs typeface="Arial" pitchFamily="34" charset="-120"/>
              </a:rPr>
              <a:t>5.6×</a:t>
            </a:r>
            <a:endParaRPr lang="en-US" sz="3750" dirty="0"/>
          </a:p>
        </p:txBody>
      </p:sp>
      <p:sp>
        <p:nvSpPr>
          <p:cNvPr id="6" name="Text 4"/>
          <p:cNvSpPr txBox="1"/>
          <p:nvPr/>
        </p:nvSpPr>
        <p:spPr>
          <a:xfrm>
            <a:off x="6324905" y="5848502"/>
            <a:ext cx="5486674" cy="437998"/>
          </a:xfrm>
          <a:prstGeom prst="rect">
            <a:avLst/>
          </a:prstGeom>
          <a:noFill/>
          <a:ln/>
        </p:spPr>
        <p:txBody>
          <a:bodyPr wrap="square" lIns="0" tIns="0" rIns="0" bIns="0" rtlCol="0" anchor="t"/>
          <a:lstStyle/>
          <a:p>
            <a:pPr indent="0" marL="0">
              <a:lnSpc>
                <a:spcPts val="1200"/>
              </a:lnSpc>
              <a:buNone/>
            </a:pPr>
            <a:r>
              <a:rPr lang="en-US" sz="850" b="1" spc="240" kern="0" dirty="0">
                <a:solidFill>
                  <a:srgbClr val="54D2FE"/>
                </a:solidFill>
                <a:latin typeface="Arial" pitchFamily="34" charset="0"/>
                <a:ea typeface="Arial" pitchFamily="34" charset="-122"/>
                <a:cs typeface="Arial" pitchFamily="34" charset="-120"/>
              </a:rPr>
              <a:t>VISIBILITY · 96 RANKED TERMS · 40–90 DB</a:t>
            </a:r>
            <a:endParaRPr lang="en-US" sz="850" dirty="0"/>
          </a:p>
        </p:txBody>
      </p:sp>
      <p:sp>
        <p:nvSpPr>
          <p:cNvPr id="7" name="Text 5"/>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KGS · METAFAB® · INDUSTRIAL B2B</a:t>
            </a:r>
            <a:endParaRPr lang="en-US" sz="950" dirty="0"/>
          </a:p>
        </p:txBody>
      </p:sp>
      <p:sp>
        <p:nvSpPr>
          <p:cNvPr id="8" name="Text 6"/>
          <p:cNvSpPr txBox="1"/>
          <p:nvPr/>
        </p:nvSpPr>
        <p:spPr>
          <a:xfrm>
            <a:off x="685800" y="800100"/>
            <a:ext cx="4724705" cy="1181405"/>
          </a:xfrm>
          <a:prstGeom prst="rect">
            <a:avLst/>
          </a:prstGeom>
          <a:noFill/>
          <a:ln/>
        </p:spPr>
        <p:txBody>
          <a:bodyPr wrap="square" lIns="0" tIns="0" rIns="0" bIns="0" rtlCol="0" anchor="t"/>
          <a:lstStyle/>
          <a:p>
            <a:pPr indent="0" marL="0">
              <a:lnSpc>
                <a:spcPts val="2700"/>
              </a:lnSpc>
              <a:buNone/>
            </a:pPr>
            <a:r>
              <a:rPr lang="en-US" sz="2250" b="1" dirty="0">
                <a:solidFill>
                  <a:srgbClr val="111111"/>
                </a:solidFill>
                <a:latin typeface="Arial" pitchFamily="34" charset="0"/>
                <a:ea typeface="Arial" pitchFamily="34" charset="-122"/>
                <a:cs typeface="Arial" pitchFamily="34" charset="-120"/>
              </a:rPr>
              <a:t>Marketing a material that shields naval vessels.</a:t>
            </a:r>
            <a:endParaRPr lang="en-US" sz="2250" dirty="0"/>
          </a:p>
        </p:txBody>
      </p:sp>
      <p:sp>
        <p:nvSpPr>
          <p:cNvPr id="9" name="Text 7"/>
          <p:cNvSpPr txBox="1"/>
          <p:nvPr/>
        </p:nvSpPr>
        <p:spPr>
          <a:xfrm>
            <a:off x="685800" y="2171700"/>
            <a:ext cx="4724705" cy="170993"/>
          </a:xfrm>
          <a:prstGeom prst="rect">
            <a:avLst/>
          </a:prstGeom>
          <a:noFill/>
          <a:ln/>
        </p:spPr>
        <p:txBody>
          <a:bodyPr wrap="square" lIns="0" tIns="0" rIns="0" bIns="0" rtlCol="0" anchor="ctr"/>
          <a:lstStyle/>
          <a:p>
            <a:pPr indent="0" marL="0">
              <a:buNone/>
            </a:pPr>
            <a:r>
              <a:rPr lang="en-US" sz="830" b="1" spc="260" kern="0" dirty="0">
                <a:solidFill>
                  <a:srgbClr val="8A8F98"/>
                </a:solidFill>
                <a:latin typeface="Arial" pitchFamily="34" charset="0"/>
                <a:ea typeface="Arial" pitchFamily="34" charset="-122"/>
                <a:cs typeface="Arial" pitchFamily="34" charset="-120"/>
              </a:rPr>
              <a:t>THE SITUATION</a:t>
            </a:r>
            <a:endParaRPr lang="en-US" sz="830" dirty="0"/>
          </a:p>
        </p:txBody>
      </p:sp>
      <p:sp>
        <p:nvSpPr>
          <p:cNvPr id="10" name="Text 8"/>
          <p:cNvSpPr txBox="1"/>
          <p:nvPr/>
        </p:nvSpPr>
        <p:spPr>
          <a:xfrm>
            <a:off x="685800" y="2400300"/>
            <a:ext cx="4724705" cy="742493"/>
          </a:xfrm>
          <a:prstGeom prst="rect">
            <a:avLst/>
          </a:prstGeom>
          <a:noFill/>
          <a:ln/>
        </p:spPr>
        <p:txBody>
          <a:bodyPr wrap="square" lIns="0" tIns="0" rIns="0" bIns="0" rtlCol="0" anchor="t"/>
          <a:lstStyle/>
          <a:p>
            <a:pPr indent="0" marL="0">
              <a:lnSpc>
                <a:spcPts val="1580"/>
              </a:lnSpc>
              <a:buNone/>
            </a:pPr>
            <a:r>
              <a:rPr lang="en-US" sz="1150" dirty="0">
                <a:solidFill>
                  <a:srgbClr val="5A6068"/>
                </a:solidFill>
                <a:latin typeface="Arial" pitchFamily="34" charset="0"/>
                <a:ea typeface="Arial" pitchFamily="34" charset="-122"/>
                <a:cs typeface="Arial" pitchFamily="34" charset="-120"/>
              </a:rPr>
              <a:t>Metallised fabric attenuating EMF, EMI and RF at material level, sold to engineers buying against a specification. Most agencies decline this brief.</a:t>
            </a:r>
            <a:endParaRPr lang="en-US" sz="1150" dirty="0"/>
          </a:p>
        </p:txBody>
      </p:sp>
      <p:sp>
        <p:nvSpPr>
          <p:cNvPr id="11" name="Text 9"/>
          <p:cNvSpPr txBox="1"/>
          <p:nvPr/>
        </p:nvSpPr>
        <p:spPr>
          <a:xfrm>
            <a:off x="685800" y="3295498"/>
            <a:ext cx="4724705" cy="170993"/>
          </a:xfrm>
          <a:prstGeom prst="rect">
            <a:avLst/>
          </a:prstGeom>
          <a:noFill/>
          <a:ln/>
        </p:spPr>
        <p:txBody>
          <a:bodyPr wrap="square" lIns="0" tIns="0" rIns="0" bIns="0" rtlCol="0" anchor="ctr"/>
          <a:lstStyle/>
          <a:p>
            <a:pPr indent="0" marL="0">
              <a:buNone/>
            </a:pPr>
            <a:r>
              <a:rPr lang="en-US" sz="830" b="1" spc="260" kern="0" dirty="0">
                <a:solidFill>
                  <a:srgbClr val="8A8F98"/>
                </a:solidFill>
                <a:latin typeface="Arial" pitchFamily="34" charset="0"/>
                <a:ea typeface="Arial" pitchFamily="34" charset="-122"/>
                <a:cs typeface="Arial" pitchFamily="34" charset="-120"/>
              </a:rPr>
              <a:t>WHAT EOV DID</a:t>
            </a:r>
            <a:endParaRPr lang="en-US" sz="830" dirty="0"/>
          </a:p>
        </p:txBody>
      </p:sp>
      <p:sp>
        <p:nvSpPr>
          <p:cNvPr id="12" name="Text 10"/>
          <p:cNvSpPr txBox="1"/>
          <p:nvPr/>
        </p:nvSpPr>
        <p:spPr>
          <a:xfrm>
            <a:off x="685800" y="3524098"/>
            <a:ext cx="4724705" cy="1162202"/>
          </a:xfrm>
          <a:prstGeom prst="rect">
            <a:avLst/>
          </a:prstGeom>
          <a:noFill/>
          <a:ln/>
        </p:spPr>
        <p:txBody>
          <a:bodyPr wrap="square" lIns="0" tIns="0" rIns="0" bIns="0" rtlCol="0" anchor="t"/>
          <a:lstStyle/>
          <a:p>
            <a:pPr indent="0" marL="0">
              <a:lnSpc>
                <a:spcPts val="1580"/>
              </a:lnSpc>
              <a:buNone/>
            </a:pPr>
            <a:r>
              <a:rPr lang="en-US" sz="1150" dirty="0">
                <a:solidFill>
                  <a:srgbClr val="5A6068"/>
                </a:solidFill>
                <a:latin typeface="Arial" pitchFamily="34" charset="0"/>
                <a:ea typeface="Arial" pitchFamily="34" charset="-122"/>
                <a:cs typeface="Arial" pitchFamily="34" charset="-120"/>
              </a:rPr>
              <a:t>EOV stopped marketing the material and started marketing where it ends up. The specification stayed intact; the language moved to naval vessels, aircraft wiring and secure rooms — so a search that begins with a problem ends on the product.</a:t>
            </a:r>
            <a:endParaRPr lang="en-US" sz="1150" dirty="0"/>
          </a:p>
        </p:txBody>
      </p:sp>
      <p:sp>
        <p:nvSpPr>
          <p:cNvPr id="13" name="Text 11"/>
          <p:cNvSpPr txBox="1"/>
          <p:nvPr/>
        </p:nvSpPr>
        <p:spPr>
          <a:xfrm>
            <a:off x="685800" y="4762195"/>
            <a:ext cx="4724705" cy="170993"/>
          </a:xfrm>
          <a:prstGeom prst="rect">
            <a:avLst/>
          </a:prstGeom>
          <a:noFill/>
          <a:ln/>
        </p:spPr>
        <p:txBody>
          <a:bodyPr wrap="square" lIns="0" tIns="0" rIns="0" bIns="0" rtlCol="0" anchor="ctr"/>
          <a:lstStyle/>
          <a:p>
            <a:pPr indent="0" marL="0">
              <a:buNone/>
            </a:pPr>
            <a:r>
              <a:rPr lang="en-US" sz="830" b="1" spc="260" kern="0" dirty="0">
                <a:solidFill>
                  <a:srgbClr val="8A8F98"/>
                </a:solidFill>
                <a:latin typeface="Arial" pitchFamily="34" charset="0"/>
                <a:ea typeface="Arial" pitchFamily="34" charset="-122"/>
                <a:cs typeface="Arial" pitchFamily="34" charset="-120"/>
              </a:rPr>
              <a:t>WHAT CHANGED</a:t>
            </a:r>
            <a:endParaRPr lang="en-US" sz="830" dirty="0"/>
          </a:p>
        </p:txBody>
      </p:sp>
      <p:sp>
        <p:nvSpPr>
          <p:cNvPr id="14" name="Text 12"/>
          <p:cNvSpPr txBox="1"/>
          <p:nvPr/>
        </p:nvSpPr>
        <p:spPr>
          <a:xfrm>
            <a:off x="685800" y="4990795"/>
            <a:ext cx="4724705" cy="742493"/>
          </a:xfrm>
          <a:prstGeom prst="rect">
            <a:avLst/>
          </a:prstGeom>
          <a:noFill/>
          <a:ln/>
        </p:spPr>
        <p:txBody>
          <a:bodyPr wrap="square" lIns="0" tIns="0" rIns="0" bIns="0" rtlCol="0" anchor="t"/>
          <a:lstStyle/>
          <a:p>
            <a:pPr indent="0" marL="0">
              <a:lnSpc>
                <a:spcPts val="1580"/>
              </a:lnSpc>
              <a:buNone/>
            </a:pPr>
            <a:r>
              <a:rPr lang="en-US" sz="1150" dirty="0">
                <a:solidFill>
                  <a:srgbClr val="5A6068"/>
                </a:solidFill>
                <a:latin typeface="Arial" pitchFamily="34" charset="0"/>
                <a:ea typeface="Arial" pitchFamily="34" charset="-122"/>
                <a:cs typeface="Arial" pitchFamily="34" charset="-120"/>
              </a:rPr>
              <a:t>Visibility up 5.6× across 96 ranked terms, in a category with no consumer search behaviour to borrow.</a:t>
            </a:r>
            <a:endParaRPr lang="en-US" sz="1150" dirty="0"/>
          </a:p>
        </p:txBody>
      </p:sp>
      <p:sp>
        <p:nvSpPr>
          <p:cNvPr id="15" name="Text 13"/>
          <p:cNvSpPr txBox="1"/>
          <p:nvPr/>
        </p:nvSpPr>
        <p:spPr>
          <a:xfrm>
            <a:off x="685800" y="5771693"/>
            <a:ext cx="4724705" cy="342900"/>
          </a:xfrm>
          <a:prstGeom prst="rect">
            <a:avLst/>
          </a:prstGeom>
          <a:noFill/>
          <a:ln/>
        </p:spPr>
        <p:txBody>
          <a:bodyPr wrap="square" lIns="0" tIns="0" rIns="0" bIns="0" rtlCol="0" anchor="t"/>
          <a:lstStyle/>
          <a:p>
            <a:pPr indent="0" marL="0">
              <a:lnSpc>
                <a:spcPts val="1200"/>
              </a:lnSpc>
              <a:buNone/>
            </a:pPr>
            <a:r>
              <a:rPr lang="en-US" sz="830" b="1" spc="160" kern="0" dirty="0">
                <a:solidFill>
                  <a:srgbClr val="8A8F98"/>
                </a:solidFill>
                <a:latin typeface="Arial" pitchFamily="34" charset="0"/>
                <a:ea typeface="Arial" pitchFamily="34" charset="-122"/>
                <a:cs typeface="Arial" pitchFamily="34" charset="-120"/>
              </a:rPr>
              <a:t>Positioning · technical content · search · trade collateral</a:t>
            </a:r>
            <a:endParaRPr lang="en-US" sz="830" dirty="0"/>
          </a:p>
        </p:txBody>
      </p:sp>
      <p:pic>
        <p:nvPicPr>
          <p:cNvPr id="16"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17" name="Text 14"/>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7239305" cy="6858000"/>
          </a:xfrm>
          <a:prstGeom prst="roundRect">
            <a:avLst>
              <a:gd name="adj" fmla="val 1387"/>
            </a:avLst>
          </a:prstGeom>
          <a:solidFill>
            <a:srgbClr val="111111"/>
          </a:solidFill>
          <a:ln/>
        </p:spPr>
      </p:sp>
      <p:sp>
        <p:nvSpPr>
          <p:cNvPr id="3" name="Text 1"/>
          <p:cNvSpPr txBox="1"/>
          <p:nvPr/>
        </p:nvSpPr>
        <p:spPr>
          <a:xfrm>
            <a:off x="133502" y="3258007"/>
            <a:ext cx="6972300"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[KGS APPLICATION]</a:t>
            </a:r>
            <a:endParaRPr lang="en-US" sz="950" dirty="0"/>
          </a:p>
        </p:txBody>
      </p:sp>
      <p:sp>
        <p:nvSpPr>
          <p:cNvPr id="4" name="Shape 2"/>
          <p:cNvSpPr/>
          <p:nvPr/>
        </p:nvSpPr>
        <p:spPr>
          <a:xfrm>
            <a:off x="7315200" y="0"/>
            <a:ext cx="4876770" cy="3391052"/>
          </a:xfrm>
          <a:prstGeom prst="roundRect">
            <a:avLst>
              <a:gd name="adj" fmla="val 2804"/>
            </a:avLst>
          </a:prstGeom>
          <a:solidFill>
            <a:srgbClr val="111111"/>
          </a:solidFill>
          <a:ln/>
        </p:spPr>
      </p:sp>
      <p:sp>
        <p:nvSpPr>
          <p:cNvPr id="5" name="Text 3"/>
          <p:cNvSpPr txBox="1"/>
          <p:nvPr/>
        </p:nvSpPr>
        <p:spPr>
          <a:xfrm>
            <a:off x="7448702" y="1524533"/>
            <a:ext cx="4609765"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[KGS WIRING]</a:t>
            </a:r>
            <a:endParaRPr lang="en-US" sz="950" dirty="0"/>
          </a:p>
        </p:txBody>
      </p:sp>
      <p:sp>
        <p:nvSpPr>
          <p:cNvPr id="6" name="Shape 4"/>
          <p:cNvSpPr/>
          <p:nvPr/>
        </p:nvSpPr>
        <p:spPr>
          <a:xfrm>
            <a:off x="7315200" y="3466948"/>
            <a:ext cx="4876770" cy="3391052"/>
          </a:xfrm>
          <a:prstGeom prst="roundRect">
            <a:avLst>
              <a:gd name="adj" fmla="val 2804"/>
            </a:avLst>
          </a:prstGeom>
          <a:solidFill>
            <a:srgbClr val="111111"/>
          </a:solidFill>
          <a:ln/>
        </p:spPr>
      </p:sp>
      <p:sp>
        <p:nvSpPr>
          <p:cNvPr id="7" name="Text 5"/>
          <p:cNvSpPr txBox="1"/>
          <p:nvPr/>
        </p:nvSpPr>
        <p:spPr>
          <a:xfrm>
            <a:off x="7448702" y="4991481"/>
            <a:ext cx="4609765"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[KGS MATERIAL]</a:t>
            </a:r>
            <a:endParaRPr lang="en-US" sz="950" dirty="0"/>
          </a:p>
        </p:txBody>
      </p:sp>
      <p:sp>
        <p:nvSpPr>
          <p:cNvPr id="8" name="Shape 6"/>
          <p:cNvSpPr/>
          <p:nvPr/>
        </p:nvSpPr>
        <p:spPr>
          <a:xfrm>
            <a:off x="0" y="4762195"/>
            <a:ext cx="7239305" cy="2095805"/>
          </a:xfrm>
          <a:prstGeom prst="rect">
            <a:avLst/>
          </a:prstGeom>
          <a:solidFill>
            <a:srgbClr val="000000">
              <a:alpha val="86000"/>
            </a:srgbClr>
          </a:solidFill>
          <a:ln/>
        </p:spPr>
      </p:sp>
      <p:sp>
        <p:nvSpPr>
          <p:cNvPr id="9" name="Text 7"/>
          <p:cNvSpPr txBox="1"/>
          <p:nvPr/>
        </p:nvSpPr>
        <p:spPr>
          <a:xfrm>
            <a:off x="533095" y="5219395"/>
            <a:ext cx="6191402" cy="190195"/>
          </a:xfrm>
          <a:prstGeom prst="rect">
            <a:avLst/>
          </a:prstGeom>
          <a:noFill/>
          <a:ln/>
        </p:spPr>
        <p:txBody>
          <a:bodyPr wrap="square" lIns="0" tIns="0" rIns="0" bIns="0" rtlCol="0" anchor="ctr"/>
          <a:lstStyle/>
          <a:p>
            <a:pPr indent="0" marL="0">
              <a:buNone/>
            </a:pPr>
            <a:r>
              <a:rPr lang="en-US" sz="950" b="1" spc="300" kern="0" dirty="0">
                <a:solidFill>
                  <a:srgbClr val="54D2FE"/>
                </a:solidFill>
                <a:latin typeface="Arial" pitchFamily="34" charset="0"/>
                <a:ea typeface="Arial" pitchFamily="34" charset="-122"/>
                <a:cs typeface="Arial" pitchFamily="34" charset="-120"/>
              </a:rPr>
              <a:t>KGS · METAFAB®</a:t>
            </a:r>
            <a:endParaRPr lang="en-US" sz="950" dirty="0"/>
          </a:p>
        </p:txBody>
      </p:sp>
      <p:sp>
        <p:nvSpPr>
          <p:cNvPr id="10" name="Text 8"/>
          <p:cNvSpPr txBox="1"/>
          <p:nvPr/>
        </p:nvSpPr>
        <p:spPr>
          <a:xfrm>
            <a:off x="533095" y="5543093"/>
            <a:ext cx="6191402" cy="914400"/>
          </a:xfrm>
          <a:prstGeom prst="rect">
            <a:avLst/>
          </a:prstGeom>
          <a:noFill/>
          <a:ln/>
        </p:spPr>
        <p:txBody>
          <a:bodyPr wrap="square" lIns="0" tIns="0" rIns="0" bIns="0" rtlCol="0" anchor="t"/>
          <a:lstStyle/>
          <a:p>
            <a:pPr indent="0" marL="0">
              <a:lnSpc>
                <a:spcPts val="2400"/>
              </a:lnSpc>
              <a:buNone/>
            </a:pPr>
            <a:r>
              <a:rPr lang="en-US" sz="1900" b="1" dirty="0">
                <a:solidFill>
                  <a:srgbClr val="FFFFFF"/>
                </a:solidFill>
                <a:latin typeface="Arial" pitchFamily="34" charset="0"/>
                <a:ea typeface="Arial" pitchFamily="34" charset="-122"/>
                <a:cs typeface="Arial" pitchFamily="34" charset="-120"/>
              </a:rPr>
              <a:t>Naval vessels. Aircraft wiring. Secure courtrooms.</a:t>
            </a:r>
            <a:endParaRPr lang="en-US" sz="1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0" y="0"/>
            <a:ext cx="6248370" cy="6858000"/>
          </a:xfrm>
          <a:prstGeom prst="rect">
            <a:avLst/>
          </a:prstGeom>
          <a:solidFill>
            <a:srgbClr val="F4F6F8"/>
          </a:solidFill>
          <a:ln/>
        </p:spPr>
      </p:sp>
      <p:sp>
        <p:nvSpPr>
          <p:cNvPr id="3" name="Text 1"/>
          <p:cNvSpPr txBox="1"/>
          <p:nvPr/>
        </p:nvSpPr>
        <p:spPr>
          <a:xfrm>
            <a:off x="6228893" y="2171700"/>
            <a:ext cx="5676870" cy="381305"/>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FERRONATO-STORE.PNG</a:t>
            </a:r>
            <a:endParaRPr lang="en-US" sz="950" dirty="0"/>
          </a:p>
        </p:txBody>
      </p:sp>
      <p:sp>
        <p:nvSpPr>
          <p:cNvPr id="4" name="Shape 2"/>
          <p:cNvSpPr/>
          <p:nvPr/>
        </p:nvSpPr>
        <p:spPr>
          <a:xfrm>
            <a:off x="5943600" y="4742993"/>
            <a:ext cx="6248370" cy="2115007"/>
          </a:xfrm>
          <a:prstGeom prst="rect">
            <a:avLst/>
          </a:prstGeom>
          <a:solidFill>
            <a:srgbClr val="000000"/>
          </a:solidFill>
          <a:ln/>
        </p:spPr>
      </p:sp>
      <p:sp>
        <p:nvSpPr>
          <p:cNvPr id="5" name="Text 3"/>
          <p:cNvSpPr txBox="1"/>
          <p:nvPr/>
        </p:nvSpPr>
        <p:spPr>
          <a:xfrm>
            <a:off x="6324905" y="5067605"/>
            <a:ext cx="5486674" cy="724205"/>
          </a:xfrm>
          <a:prstGeom prst="rect">
            <a:avLst/>
          </a:prstGeom>
          <a:noFill/>
          <a:ln/>
        </p:spPr>
        <p:txBody>
          <a:bodyPr wrap="square" lIns="0" tIns="0" rIns="0" bIns="0" rtlCol="0" anchor="t"/>
          <a:lstStyle/>
          <a:p>
            <a:pPr indent="0" marL="0">
              <a:buNone/>
            </a:pPr>
            <a:r>
              <a:rPr lang="en-US" sz="3750" b="1" dirty="0">
                <a:solidFill>
                  <a:srgbClr val="FFFFFF"/>
                </a:solidFill>
                <a:latin typeface="Arial" pitchFamily="34" charset="0"/>
                <a:ea typeface="Arial" pitchFamily="34" charset="-122"/>
                <a:cs typeface="Arial" pitchFamily="34" charset="-120"/>
              </a:rPr>
              <a:t>300k+</a:t>
            </a:r>
            <a:endParaRPr lang="en-US" sz="3750" dirty="0"/>
          </a:p>
        </p:txBody>
      </p:sp>
      <p:sp>
        <p:nvSpPr>
          <p:cNvPr id="6" name="Text 4"/>
          <p:cNvSpPr txBox="1"/>
          <p:nvPr/>
        </p:nvSpPr>
        <p:spPr>
          <a:xfrm>
            <a:off x="6324905" y="5848502"/>
            <a:ext cx="5486674" cy="437998"/>
          </a:xfrm>
          <a:prstGeom prst="rect">
            <a:avLst/>
          </a:prstGeom>
          <a:noFill/>
          <a:ln/>
        </p:spPr>
        <p:txBody>
          <a:bodyPr wrap="square" lIns="0" tIns="0" rIns="0" bIns="0" rtlCol="0" anchor="t"/>
          <a:lstStyle/>
          <a:p>
            <a:pPr indent="0" marL="0">
              <a:lnSpc>
                <a:spcPts val="1200"/>
              </a:lnSpc>
              <a:buNone/>
            </a:pPr>
            <a:r>
              <a:rPr lang="en-US" sz="850" b="1" spc="240" kern="0" dirty="0">
                <a:solidFill>
                  <a:srgbClr val="54D2FE"/>
                </a:solidFill>
                <a:latin typeface="Arial" pitchFamily="34" charset="0"/>
                <a:ea typeface="Arial" pitchFamily="34" charset="-122"/>
                <a:cs typeface="Arial" pitchFamily="34" charset="-120"/>
              </a:rPr>
              <a:t>PAVILION AUDIENCE AT GLOBAL DEBUT</a:t>
            </a:r>
            <a:endParaRPr lang="en-US" sz="850" dirty="0"/>
          </a:p>
        </p:txBody>
      </p:sp>
      <p:sp>
        <p:nvSpPr>
          <p:cNvPr id="7" name="Text 5"/>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FERRONATO SWITZERLAND · SMART ACCESSORIES</a:t>
            </a:r>
            <a:endParaRPr lang="en-US" sz="950" dirty="0"/>
          </a:p>
        </p:txBody>
      </p:sp>
      <p:sp>
        <p:nvSpPr>
          <p:cNvPr id="8" name="Text 6"/>
          <p:cNvSpPr txBox="1"/>
          <p:nvPr/>
        </p:nvSpPr>
        <p:spPr>
          <a:xfrm>
            <a:off x="685800" y="800100"/>
            <a:ext cx="4724705" cy="1181405"/>
          </a:xfrm>
          <a:prstGeom prst="rect">
            <a:avLst/>
          </a:prstGeom>
          <a:noFill/>
          <a:ln/>
        </p:spPr>
        <p:txBody>
          <a:bodyPr wrap="square" lIns="0" tIns="0" rIns="0" bIns="0" rtlCol="0" anchor="t"/>
          <a:lstStyle/>
          <a:p>
            <a:pPr indent="0" marL="0">
              <a:lnSpc>
                <a:spcPts val="2700"/>
              </a:lnSpc>
              <a:buNone/>
            </a:pPr>
            <a:r>
              <a:rPr lang="en-US" sz="2250" b="1" dirty="0">
                <a:solidFill>
                  <a:srgbClr val="111111"/>
                </a:solidFill>
                <a:latin typeface="Arial" pitchFamily="34" charset="0"/>
                <a:ea typeface="Arial" pitchFamily="34" charset="-122"/>
                <a:cs typeface="Arial" pitchFamily="34" charset="-120"/>
              </a:rPr>
              <a:t>Privacy as a product, not a promise.</a:t>
            </a:r>
            <a:endParaRPr lang="en-US" sz="2250" dirty="0"/>
          </a:p>
        </p:txBody>
      </p:sp>
      <p:sp>
        <p:nvSpPr>
          <p:cNvPr id="9" name="Text 7"/>
          <p:cNvSpPr txBox="1"/>
          <p:nvPr/>
        </p:nvSpPr>
        <p:spPr>
          <a:xfrm>
            <a:off x="685800" y="2171700"/>
            <a:ext cx="4724705" cy="170993"/>
          </a:xfrm>
          <a:prstGeom prst="rect">
            <a:avLst/>
          </a:prstGeom>
          <a:noFill/>
          <a:ln/>
        </p:spPr>
        <p:txBody>
          <a:bodyPr wrap="square" lIns="0" tIns="0" rIns="0" bIns="0" rtlCol="0" anchor="ctr"/>
          <a:lstStyle/>
          <a:p>
            <a:pPr indent="0" marL="0">
              <a:buNone/>
            </a:pPr>
            <a:r>
              <a:rPr lang="en-US" sz="830" b="1" spc="260" kern="0" dirty="0">
                <a:solidFill>
                  <a:srgbClr val="8A8F98"/>
                </a:solidFill>
                <a:latin typeface="Arial" pitchFamily="34" charset="0"/>
                <a:ea typeface="Arial" pitchFamily="34" charset="-122"/>
                <a:cs typeface="Arial" pitchFamily="34" charset="-120"/>
              </a:rPr>
              <a:t>THE SITUATION</a:t>
            </a:r>
            <a:endParaRPr lang="en-US" sz="830" dirty="0"/>
          </a:p>
        </p:txBody>
      </p:sp>
      <p:sp>
        <p:nvSpPr>
          <p:cNvPr id="10" name="Text 8"/>
          <p:cNvSpPr txBox="1"/>
          <p:nvPr/>
        </p:nvSpPr>
        <p:spPr>
          <a:xfrm>
            <a:off x="685800" y="2400300"/>
            <a:ext cx="4724705" cy="742493"/>
          </a:xfrm>
          <a:prstGeom prst="rect">
            <a:avLst/>
          </a:prstGeom>
          <a:noFill/>
          <a:ln/>
        </p:spPr>
        <p:txBody>
          <a:bodyPr wrap="square" lIns="0" tIns="0" rIns="0" bIns="0" rtlCol="0" anchor="t"/>
          <a:lstStyle/>
          <a:p>
            <a:pPr indent="0" marL="0">
              <a:lnSpc>
                <a:spcPts val="1580"/>
              </a:lnSpc>
              <a:buNone/>
            </a:pPr>
            <a:r>
              <a:rPr lang="en-US" sz="1150" dirty="0">
                <a:solidFill>
                  <a:srgbClr val="5A6068"/>
                </a:solidFill>
                <a:latin typeface="Arial" pitchFamily="34" charset="0"/>
                <a:ea typeface="Arial" pitchFamily="34" charset="-122"/>
                <a:cs typeface="Arial" pitchFamily="34" charset="-120"/>
              </a:rPr>
              <a:t>The same group’s industrial technology entering a lifestyle category where privacy was being promised by everyone and proven by no one.</a:t>
            </a:r>
            <a:endParaRPr lang="en-US" sz="1150" dirty="0"/>
          </a:p>
        </p:txBody>
      </p:sp>
      <p:sp>
        <p:nvSpPr>
          <p:cNvPr id="11" name="Text 9"/>
          <p:cNvSpPr txBox="1"/>
          <p:nvPr/>
        </p:nvSpPr>
        <p:spPr>
          <a:xfrm>
            <a:off x="685800" y="3295498"/>
            <a:ext cx="4724705" cy="170993"/>
          </a:xfrm>
          <a:prstGeom prst="rect">
            <a:avLst/>
          </a:prstGeom>
          <a:noFill/>
          <a:ln/>
        </p:spPr>
        <p:txBody>
          <a:bodyPr wrap="square" lIns="0" tIns="0" rIns="0" bIns="0" rtlCol="0" anchor="ctr"/>
          <a:lstStyle/>
          <a:p>
            <a:pPr indent="0" marL="0">
              <a:buNone/>
            </a:pPr>
            <a:r>
              <a:rPr lang="en-US" sz="830" b="1" spc="260" kern="0" dirty="0">
                <a:solidFill>
                  <a:srgbClr val="8A8F98"/>
                </a:solidFill>
                <a:latin typeface="Arial" pitchFamily="34" charset="0"/>
                <a:ea typeface="Arial" pitchFamily="34" charset="-122"/>
                <a:cs typeface="Arial" pitchFamily="34" charset="-120"/>
              </a:rPr>
              <a:t>WHAT EOV DID</a:t>
            </a:r>
            <a:endParaRPr lang="en-US" sz="830" dirty="0"/>
          </a:p>
        </p:txBody>
      </p:sp>
      <p:sp>
        <p:nvSpPr>
          <p:cNvPr id="12" name="Text 10"/>
          <p:cNvSpPr txBox="1"/>
          <p:nvPr/>
        </p:nvSpPr>
        <p:spPr>
          <a:xfrm>
            <a:off x="685800" y="3524098"/>
            <a:ext cx="4724705" cy="1162202"/>
          </a:xfrm>
          <a:prstGeom prst="rect">
            <a:avLst/>
          </a:prstGeom>
          <a:noFill/>
          <a:ln/>
        </p:spPr>
        <p:txBody>
          <a:bodyPr wrap="square" lIns="0" tIns="0" rIns="0" bIns="0" rtlCol="0" anchor="t"/>
          <a:lstStyle/>
          <a:p>
            <a:pPr indent="0" marL="0">
              <a:lnSpc>
                <a:spcPts val="1580"/>
              </a:lnSpc>
              <a:buNone/>
            </a:pPr>
            <a:r>
              <a:rPr lang="en-US" sz="1150" dirty="0">
                <a:solidFill>
                  <a:srgbClr val="5A6068"/>
                </a:solidFill>
                <a:latin typeface="Arial" pitchFamily="34" charset="0"/>
                <a:ea typeface="Arial" pitchFamily="34" charset="-122"/>
                <a:cs typeface="Arial" pitchFamily="34" charset="-120"/>
              </a:rPr>
              <a:t>EOV built the brand on the one claim competitors could not copy: a benefit the buyer can test in their own hand. The product became the proof, and the launch was staged where Swiss credibility is already assumed — the Swiss Pavilion at Expo 2020 Dubai.</a:t>
            </a:r>
            <a:endParaRPr lang="en-US" sz="1150" dirty="0"/>
          </a:p>
        </p:txBody>
      </p:sp>
      <p:sp>
        <p:nvSpPr>
          <p:cNvPr id="13" name="Text 11"/>
          <p:cNvSpPr txBox="1"/>
          <p:nvPr/>
        </p:nvSpPr>
        <p:spPr>
          <a:xfrm>
            <a:off x="685800" y="4762195"/>
            <a:ext cx="4724705" cy="170993"/>
          </a:xfrm>
          <a:prstGeom prst="rect">
            <a:avLst/>
          </a:prstGeom>
          <a:noFill/>
          <a:ln/>
        </p:spPr>
        <p:txBody>
          <a:bodyPr wrap="square" lIns="0" tIns="0" rIns="0" bIns="0" rtlCol="0" anchor="ctr"/>
          <a:lstStyle/>
          <a:p>
            <a:pPr indent="0" marL="0">
              <a:buNone/>
            </a:pPr>
            <a:r>
              <a:rPr lang="en-US" sz="830" b="1" spc="260" kern="0" dirty="0">
                <a:solidFill>
                  <a:srgbClr val="8A8F98"/>
                </a:solidFill>
                <a:latin typeface="Arial" pitchFamily="34" charset="0"/>
                <a:ea typeface="Arial" pitchFamily="34" charset="-122"/>
                <a:cs typeface="Arial" pitchFamily="34" charset="-120"/>
              </a:rPr>
              <a:t>WHAT CHANGED</a:t>
            </a:r>
            <a:endParaRPr lang="en-US" sz="830" dirty="0"/>
          </a:p>
        </p:txBody>
      </p:sp>
      <p:sp>
        <p:nvSpPr>
          <p:cNvPr id="14" name="Text 12"/>
          <p:cNvSpPr txBox="1"/>
          <p:nvPr/>
        </p:nvSpPr>
        <p:spPr>
          <a:xfrm>
            <a:off x="685800" y="4990795"/>
            <a:ext cx="4724705" cy="742493"/>
          </a:xfrm>
          <a:prstGeom prst="rect">
            <a:avLst/>
          </a:prstGeom>
          <a:noFill/>
          <a:ln/>
        </p:spPr>
        <p:txBody>
          <a:bodyPr wrap="square" lIns="0" tIns="0" rIns="0" bIns="0" rtlCol="0" anchor="t"/>
          <a:lstStyle/>
          <a:p>
            <a:pPr indent="0" marL="0">
              <a:lnSpc>
                <a:spcPts val="1580"/>
              </a:lnSpc>
              <a:buNone/>
            </a:pPr>
            <a:r>
              <a:rPr lang="en-US" sz="1150" dirty="0">
                <a:solidFill>
                  <a:srgbClr val="5A6068"/>
                </a:solidFill>
                <a:latin typeface="Arial" pitchFamily="34" charset="0"/>
                <a:ea typeface="Arial" pitchFamily="34" charset="-122"/>
                <a:cs typeface="Arial" pitchFamily="34" charset="-120"/>
              </a:rPr>
              <a:t>Global debut in front of a pavilion audience of 300,000+, four product lines in market, and the first Swiss boutique open by May 2023.</a:t>
            </a:r>
            <a:endParaRPr lang="en-US" sz="1150" dirty="0"/>
          </a:p>
        </p:txBody>
      </p:sp>
      <p:sp>
        <p:nvSpPr>
          <p:cNvPr id="15" name="Text 13"/>
          <p:cNvSpPr txBox="1"/>
          <p:nvPr/>
        </p:nvSpPr>
        <p:spPr>
          <a:xfrm>
            <a:off x="685800" y="5771693"/>
            <a:ext cx="4724705" cy="342900"/>
          </a:xfrm>
          <a:prstGeom prst="rect">
            <a:avLst/>
          </a:prstGeom>
          <a:noFill/>
          <a:ln/>
        </p:spPr>
        <p:txBody>
          <a:bodyPr wrap="square" lIns="0" tIns="0" rIns="0" bIns="0" rtlCol="0" anchor="t"/>
          <a:lstStyle/>
          <a:p>
            <a:pPr indent="0" marL="0">
              <a:lnSpc>
                <a:spcPts val="1200"/>
              </a:lnSpc>
              <a:buNone/>
            </a:pPr>
            <a:r>
              <a:rPr lang="en-US" sz="830" b="1" spc="160" kern="0" dirty="0">
                <a:solidFill>
                  <a:srgbClr val="8A8F98"/>
                </a:solidFill>
                <a:latin typeface="Arial" pitchFamily="34" charset="0"/>
                <a:ea typeface="Arial" pitchFamily="34" charset="-122"/>
                <a:cs typeface="Arial" pitchFamily="34" charset="-120"/>
              </a:rPr>
              <a:t>Brand · product marketing · retail · film · PR · launch</a:t>
            </a:r>
            <a:endParaRPr lang="en-US" sz="830" dirty="0"/>
          </a:p>
        </p:txBody>
      </p:sp>
      <p:pic>
        <p:nvPicPr>
          <p:cNvPr id="16"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17" name="Text 14"/>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7239305" cy="6858000"/>
          </a:xfrm>
          <a:prstGeom prst="roundRect">
            <a:avLst>
              <a:gd name="adj" fmla="val 1387"/>
            </a:avLst>
          </a:prstGeom>
          <a:solidFill>
            <a:srgbClr val="111111"/>
          </a:solidFill>
          <a:ln/>
        </p:spPr>
      </p:sp>
      <p:sp>
        <p:nvSpPr>
          <p:cNvPr id="3" name="Text 1"/>
          <p:cNvSpPr txBox="1"/>
          <p:nvPr/>
        </p:nvSpPr>
        <p:spPr>
          <a:xfrm>
            <a:off x="133502" y="3258007"/>
            <a:ext cx="6972300"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FERRONATO-STORE.PNG</a:t>
            </a:r>
            <a:endParaRPr lang="en-US" sz="950" dirty="0"/>
          </a:p>
        </p:txBody>
      </p:sp>
      <p:sp>
        <p:nvSpPr>
          <p:cNvPr id="4" name="Shape 2"/>
          <p:cNvSpPr/>
          <p:nvPr/>
        </p:nvSpPr>
        <p:spPr>
          <a:xfrm>
            <a:off x="7315200" y="0"/>
            <a:ext cx="4876770" cy="3391052"/>
          </a:xfrm>
          <a:prstGeom prst="roundRect">
            <a:avLst>
              <a:gd name="adj" fmla="val 2804"/>
            </a:avLst>
          </a:prstGeom>
          <a:solidFill>
            <a:srgbClr val="111111"/>
          </a:solidFill>
          <a:ln/>
        </p:spPr>
      </p:sp>
      <p:sp>
        <p:nvSpPr>
          <p:cNvPr id="5" name="Text 3"/>
          <p:cNvSpPr txBox="1"/>
          <p:nvPr/>
        </p:nvSpPr>
        <p:spPr>
          <a:xfrm>
            <a:off x="7448702" y="1524533"/>
            <a:ext cx="4609765"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FERRONATO-CAMPAIGN.PNG</a:t>
            </a:r>
            <a:endParaRPr lang="en-US" sz="950" dirty="0"/>
          </a:p>
        </p:txBody>
      </p:sp>
      <p:sp>
        <p:nvSpPr>
          <p:cNvPr id="6" name="Shape 4"/>
          <p:cNvSpPr/>
          <p:nvPr/>
        </p:nvSpPr>
        <p:spPr>
          <a:xfrm>
            <a:off x="7315200" y="3466948"/>
            <a:ext cx="4876770" cy="3391052"/>
          </a:xfrm>
          <a:prstGeom prst="roundRect">
            <a:avLst>
              <a:gd name="adj" fmla="val 2804"/>
            </a:avLst>
          </a:prstGeom>
          <a:solidFill>
            <a:srgbClr val="111111"/>
          </a:solidFill>
          <a:ln/>
        </p:spPr>
      </p:sp>
      <p:sp>
        <p:nvSpPr>
          <p:cNvPr id="7" name="Text 5"/>
          <p:cNvSpPr txBox="1"/>
          <p:nvPr/>
        </p:nvSpPr>
        <p:spPr>
          <a:xfrm>
            <a:off x="7448702" y="4991481"/>
            <a:ext cx="4609765"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FERRONATO-ATELIER.PNG</a:t>
            </a:r>
            <a:endParaRPr lang="en-US" sz="950" dirty="0"/>
          </a:p>
        </p:txBody>
      </p:sp>
      <p:sp>
        <p:nvSpPr>
          <p:cNvPr id="8" name="Shape 6"/>
          <p:cNvSpPr/>
          <p:nvPr/>
        </p:nvSpPr>
        <p:spPr>
          <a:xfrm>
            <a:off x="0" y="4762195"/>
            <a:ext cx="7239305" cy="2095805"/>
          </a:xfrm>
          <a:prstGeom prst="rect">
            <a:avLst/>
          </a:prstGeom>
          <a:solidFill>
            <a:srgbClr val="000000">
              <a:alpha val="86000"/>
            </a:srgbClr>
          </a:solidFill>
          <a:ln/>
        </p:spPr>
      </p:sp>
      <p:sp>
        <p:nvSpPr>
          <p:cNvPr id="9" name="Text 7"/>
          <p:cNvSpPr txBox="1"/>
          <p:nvPr/>
        </p:nvSpPr>
        <p:spPr>
          <a:xfrm>
            <a:off x="533095" y="5219395"/>
            <a:ext cx="6191402" cy="190195"/>
          </a:xfrm>
          <a:prstGeom prst="rect">
            <a:avLst/>
          </a:prstGeom>
          <a:noFill/>
          <a:ln/>
        </p:spPr>
        <p:txBody>
          <a:bodyPr wrap="square" lIns="0" tIns="0" rIns="0" bIns="0" rtlCol="0" anchor="ctr"/>
          <a:lstStyle/>
          <a:p>
            <a:pPr indent="0" marL="0">
              <a:buNone/>
            </a:pPr>
            <a:r>
              <a:rPr lang="en-US" sz="950" b="1" spc="300" kern="0" dirty="0">
                <a:solidFill>
                  <a:srgbClr val="54D2FE"/>
                </a:solidFill>
                <a:latin typeface="Arial" pitchFamily="34" charset="0"/>
                <a:ea typeface="Arial" pitchFamily="34" charset="-122"/>
                <a:cs typeface="Arial" pitchFamily="34" charset="-120"/>
              </a:rPr>
              <a:t>FERRONATO SWITZERLAND</a:t>
            </a:r>
            <a:endParaRPr lang="en-US" sz="950" dirty="0"/>
          </a:p>
        </p:txBody>
      </p:sp>
      <p:sp>
        <p:nvSpPr>
          <p:cNvPr id="10" name="Text 8"/>
          <p:cNvSpPr txBox="1"/>
          <p:nvPr/>
        </p:nvSpPr>
        <p:spPr>
          <a:xfrm>
            <a:off x="533095" y="5543093"/>
            <a:ext cx="6191402" cy="914400"/>
          </a:xfrm>
          <a:prstGeom prst="rect">
            <a:avLst/>
          </a:prstGeom>
          <a:noFill/>
          <a:ln/>
        </p:spPr>
        <p:txBody>
          <a:bodyPr wrap="square" lIns="0" tIns="0" rIns="0" bIns="0" rtlCol="0" anchor="t"/>
          <a:lstStyle/>
          <a:p>
            <a:pPr indent="0" marL="0">
              <a:lnSpc>
                <a:spcPts val="2400"/>
              </a:lnSpc>
              <a:buNone/>
            </a:pPr>
            <a:r>
              <a:rPr lang="en-US" sz="1900" b="1" dirty="0">
                <a:solidFill>
                  <a:srgbClr val="FFFFFF"/>
                </a:solidFill>
                <a:latin typeface="Arial" pitchFamily="34" charset="0"/>
                <a:ea typeface="Arial" pitchFamily="34" charset="-122"/>
                <a:cs typeface="Arial" pitchFamily="34" charset="-120"/>
              </a:rPr>
              <a:t>One brand system across retail, film and product.</a:t>
            </a:r>
            <a:endParaRPr lang="en-US" sz="1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FERRONATO SWITZERLAND · CAMPAIGN</a:t>
            </a:r>
            <a:endParaRPr lang="en-US" sz="950" dirty="0"/>
          </a:p>
        </p:txBody>
      </p:sp>
      <p:sp>
        <p:nvSpPr>
          <p:cNvPr id="3" name="Text 1"/>
          <p:cNvSpPr txBox="1"/>
          <p:nvPr/>
        </p:nvSpPr>
        <p:spPr>
          <a:xfrm>
            <a:off x="685800" y="800100"/>
            <a:ext cx="10820095" cy="666598"/>
          </a:xfrm>
          <a:prstGeom prst="rect">
            <a:avLst/>
          </a:prstGeom>
          <a:noFill/>
          <a:ln/>
        </p:spPr>
        <p:txBody>
          <a:bodyPr wrap="square" lIns="0" tIns="0" rIns="0" bIns="0" rtlCol="0" anchor="t"/>
          <a:lstStyle/>
          <a:p>
            <a:pPr indent="0" marL="0">
              <a:lnSpc>
                <a:spcPts val="4050"/>
              </a:lnSpc>
              <a:buNone/>
            </a:pPr>
            <a:r>
              <a:rPr lang="en-US" sz="2850" b="1" dirty="0">
                <a:solidFill>
                  <a:srgbClr val="111111"/>
                </a:solidFill>
                <a:latin typeface="Arial" pitchFamily="34" charset="0"/>
                <a:ea typeface="Arial" pitchFamily="34" charset="-122"/>
                <a:cs typeface="Arial" pitchFamily="34" charset="-120"/>
              </a:rPr>
              <a:t>Three festive films, one idea.</a:t>
            </a:r>
            <a:endParaRPr lang="en-US" sz="2850" dirty="0"/>
          </a:p>
        </p:txBody>
      </p:sp>
      <p:sp>
        <p:nvSpPr>
          <p:cNvPr id="4" name="Text 2"/>
          <p:cNvSpPr txBox="1"/>
          <p:nvPr/>
        </p:nvSpPr>
        <p:spPr>
          <a:xfrm>
            <a:off x="685800" y="1676095"/>
            <a:ext cx="8572500" cy="571500"/>
          </a:xfrm>
          <a:prstGeom prst="rect">
            <a:avLst/>
          </a:prstGeom>
          <a:noFill/>
          <a:ln/>
        </p:spPr>
        <p:txBody>
          <a:bodyPr wrap="square" lIns="0" tIns="0" rIns="0" bIns="0" rtlCol="0" anchor="t"/>
          <a:lstStyle/>
          <a:p>
            <a:pPr indent="0" marL="0">
              <a:lnSpc>
                <a:spcPts val="1950"/>
              </a:lnSpc>
              <a:buNone/>
            </a:pPr>
            <a:r>
              <a:rPr lang="en-US" sz="1300" dirty="0">
                <a:solidFill>
                  <a:srgbClr val="5A6068"/>
                </a:solidFill>
                <a:latin typeface="Arial" pitchFamily="34" charset="0"/>
                <a:ea typeface="Arial" pitchFamily="34" charset="-122"/>
                <a:cs typeface="Arial" pitchFamily="34" charset="-120"/>
              </a:rPr>
              <a:t>The gift nobody thinks to ask for: an hour of being unreachable. One idea, carried across three films and a festive retail season.</a:t>
            </a:r>
            <a:endParaRPr lang="en-US" sz="1300" dirty="0"/>
          </a:p>
        </p:txBody>
      </p:sp>
      <p:sp>
        <p:nvSpPr>
          <p:cNvPr id="5" name="Shape 3"/>
          <p:cNvSpPr/>
          <p:nvPr/>
        </p:nvSpPr>
        <p:spPr>
          <a:xfrm>
            <a:off x="685800" y="2381098"/>
            <a:ext cx="3400654" cy="1904695"/>
          </a:xfrm>
          <a:prstGeom prst="roundRect">
            <a:avLst>
              <a:gd name="adj" fmla="val 4993"/>
            </a:avLst>
          </a:prstGeom>
          <a:solidFill>
            <a:srgbClr val="F4F6F8"/>
          </a:solidFill>
          <a:ln/>
        </p:spPr>
      </p:sp>
      <p:sp>
        <p:nvSpPr>
          <p:cNvPr id="6" name="Text 4"/>
          <p:cNvSpPr txBox="1"/>
          <p:nvPr/>
        </p:nvSpPr>
        <p:spPr>
          <a:xfrm>
            <a:off x="819302" y="3162452"/>
            <a:ext cx="3133649"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[FESTIVE FILM STILL]</a:t>
            </a:r>
            <a:endParaRPr lang="en-US" sz="950" dirty="0"/>
          </a:p>
        </p:txBody>
      </p:sp>
      <p:sp>
        <p:nvSpPr>
          <p:cNvPr id="7" name="Text 5"/>
          <p:cNvSpPr txBox="1"/>
          <p:nvPr/>
        </p:nvSpPr>
        <p:spPr>
          <a:xfrm>
            <a:off x="685800" y="4457700"/>
            <a:ext cx="3400654" cy="323698"/>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Gift of Privacy</a:t>
            </a:r>
            <a:endParaRPr lang="en-US" sz="1400" dirty="0"/>
          </a:p>
        </p:txBody>
      </p:sp>
      <p:sp>
        <p:nvSpPr>
          <p:cNvPr id="8" name="Shape 6"/>
          <p:cNvSpPr/>
          <p:nvPr/>
        </p:nvSpPr>
        <p:spPr>
          <a:xfrm>
            <a:off x="4362602" y="2381098"/>
            <a:ext cx="3400654" cy="1904695"/>
          </a:xfrm>
          <a:prstGeom prst="roundRect">
            <a:avLst>
              <a:gd name="adj" fmla="val 4993"/>
            </a:avLst>
          </a:prstGeom>
          <a:solidFill>
            <a:srgbClr val="F4F6F8"/>
          </a:solidFill>
          <a:ln/>
        </p:spPr>
      </p:sp>
      <p:sp>
        <p:nvSpPr>
          <p:cNvPr id="9" name="Text 7"/>
          <p:cNvSpPr txBox="1"/>
          <p:nvPr/>
        </p:nvSpPr>
        <p:spPr>
          <a:xfrm>
            <a:off x="4496105" y="3162452"/>
            <a:ext cx="3133649"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[FESTIVE FILM STILL]</a:t>
            </a:r>
            <a:endParaRPr lang="en-US" sz="950" dirty="0"/>
          </a:p>
        </p:txBody>
      </p:sp>
      <p:sp>
        <p:nvSpPr>
          <p:cNvPr id="10" name="Text 8"/>
          <p:cNvSpPr txBox="1"/>
          <p:nvPr/>
        </p:nvSpPr>
        <p:spPr>
          <a:xfrm>
            <a:off x="4362602" y="4457700"/>
            <a:ext cx="3400654" cy="323698"/>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Disconnect and Connect</a:t>
            </a:r>
            <a:endParaRPr lang="en-US" sz="1400" dirty="0"/>
          </a:p>
        </p:txBody>
      </p:sp>
      <p:sp>
        <p:nvSpPr>
          <p:cNvPr id="11" name="Shape 9"/>
          <p:cNvSpPr/>
          <p:nvPr/>
        </p:nvSpPr>
        <p:spPr>
          <a:xfrm>
            <a:off x="8039405" y="2381098"/>
            <a:ext cx="3400654" cy="1904695"/>
          </a:xfrm>
          <a:prstGeom prst="roundRect">
            <a:avLst>
              <a:gd name="adj" fmla="val 4993"/>
            </a:avLst>
          </a:prstGeom>
          <a:solidFill>
            <a:srgbClr val="F4F6F8"/>
          </a:solidFill>
          <a:ln/>
        </p:spPr>
      </p:sp>
      <p:sp>
        <p:nvSpPr>
          <p:cNvPr id="12" name="Text 10"/>
          <p:cNvSpPr txBox="1"/>
          <p:nvPr/>
        </p:nvSpPr>
        <p:spPr>
          <a:xfrm>
            <a:off x="8172907" y="3162452"/>
            <a:ext cx="3133649"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[FESTIVE FILM STILL]</a:t>
            </a:r>
            <a:endParaRPr lang="en-US" sz="950" dirty="0"/>
          </a:p>
        </p:txBody>
      </p:sp>
      <p:sp>
        <p:nvSpPr>
          <p:cNvPr id="13" name="Text 11"/>
          <p:cNvSpPr txBox="1"/>
          <p:nvPr/>
        </p:nvSpPr>
        <p:spPr>
          <a:xfrm>
            <a:off x="8039405" y="4457700"/>
            <a:ext cx="3400654" cy="323698"/>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Stay off-grid</a:t>
            </a:r>
            <a:endParaRPr lang="en-US" sz="1400" dirty="0"/>
          </a:p>
        </p:txBody>
      </p:sp>
      <p:pic>
        <p:nvPicPr>
          <p:cNvPr id="14"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15" name="Text 12"/>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54D2FE"/>
                </a:solidFill>
                <a:latin typeface="Arial" pitchFamily="34" charset="0"/>
                <a:ea typeface="Arial" pitchFamily="34" charset="-122"/>
                <a:cs typeface="Arial" pitchFamily="34" charset="-120"/>
              </a:rPr>
              <a:t>OPEC INTERNATIONAL SEMINAR · HOFBURG, VIENNA</a:t>
            </a:r>
            <a:endParaRPr lang="en-US" sz="950" dirty="0"/>
          </a:p>
        </p:txBody>
      </p:sp>
      <p:sp>
        <p:nvSpPr>
          <p:cNvPr id="3" name="Text 1"/>
          <p:cNvSpPr txBox="1"/>
          <p:nvPr/>
        </p:nvSpPr>
        <p:spPr>
          <a:xfrm>
            <a:off x="685800" y="800100"/>
            <a:ext cx="10820095" cy="1047902"/>
          </a:xfrm>
          <a:prstGeom prst="rect">
            <a:avLst/>
          </a:prstGeom>
          <a:noFill/>
          <a:ln/>
        </p:spPr>
        <p:txBody>
          <a:bodyPr wrap="square" lIns="0" tIns="0" rIns="0" bIns="0" rtlCol="0" anchor="t"/>
          <a:lstStyle/>
          <a:p>
            <a:pPr indent="0" marL="0">
              <a:lnSpc>
                <a:spcPts val="4050"/>
              </a:lnSpc>
              <a:buNone/>
            </a:pPr>
            <a:r>
              <a:rPr lang="en-US" sz="3400" b="1" dirty="0">
                <a:solidFill>
                  <a:srgbClr val="FFFFFF"/>
                </a:solidFill>
                <a:latin typeface="Arial" pitchFamily="34" charset="0"/>
                <a:ea typeface="Arial" pitchFamily="34" charset="-122"/>
                <a:cs typeface="Arial" pitchFamily="34" charset="-120"/>
              </a:rPr>
              <a:t>The room the UAE had to host.</a:t>
            </a:r>
            <a:endParaRPr lang="en-US" sz="3400" dirty="0"/>
          </a:p>
        </p:txBody>
      </p:sp>
      <p:sp>
        <p:nvSpPr>
          <p:cNvPr id="4" name="Text 2"/>
          <p:cNvSpPr txBox="1"/>
          <p:nvPr/>
        </p:nvSpPr>
        <p:spPr>
          <a:xfrm>
            <a:off x="685800" y="2048256"/>
            <a:ext cx="8762695" cy="761695"/>
          </a:xfrm>
          <a:prstGeom prst="rect">
            <a:avLst/>
          </a:prstGeom>
          <a:noFill/>
          <a:ln/>
        </p:spPr>
        <p:txBody>
          <a:bodyPr wrap="square" lIns="0" tIns="0" rIns="0" bIns="0" rtlCol="0" anchor="t"/>
          <a:lstStyle/>
          <a:p>
            <a:pPr indent="0" marL="0">
              <a:lnSpc>
                <a:spcPts val="1950"/>
              </a:lnSpc>
              <a:buNone/>
            </a:pPr>
            <a:r>
              <a:rPr lang="en-US" sz="1300" dirty="0">
                <a:solidFill>
                  <a:srgbClr val="B9BEC5"/>
                </a:solidFill>
                <a:latin typeface="Arial" pitchFamily="34" charset="0"/>
                <a:ea typeface="Arial" pitchFamily="34" charset="-122"/>
                <a:cs typeface="Arial" pitchFamily="34" charset="-120"/>
              </a:rPr>
              <a:t>The OPEC International Seminar gathers energy ministers, decision makers, diplomats and international media in Vienna. The UAE delegation is led by the Minister of Energy, with officials from ADNOC and Mubadala.</a:t>
            </a:r>
            <a:endParaRPr lang="en-US" sz="1300" dirty="0"/>
          </a:p>
        </p:txBody>
      </p:sp>
      <p:sp>
        <p:nvSpPr>
          <p:cNvPr id="5" name="Text 3"/>
          <p:cNvSpPr txBox="1"/>
          <p:nvPr/>
        </p:nvSpPr>
        <p:spPr>
          <a:xfrm>
            <a:off x="685800" y="3142793"/>
            <a:ext cx="2514600" cy="437998"/>
          </a:xfrm>
          <a:prstGeom prst="rect">
            <a:avLst/>
          </a:prstGeom>
          <a:noFill/>
          <a:ln/>
        </p:spPr>
        <p:txBody>
          <a:bodyPr wrap="square" lIns="0" tIns="0" rIns="0" bIns="0" rtlCol="0" anchor="ctr"/>
          <a:lstStyle/>
          <a:p>
            <a:pPr indent="0" marL="0">
              <a:buNone/>
            </a:pPr>
            <a:r>
              <a:rPr lang="en-US" sz="2850" b="1" dirty="0">
                <a:solidFill>
                  <a:srgbClr val="FFFFFF"/>
                </a:solidFill>
                <a:latin typeface="Arial" pitchFamily="34" charset="0"/>
                <a:ea typeface="Arial" pitchFamily="34" charset="-122"/>
                <a:cs typeface="Arial" pitchFamily="34" charset="-120"/>
              </a:rPr>
              <a:t>700+</a:t>
            </a:r>
            <a:endParaRPr lang="en-US" sz="2850" dirty="0"/>
          </a:p>
        </p:txBody>
      </p:sp>
      <p:sp>
        <p:nvSpPr>
          <p:cNvPr id="6" name="Text 4"/>
          <p:cNvSpPr txBox="1"/>
          <p:nvPr/>
        </p:nvSpPr>
        <p:spPr>
          <a:xfrm>
            <a:off x="685800" y="3619195"/>
            <a:ext cx="2477110" cy="381305"/>
          </a:xfrm>
          <a:prstGeom prst="rect">
            <a:avLst/>
          </a:prstGeom>
          <a:noFill/>
          <a:ln/>
        </p:spPr>
        <p:txBody>
          <a:bodyPr wrap="square" lIns="0" tIns="0" rIns="0" bIns="0" rtlCol="0" anchor="t"/>
          <a:lstStyle/>
          <a:p>
            <a:pPr indent="0" marL="0">
              <a:lnSpc>
                <a:spcPts val="1200"/>
              </a:lnSpc>
              <a:buNone/>
            </a:pPr>
            <a:r>
              <a:rPr lang="en-US" sz="950" b="1" spc="220" kern="0" dirty="0">
                <a:solidFill>
                  <a:srgbClr val="54D2FE"/>
                </a:solidFill>
                <a:latin typeface="Arial" pitchFamily="34" charset="0"/>
                <a:ea typeface="Arial" pitchFamily="34" charset="-122"/>
                <a:cs typeface="Arial" pitchFamily="34" charset="-120"/>
              </a:rPr>
              <a:t>DELEGATES AT THE UAE DINNER</a:t>
            </a:r>
            <a:endParaRPr lang="en-US" sz="950" dirty="0"/>
          </a:p>
        </p:txBody>
      </p:sp>
      <p:sp>
        <p:nvSpPr>
          <p:cNvPr id="7" name="Text 5"/>
          <p:cNvSpPr txBox="1"/>
          <p:nvPr/>
        </p:nvSpPr>
        <p:spPr>
          <a:xfrm>
            <a:off x="3353105" y="3142793"/>
            <a:ext cx="2514600" cy="437998"/>
          </a:xfrm>
          <a:prstGeom prst="rect">
            <a:avLst/>
          </a:prstGeom>
          <a:noFill/>
          <a:ln/>
        </p:spPr>
        <p:txBody>
          <a:bodyPr wrap="square" lIns="0" tIns="0" rIns="0" bIns="0" rtlCol="0" anchor="ctr"/>
          <a:lstStyle/>
          <a:p>
            <a:pPr indent="0" marL="0">
              <a:buNone/>
            </a:pPr>
            <a:r>
              <a:rPr lang="en-US" sz="2850" b="1" dirty="0">
                <a:solidFill>
                  <a:srgbClr val="FFFFFF"/>
                </a:solidFill>
                <a:latin typeface="Arial" pitchFamily="34" charset="0"/>
                <a:ea typeface="Arial" pitchFamily="34" charset="-122"/>
                <a:cs typeface="Arial" pitchFamily="34" charset="-120"/>
              </a:rPr>
              <a:t>Hofburg</a:t>
            </a:r>
            <a:endParaRPr lang="en-US" sz="2850" dirty="0"/>
          </a:p>
        </p:txBody>
      </p:sp>
      <p:sp>
        <p:nvSpPr>
          <p:cNvPr id="8" name="Text 6"/>
          <p:cNvSpPr txBox="1"/>
          <p:nvPr/>
        </p:nvSpPr>
        <p:spPr>
          <a:xfrm>
            <a:off x="3353105" y="3619195"/>
            <a:ext cx="2477110" cy="381305"/>
          </a:xfrm>
          <a:prstGeom prst="rect">
            <a:avLst/>
          </a:prstGeom>
          <a:noFill/>
          <a:ln/>
        </p:spPr>
        <p:txBody>
          <a:bodyPr wrap="square" lIns="0" tIns="0" rIns="0" bIns="0" rtlCol="0" anchor="t"/>
          <a:lstStyle/>
          <a:p>
            <a:pPr indent="0" marL="0">
              <a:lnSpc>
                <a:spcPts val="1200"/>
              </a:lnSpc>
              <a:buNone/>
            </a:pPr>
            <a:r>
              <a:rPr lang="en-US" sz="950" b="1" spc="220" kern="0" dirty="0">
                <a:solidFill>
                  <a:srgbClr val="54D2FE"/>
                </a:solidFill>
                <a:latin typeface="Arial" pitchFamily="34" charset="0"/>
                <a:ea typeface="Arial" pitchFamily="34" charset="-122"/>
                <a:cs typeface="Arial" pitchFamily="34" charset="-120"/>
              </a:rPr>
              <a:t>VIENNA</a:t>
            </a:r>
            <a:endParaRPr lang="en-US" sz="950" dirty="0"/>
          </a:p>
        </p:txBody>
      </p:sp>
      <p:sp>
        <p:nvSpPr>
          <p:cNvPr id="9" name="Text 7"/>
          <p:cNvSpPr txBox="1"/>
          <p:nvPr/>
        </p:nvSpPr>
        <p:spPr>
          <a:xfrm>
            <a:off x="6020410" y="3142793"/>
            <a:ext cx="2514600" cy="437998"/>
          </a:xfrm>
          <a:prstGeom prst="rect">
            <a:avLst/>
          </a:prstGeom>
          <a:noFill/>
          <a:ln/>
        </p:spPr>
        <p:txBody>
          <a:bodyPr wrap="square" lIns="0" tIns="0" rIns="0" bIns="0" rtlCol="0" anchor="ctr"/>
          <a:lstStyle/>
          <a:p>
            <a:pPr indent="0" marL="0">
              <a:buNone/>
            </a:pPr>
            <a:r>
              <a:rPr lang="en-US" sz="2850" b="1" dirty="0">
                <a:solidFill>
                  <a:srgbClr val="FFFFFF"/>
                </a:solidFill>
                <a:latin typeface="Arial" pitchFamily="34" charset="0"/>
                <a:ea typeface="Arial" pitchFamily="34" charset="-122"/>
                <a:cs typeface="Arial" pitchFamily="34" charset="-120"/>
              </a:rPr>
              <a:t>Ministerial</a:t>
            </a:r>
            <a:endParaRPr lang="en-US" sz="2850" dirty="0"/>
          </a:p>
        </p:txBody>
      </p:sp>
      <p:sp>
        <p:nvSpPr>
          <p:cNvPr id="10" name="Text 8"/>
          <p:cNvSpPr txBox="1"/>
          <p:nvPr/>
        </p:nvSpPr>
        <p:spPr>
          <a:xfrm>
            <a:off x="6020410" y="3619195"/>
            <a:ext cx="2477110" cy="381305"/>
          </a:xfrm>
          <a:prstGeom prst="rect">
            <a:avLst/>
          </a:prstGeom>
          <a:noFill/>
          <a:ln/>
        </p:spPr>
        <p:txBody>
          <a:bodyPr wrap="square" lIns="0" tIns="0" rIns="0" bIns="0" rtlCol="0" anchor="t"/>
          <a:lstStyle/>
          <a:p>
            <a:pPr indent="0" marL="0">
              <a:lnSpc>
                <a:spcPts val="1200"/>
              </a:lnSpc>
              <a:buNone/>
            </a:pPr>
            <a:r>
              <a:rPr lang="en-US" sz="950" b="1" spc="220" kern="0" dirty="0">
                <a:solidFill>
                  <a:srgbClr val="54D2FE"/>
                </a:solidFill>
                <a:latin typeface="Arial" pitchFamily="34" charset="0"/>
                <a:ea typeface="Arial" pitchFamily="34" charset="-122"/>
                <a:cs typeface="Arial" pitchFamily="34" charset="-120"/>
              </a:rPr>
              <a:t>DELEGATION</a:t>
            </a:r>
            <a:endParaRPr lang="en-US" sz="950" dirty="0"/>
          </a:p>
        </p:txBody>
      </p:sp>
      <p:sp>
        <p:nvSpPr>
          <p:cNvPr id="11" name="Shape 9"/>
          <p:cNvSpPr/>
          <p:nvPr/>
        </p:nvSpPr>
        <p:spPr>
          <a:xfrm>
            <a:off x="685800" y="4476902"/>
            <a:ext cx="10820095" cy="1524305"/>
          </a:xfrm>
          <a:prstGeom prst="roundRect">
            <a:avLst>
              <a:gd name="adj" fmla="val 6239"/>
            </a:avLst>
          </a:prstGeom>
          <a:solidFill>
            <a:srgbClr val="111111"/>
          </a:solidFill>
          <a:ln/>
        </p:spPr>
      </p:sp>
      <p:sp>
        <p:nvSpPr>
          <p:cNvPr id="12" name="Text 10"/>
          <p:cNvSpPr txBox="1"/>
          <p:nvPr/>
        </p:nvSpPr>
        <p:spPr>
          <a:xfrm>
            <a:off x="819302" y="5068062"/>
            <a:ext cx="10553090"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EOV-OPEC-MINISTER.JPG</a:t>
            </a:r>
            <a:endParaRPr lang="en-US" sz="950" dirty="0"/>
          </a:p>
        </p:txBody>
      </p:sp>
      <p:pic>
        <p:nvPicPr>
          <p:cNvPr id="13" name="Image 0" descr="assets/eov-wordmark-white.png">    </p:cNvPr>
          <p:cNvPicPr>
            <a:picLocks noChangeAspect="1"/>
          </p:cNvPicPr>
          <p:nvPr/>
        </p:nvPicPr>
        <p:blipFill>
          <a:blip r:embed="rId1"/>
          <a:stretch>
            <a:fillRect/>
          </a:stretch>
        </p:blipFill>
        <p:spPr>
          <a:xfrm>
            <a:off x="685800" y="6238951"/>
            <a:ext cx="571500" cy="190195"/>
          </a:xfrm>
          <a:prstGeom prst="rect">
            <a:avLst/>
          </a:prstGeom>
        </p:spPr>
      </p:pic>
      <p:sp>
        <p:nvSpPr>
          <p:cNvPr id="14" name="Text 11"/>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6E7379"/>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943600" y="0"/>
            <a:ext cx="6248370" cy="6858000"/>
          </a:xfrm>
          <a:prstGeom prst="rect">
            <a:avLst/>
          </a:prstGeom>
          <a:solidFill>
            <a:srgbClr val="F4F6F8"/>
          </a:solidFill>
          <a:ln/>
        </p:spPr>
      </p:sp>
      <p:sp>
        <p:nvSpPr>
          <p:cNvPr id="3" name="Text 1"/>
          <p:cNvSpPr txBox="1"/>
          <p:nvPr/>
        </p:nvSpPr>
        <p:spPr>
          <a:xfrm>
            <a:off x="6228893" y="2171700"/>
            <a:ext cx="5676870" cy="381305"/>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EOV-OPEC-VIENNA.JPG</a:t>
            </a:r>
            <a:endParaRPr lang="en-US" sz="950" dirty="0"/>
          </a:p>
        </p:txBody>
      </p:sp>
      <p:sp>
        <p:nvSpPr>
          <p:cNvPr id="4" name="Shape 2"/>
          <p:cNvSpPr/>
          <p:nvPr/>
        </p:nvSpPr>
        <p:spPr>
          <a:xfrm>
            <a:off x="5943600" y="4742993"/>
            <a:ext cx="6248370" cy="2115007"/>
          </a:xfrm>
          <a:prstGeom prst="rect">
            <a:avLst/>
          </a:prstGeom>
          <a:solidFill>
            <a:srgbClr val="000000"/>
          </a:solidFill>
          <a:ln/>
        </p:spPr>
      </p:sp>
      <p:sp>
        <p:nvSpPr>
          <p:cNvPr id="5" name="Text 3"/>
          <p:cNvSpPr txBox="1"/>
          <p:nvPr/>
        </p:nvSpPr>
        <p:spPr>
          <a:xfrm>
            <a:off x="6324905" y="5067605"/>
            <a:ext cx="5486674" cy="724205"/>
          </a:xfrm>
          <a:prstGeom prst="rect">
            <a:avLst/>
          </a:prstGeom>
          <a:noFill/>
          <a:ln/>
        </p:spPr>
        <p:txBody>
          <a:bodyPr wrap="square" lIns="0" tIns="0" rIns="0" bIns="0" rtlCol="0" anchor="t"/>
          <a:lstStyle/>
          <a:p>
            <a:pPr indent="0" marL="0">
              <a:buNone/>
            </a:pPr>
            <a:r>
              <a:rPr lang="en-US" sz="3750" b="1" dirty="0">
                <a:solidFill>
                  <a:srgbClr val="FFFFFF"/>
                </a:solidFill>
                <a:latin typeface="Arial" pitchFamily="34" charset="0"/>
                <a:ea typeface="Arial" pitchFamily="34" charset="-122"/>
                <a:cs typeface="Arial" pitchFamily="34" charset="-120"/>
              </a:rPr>
              <a:t>700+</a:t>
            </a:r>
            <a:endParaRPr lang="en-US" sz="3750" dirty="0"/>
          </a:p>
        </p:txBody>
      </p:sp>
      <p:sp>
        <p:nvSpPr>
          <p:cNvPr id="6" name="Text 4"/>
          <p:cNvSpPr txBox="1"/>
          <p:nvPr/>
        </p:nvSpPr>
        <p:spPr>
          <a:xfrm>
            <a:off x="6324905" y="5848502"/>
            <a:ext cx="5486674" cy="437998"/>
          </a:xfrm>
          <a:prstGeom prst="rect">
            <a:avLst/>
          </a:prstGeom>
          <a:noFill/>
          <a:ln/>
        </p:spPr>
        <p:txBody>
          <a:bodyPr wrap="square" lIns="0" tIns="0" rIns="0" bIns="0" rtlCol="0" anchor="t"/>
          <a:lstStyle/>
          <a:p>
            <a:pPr indent="0" marL="0">
              <a:lnSpc>
                <a:spcPts val="1200"/>
              </a:lnSpc>
              <a:buNone/>
            </a:pPr>
            <a:r>
              <a:rPr lang="en-US" sz="850" b="1" spc="240" kern="0" dirty="0">
                <a:solidFill>
                  <a:srgbClr val="54D2FE"/>
                </a:solidFill>
                <a:latin typeface="Arial" pitchFamily="34" charset="0"/>
                <a:ea typeface="Arial" pitchFamily="34" charset="-122"/>
                <a:cs typeface="Arial" pitchFamily="34" charset="-120"/>
              </a:rPr>
              <a:t>DELEGATES HOSTED · UAE NIGHT</a:t>
            </a:r>
            <a:endParaRPr lang="en-US" sz="850" dirty="0"/>
          </a:p>
        </p:txBody>
      </p:sp>
      <p:sp>
        <p:nvSpPr>
          <p:cNvPr id="7" name="Text 5"/>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OPEC · UAE NIGHT, VIENNA</a:t>
            </a:r>
            <a:endParaRPr lang="en-US" sz="950" dirty="0"/>
          </a:p>
        </p:txBody>
      </p:sp>
      <p:sp>
        <p:nvSpPr>
          <p:cNvPr id="8" name="Text 6"/>
          <p:cNvSpPr txBox="1"/>
          <p:nvPr/>
        </p:nvSpPr>
        <p:spPr>
          <a:xfrm>
            <a:off x="685800" y="800100"/>
            <a:ext cx="4724705" cy="1181405"/>
          </a:xfrm>
          <a:prstGeom prst="rect">
            <a:avLst/>
          </a:prstGeom>
          <a:noFill/>
          <a:ln/>
        </p:spPr>
        <p:txBody>
          <a:bodyPr wrap="square" lIns="0" tIns="0" rIns="0" bIns="0" rtlCol="0" anchor="t"/>
          <a:lstStyle/>
          <a:p>
            <a:pPr indent="0" marL="0">
              <a:lnSpc>
                <a:spcPts val="2700"/>
              </a:lnSpc>
              <a:buNone/>
            </a:pPr>
            <a:r>
              <a:rPr lang="en-US" sz="2250" b="1" dirty="0">
                <a:solidFill>
                  <a:srgbClr val="111111"/>
                </a:solidFill>
                <a:latin typeface="Arial" pitchFamily="34" charset="0"/>
                <a:ea typeface="Arial" pitchFamily="34" charset="-122"/>
                <a:cs typeface="Arial" pitchFamily="34" charset="-120"/>
              </a:rPr>
              <a:t>A national event, delivered in a foreign capital.</a:t>
            </a:r>
            <a:endParaRPr lang="en-US" sz="2250" dirty="0"/>
          </a:p>
        </p:txBody>
      </p:sp>
      <p:sp>
        <p:nvSpPr>
          <p:cNvPr id="9" name="Text 7"/>
          <p:cNvSpPr txBox="1"/>
          <p:nvPr/>
        </p:nvSpPr>
        <p:spPr>
          <a:xfrm>
            <a:off x="685800" y="2171700"/>
            <a:ext cx="4724705" cy="170993"/>
          </a:xfrm>
          <a:prstGeom prst="rect">
            <a:avLst/>
          </a:prstGeom>
          <a:noFill/>
          <a:ln/>
        </p:spPr>
        <p:txBody>
          <a:bodyPr wrap="square" lIns="0" tIns="0" rIns="0" bIns="0" rtlCol="0" anchor="ctr"/>
          <a:lstStyle/>
          <a:p>
            <a:pPr indent="0" marL="0">
              <a:buNone/>
            </a:pPr>
            <a:r>
              <a:rPr lang="en-US" sz="830" b="1" spc="260" kern="0" dirty="0">
                <a:solidFill>
                  <a:srgbClr val="8A8F98"/>
                </a:solidFill>
                <a:latin typeface="Arial" pitchFamily="34" charset="0"/>
                <a:ea typeface="Arial" pitchFamily="34" charset="-122"/>
                <a:cs typeface="Arial" pitchFamily="34" charset="-120"/>
              </a:rPr>
              <a:t>THE SITUATION</a:t>
            </a:r>
            <a:endParaRPr lang="en-US" sz="830" dirty="0"/>
          </a:p>
        </p:txBody>
      </p:sp>
      <p:sp>
        <p:nvSpPr>
          <p:cNvPr id="10" name="Text 8"/>
          <p:cNvSpPr txBox="1"/>
          <p:nvPr/>
        </p:nvSpPr>
        <p:spPr>
          <a:xfrm>
            <a:off x="685800" y="2400300"/>
            <a:ext cx="4724705" cy="742493"/>
          </a:xfrm>
          <a:prstGeom prst="rect">
            <a:avLst/>
          </a:prstGeom>
          <a:noFill/>
          <a:ln/>
        </p:spPr>
        <p:txBody>
          <a:bodyPr wrap="square" lIns="0" tIns="0" rIns="0" bIns="0" rtlCol="0" anchor="t"/>
          <a:lstStyle/>
          <a:p>
            <a:pPr indent="0" marL="0">
              <a:lnSpc>
                <a:spcPts val="1580"/>
              </a:lnSpc>
              <a:buNone/>
            </a:pPr>
            <a:r>
              <a:rPr lang="en-US" sz="1150" dirty="0">
                <a:solidFill>
                  <a:srgbClr val="5A6068"/>
                </a:solidFill>
                <a:latin typeface="Arial" pitchFamily="34" charset="0"/>
                <a:ea typeface="Arial" pitchFamily="34" charset="-122"/>
                <a:cs typeface="Arial" pitchFamily="34" charset="-120"/>
              </a:rPr>
              <a:t>A fixed date in the OPEC calendar at the Hofburg, Vienna, hosting ministers, diplomats and international media — with none of a home market’s suppliers to fall back on.</a:t>
            </a:r>
            <a:endParaRPr lang="en-US" sz="1150" dirty="0"/>
          </a:p>
        </p:txBody>
      </p:sp>
      <p:sp>
        <p:nvSpPr>
          <p:cNvPr id="11" name="Text 9"/>
          <p:cNvSpPr txBox="1"/>
          <p:nvPr/>
        </p:nvSpPr>
        <p:spPr>
          <a:xfrm>
            <a:off x="685800" y="3295498"/>
            <a:ext cx="4724705" cy="170993"/>
          </a:xfrm>
          <a:prstGeom prst="rect">
            <a:avLst/>
          </a:prstGeom>
          <a:noFill/>
          <a:ln/>
        </p:spPr>
        <p:txBody>
          <a:bodyPr wrap="square" lIns="0" tIns="0" rIns="0" bIns="0" rtlCol="0" anchor="ctr"/>
          <a:lstStyle/>
          <a:p>
            <a:pPr indent="0" marL="0">
              <a:buNone/>
            </a:pPr>
            <a:r>
              <a:rPr lang="en-US" sz="830" b="1" spc="260" kern="0" dirty="0">
                <a:solidFill>
                  <a:srgbClr val="8A8F98"/>
                </a:solidFill>
                <a:latin typeface="Arial" pitchFamily="34" charset="0"/>
                <a:ea typeface="Arial" pitchFamily="34" charset="-122"/>
                <a:cs typeface="Arial" pitchFamily="34" charset="-120"/>
              </a:rPr>
              <a:t>WHAT EOV DID</a:t>
            </a:r>
            <a:endParaRPr lang="en-US" sz="830" dirty="0"/>
          </a:p>
        </p:txBody>
      </p:sp>
      <p:sp>
        <p:nvSpPr>
          <p:cNvPr id="12" name="Text 10"/>
          <p:cNvSpPr txBox="1"/>
          <p:nvPr/>
        </p:nvSpPr>
        <p:spPr>
          <a:xfrm>
            <a:off x="685800" y="3524098"/>
            <a:ext cx="4724705" cy="1162202"/>
          </a:xfrm>
          <a:prstGeom prst="rect">
            <a:avLst/>
          </a:prstGeom>
          <a:noFill/>
          <a:ln/>
        </p:spPr>
        <p:txBody>
          <a:bodyPr wrap="square" lIns="0" tIns="0" rIns="0" bIns="0" rtlCol="0" anchor="t"/>
          <a:lstStyle/>
          <a:p>
            <a:pPr indent="0" marL="0">
              <a:lnSpc>
                <a:spcPts val="1580"/>
              </a:lnSpc>
              <a:buNone/>
            </a:pPr>
            <a:r>
              <a:rPr lang="en-US" sz="1150" dirty="0">
                <a:solidFill>
                  <a:srgbClr val="5A6068"/>
                </a:solidFill>
                <a:latin typeface="Arial" pitchFamily="34" charset="0"/>
                <a:ea typeface="Arial" pitchFamily="34" charset="-122"/>
                <a:cs typeface="Arial" pitchFamily="34" charset="-120"/>
              </a:rPr>
              <a:t>EOV treated the room as the deliverable and worked backwards from it. Protocol was settled before any creative decision was taken, and sourcing, production and rehearsal were built in Vienna to a standard set in Abu Dhabi.</a:t>
            </a:r>
            <a:endParaRPr lang="en-US" sz="1150" dirty="0"/>
          </a:p>
        </p:txBody>
      </p:sp>
      <p:sp>
        <p:nvSpPr>
          <p:cNvPr id="13" name="Text 11"/>
          <p:cNvSpPr txBox="1"/>
          <p:nvPr/>
        </p:nvSpPr>
        <p:spPr>
          <a:xfrm>
            <a:off x="685800" y="4762195"/>
            <a:ext cx="4724705" cy="170993"/>
          </a:xfrm>
          <a:prstGeom prst="rect">
            <a:avLst/>
          </a:prstGeom>
          <a:noFill/>
          <a:ln/>
        </p:spPr>
        <p:txBody>
          <a:bodyPr wrap="square" lIns="0" tIns="0" rIns="0" bIns="0" rtlCol="0" anchor="ctr"/>
          <a:lstStyle/>
          <a:p>
            <a:pPr indent="0" marL="0">
              <a:buNone/>
            </a:pPr>
            <a:r>
              <a:rPr lang="en-US" sz="830" b="1" spc="260" kern="0" dirty="0">
                <a:solidFill>
                  <a:srgbClr val="8A8F98"/>
                </a:solidFill>
                <a:latin typeface="Arial" pitchFamily="34" charset="0"/>
                <a:ea typeface="Arial" pitchFamily="34" charset="-122"/>
                <a:cs typeface="Arial" pitchFamily="34" charset="-120"/>
              </a:rPr>
              <a:t>WHAT CHANGED</a:t>
            </a:r>
            <a:endParaRPr lang="en-US" sz="830" dirty="0"/>
          </a:p>
        </p:txBody>
      </p:sp>
      <p:sp>
        <p:nvSpPr>
          <p:cNvPr id="14" name="Text 12"/>
          <p:cNvSpPr txBox="1"/>
          <p:nvPr/>
        </p:nvSpPr>
        <p:spPr>
          <a:xfrm>
            <a:off x="685800" y="4990795"/>
            <a:ext cx="4724705" cy="742493"/>
          </a:xfrm>
          <a:prstGeom prst="rect">
            <a:avLst/>
          </a:prstGeom>
          <a:noFill/>
          <a:ln/>
        </p:spPr>
        <p:txBody>
          <a:bodyPr wrap="square" lIns="0" tIns="0" rIns="0" bIns="0" rtlCol="0" anchor="t"/>
          <a:lstStyle/>
          <a:p>
            <a:pPr indent="0" marL="0">
              <a:lnSpc>
                <a:spcPts val="1580"/>
              </a:lnSpc>
              <a:buNone/>
            </a:pPr>
            <a:r>
              <a:rPr lang="en-US" sz="1150" dirty="0">
                <a:solidFill>
                  <a:srgbClr val="5A6068"/>
                </a:solidFill>
                <a:latin typeface="Arial" pitchFamily="34" charset="0"/>
                <a:ea typeface="Arial" pitchFamily="34" charset="-122"/>
                <a:cs typeface="Arial" pitchFamily="34" charset="-120"/>
              </a:rPr>
              <a:t>700+ delegates hosted at UAE Night, in partnership with H.E. Suhail Al Mazrouei, Minister of Energy.</a:t>
            </a:r>
            <a:endParaRPr lang="en-US" sz="1150" dirty="0"/>
          </a:p>
        </p:txBody>
      </p:sp>
      <p:sp>
        <p:nvSpPr>
          <p:cNvPr id="15" name="Text 13"/>
          <p:cNvSpPr txBox="1"/>
          <p:nvPr/>
        </p:nvSpPr>
        <p:spPr>
          <a:xfrm>
            <a:off x="685800" y="5771693"/>
            <a:ext cx="4724705" cy="342900"/>
          </a:xfrm>
          <a:prstGeom prst="rect">
            <a:avLst/>
          </a:prstGeom>
          <a:noFill/>
          <a:ln/>
        </p:spPr>
        <p:txBody>
          <a:bodyPr wrap="square" lIns="0" tIns="0" rIns="0" bIns="0" rtlCol="0" anchor="t"/>
          <a:lstStyle/>
          <a:p>
            <a:pPr indent="0" marL="0">
              <a:lnSpc>
                <a:spcPts val="1200"/>
              </a:lnSpc>
              <a:buNone/>
            </a:pPr>
            <a:r>
              <a:rPr lang="en-US" sz="830" b="1" spc="160" kern="0" dirty="0">
                <a:solidFill>
                  <a:srgbClr val="8A8F98"/>
                </a:solidFill>
                <a:latin typeface="Arial" pitchFamily="34" charset="0"/>
                <a:ea typeface="Arial" pitchFamily="34" charset="-122"/>
                <a:cs typeface="Arial" pitchFamily="34" charset="-120"/>
              </a:rPr>
              <a:t>Event strategy · protocol · production · content · media</a:t>
            </a:r>
            <a:endParaRPr lang="en-US" sz="830" dirty="0"/>
          </a:p>
        </p:txBody>
      </p:sp>
      <p:pic>
        <p:nvPicPr>
          <p:cNvPr id="16"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17" name="Text 14"/>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18</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7239305" cy="6858000"/>
          </a:xfrm>
          <a:prstGeom prst="roundRect">
            <a:avLst>
              <a:gd name="adj" fmla="val 1387"/>
            </a:avLst>
          </a:prstGeom>
          <a:solidFill>
            <a:srgbClr val="111111"/>
          </a:solidFill>
          <a:ln/>
        </p:spPr>
      </p:sp>
      <p:sp>
        <p:nvSpPr>
          <p:cNvPr id="3" name="Text 1"/>
          <p:cNvSpPr txBox="1"/>
          <p:nvPr/>
        </p:nvSpPr>
        <p:spPr>
          <a:xfrm>
            <a:off x="133502" y="3258007"/>
            <a:ext cx="6972300"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EOV-OPEC-VIENNA.JPG</a:t>
            </a:r>
            <a:endParaRPr lang="en-US" sz="950" dirty="0"/>
          </a:p>
        </p:txBody>
      </p:sp>
      <p:sp>
        <p:nvSpPr>
          <p:cNvPr id="4" name="Shape 2"/>
          <p:cNvSpPr/>
          <p:nvPr/>
        </p:nvSpPr>
        <p:spPr>
          <a:xfrm>
            <a:off x="7315200" y="0"/>
            <a:ext cx="4876770" cy="3391052"/>
          </a:xfrm>
          <a:prstGeom prst="roundRect">
            <a:avLst>
              <a:gd name="adj" fmla="val 2804"/>
            </a:avLst>
          </a:prstGeom>
          <a:solidFill>
            <a:srgbClr val="111111"/>
          </a:solidFill>
          <a:ln/>
        </p:spPr>
      </p:sp>
      <p:sp>
        <p:nvSpPr>
          <p:cNvPr id="5" name="Text 3"/>
          <p:cNvSpPr txBox="1"/>
          <p:nvPr/>
        </p:nvSpPr>
        <p:spPr>
          <a:xfrm>
            <a:off x="7448702" y="1524533"/>
            <a:ext cx="4609765"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[VIENNA ROOM]</a:t>
            </a:r>
            <a:endParaRPr lang="en-US" sz="950" dirty="0"/>
          </a:p>
        </p:txBody>
      </p:sp>
      <p:sp>
        <p:nvSpPr>
          <p:cNvPr id="6" name="Shape 4"/>
          <p:cNvSpPr/>
          <p:nvPr/>
        </p:nvSpPr>
        <p:spPr>
          <a:xfrm>
            <a:off x="7315200" y="3466948"/>
            <a:ext cx="4876770" cy="3391052"/>
          </a:xfrm>
          <a:prstGeom prst="roundRect">
            <a:avLst>
              <a:gd name="adj" fmla="val 2804"/>
            </a:avLst>
          </a:prstGeom>
          <a:solidFill>
            <a:srgbClr val="111111"/>
          </a:solidFill>
          <a:ln/>
        </p:spPr>
      </p:sp>
      <p:sp>
        <p:nvSpPr>
          <p:cNvPr id="7" name="Text 5"/>
          <p:cNvSpPr txBox="1"/>
          <p:nvPr/>
        </p:nvSpPr>
        <p:spPr>
          <a:xfrm>
            <a:off x="7448702" y="4991481"/>
            <a:ext cx="4609765"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EOV-OPEC-MINISTER.JPG</a:t>
            </a:r>
            <a:endParaRPr lang="en-US" sz="950" dirty="0"/>
          </a:p>
        </p:txBody>
      </p:sp>
      <p:sp>
        <p:nvSpPr>
          <p:cNvPr id="8" name="Shape 6"/>
          <p:cNvSpPr/>
          <p:nvPr/>
        </p:nvSpPr>
        <p:spPr>
          <a:xfrm>
            <a:off x="0" y="4762195"/>
            <a:ext cx="7239305" cy="2095805"/>
          </a:xfrm>
          <a:prstGeom prst="rect">
            <a:avLst/>
          </a:prstGeom>
          <a:solidFill>
            <a:srgbClr val="000000">
              <a:alpha val="86000"/>
            </a:srgbClr>
          </a:solidFill>
          <a:ln/>
        </p:spPr>
      </p:sp>
      <p:sp>
        <p:nvSpPr>
          <p:cNvPr id="9" name="Text 7"/>
          <p:cNvSpPr txBox="1"/>
          <p:nvPr/>
        </p:nvSpPr>
        <p:spPr>
          <a:xfrm>
            <a:off x="533095" y="5219395"/>
            <a:ext cx="6191402" cy="190195"/>
          </a:xfrm>
          <a:prstGeom prst="rect">
            <a:avLst/>
          </a:prstGeom>
          <a:noFill/>
          <a:ln/>
        </p:spPr>
        <p:txBody>
          <a:bodyPr wrap="square" lIns="0" tIns="0" rIns="0" bIns="0" rtlCol="0" anchor="ctr"/>
          <a:lstStyle/>
          <a:p>
            <a:pPr indent="0" marL="0">
              <a:buNone/>
            </a:pPr>
            <a:r>
              <a:rPr lang="en-US" sz="950" b="1" spc="300" kern="0" dirty="0">
                <a:solidFill>
                  <a:srgbClr val="54D2FE"/>
                </a:solidFill>
                <a:latin typeface="Arial" pitchFamily="34" charset="0"/>
                <a:ea typeface="Arial" pitchFamily="34" charset="-122"/>
                <a:cs typeface="Arial" pitchFamily="34" charset="-120"/>
              </a:rPr>
              <a:t>OPEC · UAE NIGHT, VIENNA</a:t>
            </a:r>
            <a:endParaRPr lang="en-US" sz="950" dirty="0"/>
          </a:p>
        </p:txBody>
      </p:sp>
      <p:sp>
        <p:nvSpPr>
          <p:cNvPr id="10" name="Text 8"/>
          <p:cNvSpPr txBox="1"/>
          <p:nvPr/>
        </p:nvSpPr>
        <p:spPr>
          <a:xfrm>
            <a:off x="533095" y="5543093"/>
            <a:ext cx="6191402" cy="914400"/>
          </a:xfrm>
          <a:prstGeom prst="rect">
            <a:avLst/>
          </a:prstGeom>
          <a:noFill/>
          <a:ln/>
        </p:spPr>
        <p:txBody>
          <a:bodyPr wrap="square" lIns="0" tIns="0" rIns="0" bIns="0" rtlCol="0" anchor="t"/>
          <a:lstStyle/>
          <a:p>
            <a:pPr indent="0" marL="0">
              <a:lnSpc>
                <a:spcPts val="2400"/>
              </a:lnSpc>
              <a:buNone/>
            </a:pPr>
            <a:r>
              <a:rPr lang="en-US" sz="1900" b="1" dirty="0">
                <a:solidFill>
                  <a:srgbClr val="FFFFFF"/>
                </a:solidFill>
                <a:latin typeface="Arial" pitchFamily="34" charset="0"/>
                <a:ea typeface="Arial" pitchFamily="34" charset="-122"/>
                <a:cs typeface="Arial" pitchFamily="34" charset="-120"/>
              </a:rPr>
              <a:t>Nine photographs and a film exist. None have been in a deck.</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INSTITUTIONAL EVENTS</a:t>
            </a:r>
            <a:endParaRPr lang="en-US" sz="950" dirty="0"/>
          </a:p>
        </p:txBody>
      </p:sp>
      <p:sp>
        <p:nvSpPr>
          <p:cNvPr id="3" name="Text 1"/>
          <p:cNvSpPr txBox="1"/>
          <p:nvPr/>
        </p:nvSpPr>
        <p:spPr>
          <a:xfrm>
            <a:off x="685800" y="800100"/>
            <a:ext cx="10820095" cy="666598"/>
          </a:xfrm>
          <a:prstGeom prst="rect">
            <a:avLst/>
          </a:prstGeom>
          <a:noFill/>
          <a:ln/>
        </p:spPr>
        <p:txBody>
          <a:bodyPr wrap="square" lIns="0" tIns="0" rIns="0" bIns="0" rtlCol="0" anchor="t"/>
          <a:lstStyle/>
          <a:p>
            <a:pPr indent="0" marL="0">
              <a:lnSpc>
                <a:spcPts val="4050"/>
              </a:lnSpc>
              <a:buNone/>
            </a:pPr>
            <a:r>
              <a:rPr lang="en-US" sz="2850" b="1" dirty="0">
                <a:solidFill>
                  <a:srgbClr val="111111"/>
                </a:solidFill>
                <a:latin typeface="Arial" pitchFamily="34" charset="0"/>
                <a:ea typeface="Arial" pitchFamily="34" charset="-122"/>
                <a:cs typeface="Arial" pitchFamily="34" charset="-120"/>
              </a:rPr>
              <a:t>Not once. A standing capability.</a:t>
            </a:r>
            <a:endParaRPr lang="en-US" sz="2850" dirty="0"/>
          </a:p>
        </p:txBody>
      </p:sp>
      <p:sp>
        <p:nvSpPr>
          <p:cNvPr id="4" name="Text 2"/>
          <p:cNvSpPr txBox="1"/>
          <p:nvPr/>
        </p:nvSpPr>
        <p:spPr>
          <a:xfrm>
            <a:off x="685800" y="1714500"/>
            <a:ext cx="9525305" cy="533095"/>
          </a:xfrm>
          <a:prstGeom prst="rect">
            <a:avLst/>
          </a:prstGeom>
          <a:noFill/>
          <a:ln/>
        </p:spPr>
        <p:txBody>
          <a:bodyPr wrap="square" lIns="0" tIns="0" rIns="0" bIns="0" rtlCol="0" anchor="t"/>
          <a:lstStyle/>
          <a:p>
            <a:pPr indent="0" marL="0">
              <a:lnSpc>
                <a:spcPts val="1950"/>
              </a:lnSpc>
              <a:buNone/>
            </a:pPr>
            <a:r>
              <a:rPr lang="en-US" sz="1300" dirty="0">
                <a:solidFill>
                  <a:srgbClr val="5A6068"/>
                </a:solidFill>
                <a:latin typeface="Arial" pitchFamily="34" charset="0"/>
                <a:ea typeface="Arial" pitchFamily="34" charset="-122"/>
                <a:cs typeface="Arial" pitchFamily="34" charset="-120"/>
              </a:rPr>
              <a:t>The website records OPEC events in the plural, alongside the Arab SMIS Summit. Institutional event delivery is a strand of the practice rather than a single engagement.</a:t>
            </a:r>
            <a:endParaRPr lang="en-US" sz="1300" dirty="0"/>
          </a:p>
        </p:txBody>
      </p:sp>
      <p:sp>
        <p:nvSpPr>
          <p:cNvPr id="5" name="Shape 3"/>
          <p:cNvSpPr/>
          <p:nvPr/>
        </p:nvSpPr>
        <p:spPr>
          <a:xfrm>
            <a:off x="685800" y="2523744"/>
            <a:ext cx="3400654" cy="1809598"/>
          </a:xfrm>
          <a:prstGeom prst="roundRect">
            <a:avLst>
              <a:gd name="adj" fmla="val 5255"/>
            </a:avLst>
          </a:prstGeom>
          <a:solidFill>
            <a:srgbClr val="F4F6F8"/>
          </a:solidFill>
          <a:ln/>
        </p:spPr>
      </p:sp>
      <p:sp>
        <p:nvSpPr>
          <p:cNvPr id="6" name="Text 4"/>
          <p:cNvSpPr txBox="1"/>
          <p:nvPr/>
        </p:nvSpPr>
        <p:spPr>
          <a:xfrm>
            <a:off x="819302" y="3257550"/>
            <a:ext cx="3133649"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EVENT PHOTOGRAPHY</a:t>
            </a:r>
            <a:endParaRPr lang="en-US" sz="950" dirty="0"/>
          </a:p>
        </p:txBody>
      </p:sp>
      <p:sp>
        <p:nvSpPr>
          <p:cNvPr id="7" name="Text 5"/>
          <p:cNvSpPr txBox="1"/>
          <p:nvPr/>
        </p:nvSpPr>
        <p:spPr>
          <a:xfrm>
            <a:off x="685800" y="4496105"/>
            <a:ext cx="3400654" cy="304495"/>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OPEC · UAE Night</a:t>
            </a:r>
            <a:endParaRPr lang="en-US" sz="1400" dirty="0"/>
          </a:p>
        </p:txBody>
      </p:sp>
      <p:sp>
        <p:nvSpPr>
          <p:cNvPr id="8" name="Text 6"/>
          <p:cNvSpPr txBox="1"/>
          <p:nvPr/>
        </p:nvSpPr>
        <p:spPr>
          <a:xfrm>
            <a:off x="685800" y="4819802"/>
            <a:ext cx="3400654" cy="267005"/>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Vienna</a:t>
            </a:r>
            <a:endParaRPr lang="en-US" sz="1150" dirty="0"/>
          </a:p>
        </p:txBody>
      </p:sp>
      <p:sp>
        <p:nvSpPr>
          <p:cNvPr id="9" name="Shape 7"/>
          <p:cNvSpPr/>
          <p:nvPr/>
        </p:nvSpPr>
        <p:spPr>
          <a:xfrm>
            <a:off x="4362602" y="2523744"/>
            <a:ext cx="3400654" cy="1809598"/>
          </a:xfrm>
          <a:prstGeom prst="roundRect">
            <a:avLst>
              <a:gd name="adj" fmla="val 5255"/>
            </a:avLst>
          </a:prstGeom>
          <a:solidFill>
            <a:srgbClr val="F4F6F8"/>
          </a:solidFill>
          <a:ln/>
        </p:spPr>
      </p:sp>
      <p:sp>
        <p:nvSpPr>
          <p:cNvPr id="10" name="Text 8"/>
          <p:cNvSpPr txBox="1"/>
          <p:nvPr/>
        </p:nvSpPr>
        <p:spPr>
          <a:xfrm>
            <a:off x="4496105" y="3257550"/>
            <a:ext cx="3133649"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EVENT PHOTOGRAPHY</a:t>
            </a:r>
            <a:endParaRPr lang="en-US" sz="950" dirty="0"/>
          </a:p>
        </p:txBody>
      </p:sp>
      <p:sp>
        <p:nvSpPr>
          <p:cNvPr id="11" name="Text 9"/>
          <p:cNvSpPr txBox="1"/>
          <p:nvPr/>
        </p:nvSpPr>
        <p:spPr>
          <a:xfrm>
            <a:off x="4362602" y="4496105"/>
            <a:ext cx="3400654" cy="304495"/>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OPEC events</a:t>
            </a:r>
            <a:endParaRPr lang="en-US" sz="1400" dirty="0"/>
          </a:p>
        </p:txBody>
      </p:sp>
      <p:sp>
        <p:nvSpPr>
          <p:cNvPr id="12" name="Text 10"/>
          <p:cNvSpPr txBox="1"/>
          <p:nvPr/>
        </p:nvSpPr>
        <p:spPr>
          <a:xfrm>
            <a:off x="4362602" y="4819802"/>
            <a:ext cx="3400654" cy="267005"/>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Multiple editions [CONFIRM]</a:t>
            </a:r>
            <a:endParaRPr lang="en-US" sz="1150" dirty="0"/>
          </a:p>
        </p:txBody>
      </p:sp>
      <p:sp>
        <p:nvSpPr>
          <p:cNvPr id="13" name="Shape 11"/>
          <p:cNvSpPr/>
          <p:nvPr/>
        </p:nvSpPr>
        <p:spPr>
          <a:xfrm>
            <a:off x="8039405" y="2523744"/>
            <a:ext cx="3400654" cy="1809598"/>
          </a:xfrm>
          <a:prstGeom prst="roundRect">
            <a:avLst>
              <a:gd name="adj" fmla="val 5255"/>
            </a:avLst>
          </a:prstGeom>
          <a:solidFill>
            <a:srgbClr val="F4F6F8"/>
          </a:solidFill>
          <a:ln/>
        </p:spPr>
      </p:sp>
      <p:sp>
        <p:nvSpPr>
          <p:cNvPr id="14" name="Text 12"/>
          <p:cNvSpPr txBox="1"/>
          <p:nvPr/>
        </p:nvSpPr>
        <p:spPr>
          <a:xfrm>
            <a:off x="8172907" y="3257550"/>
            <a:ext cx="3133649"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EVENT PHOTOGRAPHY</a:t>
            </a:r>
            <a:endParaRPr lang="en-US" sz="950" dirty="0"/>
          </a:p>
        </p:txBody>
      </p:sp>
      <p:sp>
        <p:nvSpPr>
          <p:cNvPr id="15" name="Text 13"/>
          <p:cNvSpPr txBox="1"/>
          <p:nvPr/>
        </p:nvSpPr>
        <p:spPr>
          <a:xfrm>
            <a:off x="8039405" y="4496105"/>
            <a:ext cx="3400654" cy="304495"/>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Arab SMIS Summit</a:t>
            </a:r>
            <a:endParaRPr lang="en-US" sz="1400" dirty="0"/>
          </a:p>
        </p:txBody>
      </p:sp>
      <p:sp>
        <p:nvSpPr>
          <p:cNvPr id="16" name="Text 14"/>
          <p:cNvSpPr txBox="1"/>
          <p:nvPr/>
        </p:nvSpPr>
        <p:spPr>
          <a:xfrm>
            <a:off x="8039405" y="4819802"/>
            <a:ext cx="3400654" cy="267005"/>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Institutional</a:t>
            </a:r>
            <a:endParaRPr lang="en-US" sz="1150" dirty="0"/>
          </a:p>
        </p:txBody>
      </p:sp>
      <p:pic>
        <p:nvPicPr>
          <p:cNvPr id="17"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18" name="Text 15"/>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20</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00000"/>
        </a:solidFill>
      </p:bgPr>
    </p:bg>
    <p:spTree>
      <p:nvGrpSpPr>
        <p:cNvPr id="1" name=""/>
        <p:cNvGrpSpPr/>
        <p:nvPr/>
      </p:nvGrpSpPr>
      <p:grpSpPr>
        <a:xfrm>
          <a:off x="0" y="0"/>
          <a:ext cx="0" cy="0"/>
          <a:chOff x="0" y="0"/>
          <a:chExt cx="0" cy="0"/>
        </a:xfrm>
      </p:grpSpPr>
      <p:sp>
        <p:nvSpPr>
          <p:cNvPr id="2" name="Shape 0"/>
          <p:cNvSpPr/>
          <p:nvPr/>
        </p:nvSpPr>
        <p:spPr>
          <a:xfrm>
            <a:off x="0" y="0"/>
            <a:ext cx="6096305" cy="6858000"/>
          </a:xfrm>
          <a:prstGeom prst="roundRect">
            <a:avLst>
              <a:gd name="adj" fmla="val 1560"/>
            </a:avLst>
          </a:prstGeom>
          <a:solidFill>
            <a:srgbClr val="111111"/>
          </a:solidFill>
          <a:ln/>
        </p:spPr>
      </p:sp>
      <p:sp>
        <p:nvSpPr>
          <p:cNvPr id="3" name="Text 1"/>
          <p:cNvSpPr txBox="1"/>
          <p:nvPr/>
        </p:nvSpPr>
        <p:spPr>
          <a:xfrm>
            <a:off x="133502" y="3258007"/>
            <a:ext cx="5829300" cy="342900"/>
          </a:xfrm>
          <a:prstGeom prst="rect">
            <a:avLst/>
          </a:prstGeom>
          <a:noFill/>
          <a:ln/>
        </p:spPr>
        <p:txBody>
          <a:bodyPr wrap="square" rtlCol="0" anchor="ctr"/>
          <a:lstStyle/>
          <a:p>
            <a:pPr algn="ctr" indent="0" marL="0">
              <a:buNone/>
            </a:pPr>
            <a:r>
              <a:rPr lang="en-US" sz="950" b="1" spc="240" kern="0" dirty="0">
                <a:solidFill>
                  <a:srgbClr val="6E7379"/>
                </a:solidFill>
                <a:latin typeface="Arial" pitchFamily="34" charset="0"/>
                <a:ea typeface="Arial" pitchFamily="34" charset="-122"/>
                <a:cs typeface="Arial" pitchFamily="34" charset="-120"/>
              </a:rPr>
              <a:t>VIENNA FILM · OR EOV-OPEC-MINISTER.JPG</a:t>
            </a:r>
            <a:endParaRPr lang="en-US" sz="950" dirty="0"/>
          </a:p>
        </p:txBody>
      </p:sp>
      <p:sp>
        <p:nvSpPr>
          <p:cNvPr id="4" name="Text 2"/>
          <p:cNvSpPr txBox="1"/>
          <p:nvPr/>
        </p:nvSpPr>
        <p:spPr>
          <a:xfrm>
            <a:off x="6667805" y="2190902"/>
            <a:ext cx="4762195" cy="476402"/>
          </a:xfrm>
          <a:prstGeom prst="rect">
            <a:avLst/>
          </a:prstGeom>
          <a:noFill/>
          <a:ln/>
        </p:spPr>
        <p:txBody>
          <a:bodyPr wrap="square" lIns="0" tIns="0" rIns="0" bIns="0" rtlCol="0" anchor="ctr"/>
          <a:lstStyle/>
          <a:p>
            <a:pPr indent="0" marL="0">
              <a:lnSpc>
                <a:spcPts val="1650"/>
              </a:lnSpc>
              <a:buNone/>
            </a:pPr>
            <a:r>
              <a:rPr lang="en-US" sz="1150" dirty="0">
                <a:solidFill>
                  <a:srgbClr val="6E7379"/>
                </a:solidFill>
                <a:latin typeface="Arial" pitchFamily="34" charset="0"/>
                <a:ea typeface="Arial" pitchFamily="34" charset="-122"/>
                <a:cs typeface="Arial" pitchFamily="34" charset="-120"/>
              </a:rPr>
              <a:t>A fixed date · a foreign city · a country represented</a:t>
            </a:r>
            <a:endParaRPr lang="en-US" sz="1150" dirty="0"/>
          </a:p>
        </p:txBody>
      </p:sp>
      <p:sp>
        <p:nvSpPr>
          <p:cNvPr id="5" name="Text 3"/>
          <p:cNvSpPr txBox="1"/>
          <p:nvPr/>
        </p:nvSpPr>
        <p:spPr>
          <a:xfrm>
            <a:off x="6667805" y="2857500"/>
            <a:ext cx="4667098" cy="2286000"/>
          </a:xfrm>
          <a:prstGeom prst="rect">
            <a:avLst/>
          </a:prstGeom>
          <a:noFill/>
          <a:ln/>
        </p:spPr>
        <p:txBody>
          <a:bodyPr wrap="square" lIns="0" tIns="0" rIns="0" bIns="0" rtlCol="0" anchor="t"/>
          <a:lstStyle/>
          <a:p>
            <a:pPr indent="0" marL="0">
              <a:lnSpc>
                <a:spcPts val="3750"/>
              </a:lnSpc>
              <a:buNone/>
            </a:pPr>
            <a:r>
              <a:rPr lang="en-US" sz="3000" b="1" dirty="0">
                <a:solidFill>
                  <a:srgbClr val="FFFFFF"/>
                </a:solidFill>
                <a:latin typeface="Arial" pitchFamily="34" charset="0"/>
                <a:ea typeface="Arial" pitchFamily="34" charset="-122"/>
                <a:cs typeface="Arial" pitchFamily="34" charset="-120"/>
              </a:rPr>
              <a:t>Nothing about that brief allowed a second attempt.</a:t>
            </a:r>
            <a:endParaRPr lang="en-US" sz="3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SELECTED PROJECTS</a:t>
            </a:r>
            <a:endParaRPr lang="en-US" sz="950" dirty="0"/>
          </a:p>
        </p:txBody>
      </p:sp>
      <p:sp>
        <p:nvSpPr>
          <p:cNvPr id="3" name="Text 1"/>
          <p:cNvSpPr txBox="1"/>
          <p:nvPr/>
        </p:nvSpPr>
        <p:spPr>
          <a:xfrm>
            <a:off x="685800" y="800100"/>
            <a:ext cx="10820095" cy="666598"/>
          </a:xfrm>
          <a:prstGeom prst="rect">
            <a:avLst/>
          </a:prstGeom>
          <a:noFill/>
          <a:ln/>
        </p:spPr>
        <p:txBody>
          <a:bodyPr wrap="square" lIns="0" tIns="0" rIns="0" bIns="0" rtlCol="0" anchor="t"/>
          <a:lstStyle/>
          <a:p>
            <a:pPr indent="0" marL="0">
              <a:lnSpc>
                <a:spcPts val="4050"/>
              </a:lnSpc>
              <a:buNone/>
            </a:pPr>
            <a:r>
              <a:rPr lang="en-US" sz="2850" b="1" dirty="0">
                <a:solidFill>
                  <a:srgbClr val="111111"/>
                </a:solidFill>
                <a:latin typeface="Arial" pitchFamily="34" charset="0"/>
                <a:ea typeface="Arial" pitchFamily="34" charset="-122"/>
                <a:cs typeface="Arial" pitchFamily="34" charset="-120"/>
              </a:rPr>
              <a:t>Further work across government, industry and retail.</a:t>
            </a:r>
            <a:endParaRPr lang="en-US" sz="2850" dirty="0"/>
          </a:p>
        </p:txBody>
      </p:sp>
      <p:sp>
        <p:nvSpPr>
          <p:cNvPr id="4" name="Shape 2"/>
          <p:cNvSpPr/>
          <p:nvPr/>
        </p:nvSpPr>
        <p:spPr>
          <a:xfrm>
            <a:off x="685800" y="2048256"/>
            <a:ext cx="1990649" cy="1333195"/>
          </a:xfrm>
          <a:prstGeom prst="roundRect">
            <a:avLst>
              <a:gd name="adj" fmla="val 7133"/>
            </a:avLst>
          </a:prstGeom>
          <a:solidFill>
            <a:srgbClr val="F4F6F8"/>
          </a:solidFill>
          <a:ln/>
        </p:spPr>
      </p:sp>
      <p:sp>
        <p:nvSpPr>
          <p:cNvPr id="5" name="Text 3"/>
          <p:cNvSpPr txBox="1"/>
          <p:nvPr/>
        </p:nvSpPr>
        <p:spPr>
          <a:xfrm>
            <a:off x="819302" y="2543861"/>
            <a:ext cx="17236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[PROJECT IMAGE]</a:t>
            </a:r>
            <a:endParaRPr lang="en-US" sz="950" dirty="0"/>
          </a:p>
        </p:txBody>
      </p:sp>
      <p:sp>
        <p:nvSpPr>
          <p:cNvPr id="6" name="Text 4"/>
          <p:cNvSpPr txBox="1"/>
          <p:nvPr/>
        </p:nvSpPr>
        <p:spPr>
          <a:xfrm>
            <a:off x="685800" y="3476549"/>
            <a:ext cx="1990649" cy="285293"/>
          </a:xfrm>
          <a:prstGeom prst="rect">
            <a:avLst/>
          </a:prstGeom>
          <a:noFill/>
          <a:ln/>
        </p:spPr>
        <p:txBody>
          <a:bodyPr wrap="square" lIns="0" tIns="0" rIns="0" bIns="0" rtlCol="0" anchor="ctr"/>
          <a:lstStyle/>
          <a:p>
            <a:pPr indent="0" marL="0">
              <a:buNone/>
            </a:pPr>
            <a:r>
              <a:rPr lang="en-US" sz="1150" b="1" dirty="0">
                <a:solidFill>
                  <a:srgbClr val="111111"/>
                </a:solidFill>
                <a:latin typeface="Arial" pitchFamily="34" charset="0"/>
                <a:ea typeface="Arial" pitchFamily="34" charset="-122"/>
                <a:cs typeface="Arial" pitchFamily="34" charset="-120"/>
              </a:rPr>
              <a:t>Arab SMIS Summit</a:t>
            </a:r>
            <a:endParaRPr lang="en-US" sz="1150" dirty="0"/>
          </a:p>
        </p:txBody>
      </p:sp>
      <p:sp>
        <p:nvSpPr>
          <p:cNvPr id="7" name="Shape 5"/>
          <p:cNvSpPr/>
          <p:nvPr/>
        </p:nvSpPr>
        <p:spPr>
          <a:xfrm>
            <a:off x="2895905" y="2048256"/>
            <a:ext cx="1990649" cy="1333195"/>
          </a:xfrm>
          <a:prstGeom prst="roundRect">
            <a:avLst>
              <a:gd name="adj" fmla="val 7133"/>
            </a:avLst>
          </a:prstGeom>
          <a:solidFill>
            <a:srgbClr val="F4F6F8"/>
          </a:solidFill>
          <a:ln/>
        </p:spPr>
      </p:sp>
      <p:sp>
        <p:nvSpPr>
          <p:cNvPr id="8" name="Text 6"/>
          <p:cNvSpPr txBox="1"/>
          <p:nvPr/>
        </p:nvSpPr>
        <p:spPr>
          <a:xfrm>
            <a:off x="3029407" y="2543861"/>
            <a:ext cx="17236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[PROJECT IMAGE]</a:t>
            </a:r>
            <a:endParaRPr lang="en-US" sz="950" dirty="0"/>
          </a:p>
        </p:txBody>
      </p:sp>
      <p:sp>
        <p:nvSpPr>
          <p:cNvPr id="9" name="Text 7"/>
          <p:cNvSpPr txBox="1"/>
          <p:nvPr/>
        </p:nvSpPr>
        <p:spPr>
          <a:xfrm>
            <a:off x="2895905" y="3476549"/>
            <a:ext cx="1990649" cy="285293"/>
          </a:xfrm>
          <a:prstGeom prst="rect">
            <a:avLst/>
          </a:prstGeom>
          <a:noFill/>
          <a:ln/>
        </p:spPr>
        <p:txBody>
          <a:bodyPr wrap="square" lIns="0" tIns="0" rIns="0" bIns="0" rtlCol="0" anchor="ctr"/>
          <a:lstStyle/>
          <a:p>
            <a:pPr indent="0" marL="0">
              <a:buNone/>
            </a:pPr>
            <a:r>
              <a:rPr lang="en-US" sz="1150" b="1" dirty="0">
                <a:solidFill>
                  <a:srgbClr val="111111"/>
                </a:solidFill>
                <a:latin typeface="Arial" pitchFamily="34" charset="0"/>
                <a:ea typeface="Arial" pitchFamily="34" charset="-122"/>
                <a:cs typeface="Arial" pitchFamily="34" charset="-120"/>
              </a:rPr>
              <a:t>DEWA</a:t>
            </a:r>
            <a:endParaRPr lang="en-US" sz="1150" dirty="0"/>
          </a:p>
        </p:txBody>
      </p:sp>
      <p:sp>
        <p:nvSpPr>
          <p:cNvPr id="10" name="Shape 8"/>
          <p:cNvSpPr/>
          <p:nvPr/>
        </p:nvSpPr>
        <p:spPr>
          <a:xfrm>
            <a:off x="5106010" y="2048256"/>
            <a:ext cx="1990649" cy="1333195"/>
          </a:xfrm>
          <a:prstGeom prst="roundRect">
            <a:avLst>
              <a:gd name="adj" fmla="val 7133"/>
            </a:avLst>
          </a:prstGeom>
          <a:solidFill>
            <a:srgbClr val="F4F6F8"/>
          </a:solidFill>
          <a:ln/>
        </p:spPr>
      </p:sp>
      <p:sp>
        <p:nvSpPr>
          <p:cNvPr id="11" name="Text 9"/>
          <p:cNvSpPr txBox="1"/>
          <p:nvPr/>
        </p:nvSpPr>
        <p:spPr>
          <a:xfrm>
            <a:off x="5239512" y="2543861"/>
            <a:ext cx="17236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[PROJECT IMAGE]</a:t>
            </a:r>
            <a:endParaRPr lang="en-US" sz="950" dirty="0"/>
          </a:p>
        </p:txBody>
      </p:sp>
      <p:sp>
        <p:nvSpPr>
          <p:cNvPr id="12" name="Text 10"/>
          <p:cNvSpPr txBox="1"/>
          <p:nvPr/>
        </p:nvSpPr>
        <p:spPr>
          <a:xfrm>
            <a:off x="5106010" y="3476549"/>
            <a:ext cx="1990649" cy="285293"/>
          </a:xfrm>
          <a:prstGeom prst="rect">
            <a:avLst/>
          </a:prstGeom>
          <a:noFill/>
          <a:ln/>
        </p:spPr>
        <p:txBody>
          <a:bodyPr wrap="square" lIns="0" tIns="0" rIns="0" bIns="0" rtlCol="0" anchor="ctr"/>
          <a:lstStyle/>
          <a:p>
            <a:pPr indent="0" marL="0">
              <a:buNone/>
            </a:pPr>
            <a:r>
              <a:rPr lang="en-US" sz="1150" b="1" dirty="0">
                <a:solidFill>
                  <a:srgbClr val="111111"/>
                </a:solidFill>
                <a:latin typeface="Arial" pitchFamily="34" charset="0"/>
                <a:ea typeface="Arial" pitchFamily="34" charset="-122"/>
                <a:cs typeface="Arial" pitchFamily="34" charset="-120"/>
              </a:rPr>
              <a:t>FCA</a:t>
            </a:r>
            <a:endParaRPr lang="en-US" sz="1150" dirty="0"/>
          </a:p>
        </p:txBody>
      </p:sp>
      <p:sp>
        <p:nvSpPr>
          <p:cNvPr id="13" name="Shape 11"/>
          <p:cNvSpPr/>
          <p:nvPr/>
        </p:nvSpPr>
        <p:spPr>
          <a:xfrm>
            <a:off x="7316114" y="2048256"/>
            <a:ext cx="1990649" cy="1333195"/>
          </a:xfrm>
          <a:prstGeom prst="roundRect">
            <a:avLst>
              <a:gd name="adj" fmla="val 7133"/>
            </a:avLst>
          </a:prstGeom>
          <a:solidFill>
            <a:srgbClr val="F4F6F8"/>
          </a:solidFill>
          <a:ln/>
        </p:spPr>
      </p:sp>
      <p:sp>
        <p:nvSpPr>
          <p:cNvPr id="14" name="Text 12"/>
          <p:cNvSpPr txBox="1"/>
          <p:nvPr/>
        </p:nvSpPr>
        <p:spPr>
          <a:xfrm>
            <a:off x="7449617" y="2543861"/>
            <a:ext cx="17236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[PROJECT IMAGE]</a:t>
            </a:r>
            <a:endParaRPr lang="en-US" sz="950" dirty="0"/>
          </a:p>
        </p:txBody>
      </p:sp>
      <p:sp>
        <p:nvSpPr>
          <p:cNvPr id="15" name="Text 13"/>
          <p:cNvSpPr txBox="1"/>
          <p:nvPr/>
        </p:nvSpPr>
        <p:spPr>
          <a:xfrm>
            <a:off x="7316114" y="3476549"/>
            <a:ext cx="1990649" cy="285293"/>
          </a:xfrm>
          <a:prstGeom prst="rect">
            <a:avLst/>
          </a:prstGeom>
          <a:noFill/>
          <a:ln/>
        </p:spPr>
        <p:txBody>
          <a:bodyPr wrap="square" lIns="0" tIns="0" rIns="0" bIns="0" rtlCol="0" anchor="ctr"/>
          <a:lstStyle/>
          <a:p>
            <a:pPr indent="0" marL="0">
              <a:buNone/>
            </a:pPr>
            <a:r>
              <a:rPr lang="en-US" sz="1150" b="1" dirty="0">
                <a:solidFill>
                  <a:srgbClr val="111111"/>
                </a:solidFill>
                <a:latin typeface="Arial" pitchFamily="34" charset="0"/>
                <a:ea typeface="Arial" pitchFamily="34" charset="-122"/>
                <a:cs typeface="Arial" pitchFamily="34" charset="-120"/>
              </a:rPr>
              <a:t>Ministry of Economy</a:t>
            </a:r>
            <a:endParaRPr lang="en-US" sz="1150" dirty="0"/>
          </a:p>
        </p:txBody>
      </p:sp>
      <p:sp>
        <p:nvSpPr>
          <p:cNvPr id="16" name="Shape 14"/>
          <p:cNvSpPr/>
          <p:nvPr/>
        </p:nvSpPr>
        <p:spPr>
          <a:xfrm>
            <a:off x="9526219" y="2048256"/>
            <a:ext cx="1990649" cy="1333195"/>
          </a:xfrm>
          <a:prstGeom prst="roundRect">
            <a:avLst>
              <a:gd name="adj" fmla="val 7133"/>
            </a:avLst>
          </a:prstGeom>
          <a:solidFill>
            <a:srgbClr val="F4F6F8"/>
          </a:solidFill>
          <a:ln/>
        </p:spPr>
      </p:sp>
      <p:sp>
        <p:nvSpPr>
          <p:cNvPr id="17" name="Text 15"/>
          <p:cNvSpPr txBox="1"/>
          <p:nvPr/>
        </p:nvSpPr>
        <p:spPr>
          <a:xfrm>
            <a:off x="9659722" y="2543861"/>
            <a:ext cx="17236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[PROJECT IMAGE]</a:t>
            </a:r>
            <a:endParaRPr lang="en-US" sz="950" dirty="0"/>
          </a:p>
        </p:txBody>
      </p:sp>
      <p:sp>
        <p:nvSpPr>
          <p:cNvPr id="18" name="Text 16"/>
          <p:cNvSpPr txBox="1"/>
          <p:nvPr/>
        </p:nvSpPr>
        <p:spPr>
          <a:xfrm>
            <a:off x="9526219" y="3476549"/>
            <a:ext cx="1990649" cy="285293"/>
          </a:xfrm>
          <a:prstGeom prst="rect">
            <a:avLst/>
          </a:prstGeom>
          <a:noFill/>
          <a:ln/>
        </p:spPr>
        <p:txBody>
          <a:bodyPr wrap="square" lIns="0" tIns="0" rIns="0" bIns="0" rtlCol="0" anchor="ctr"/>
          <a:lstStyle/>
          <a:p>
            <a:pPr indent="0" marL="0">
              <a:buNone/>
            </a:pPr>
            <a:r>
              <a:rPr lang="en-US" sz="1150" b="1" dirty="0">
                <a:solidFill>
                  <a:srgbClr val="111111"/>
                </a:solidFill>
                <a:latin typeface="Arial" pitchFamily="34" charset="0"/>
                <a:ea typeface="Arial" pitchFamily="34" charset="-122"/>
                <a:cs typeface="Arial" pitchFamily="34" charset="-120"/>
              </a:rPr>
              <a:t>GITEX 2015</a:t>
            </a:r>
            <a:endParaRPr lang="en-US" sz="1150" dirty="0"/>
          </a:p>
        </p:txBody>
      </p:sp>
      <p:sp>
        <p:nvSpPr>
          <p:cNvPr id="19" name="Shape 17"/>
          <p:cNvSpPr/>
          <p:nvPr/>
        </p:nvSpPr>
        <p:spPr>
          <a:xfrm>
            <a:off x="685800" y="3952951"/>
            <a:ext cx="1990649" cy="1333195"/>
          </a:xfrm>
          <a:prstGeom prst="roundRect">
            <a:avLst>
              <a:gd name="adj" fmla="val 7133"/>
            </a:avLst>
          </a:prstGeom>
          <a:solidFill>
            <a:srgbClr val="F4F6F8"/>
          </a:solidFill>
          <a:ln/>
        </p:spPr>
      </p:sp>
      <p:sp>
        <p:nvSpPr>
          <p:cNvPr id="20" name="Text 18"/>
          <p:cNvSpPr txBox="1"/>
          <p:nvPr/>
        </p:nvSpPr>
        <p:spPr>
          <a:xfrm>
            <a:off x="819302" y="4448556"/>
            <a:ext cx="17236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[PROJECT IMAGE]</a:t>
            </a:r>
            <a:endParaRPr lang="en-US" sz="950" dirty="0"/>
          </a:p>
        </p:txBody>
      </p:sp>
      <p:sp>
        <p:nvSpPr>
          <p:cNvPr id="21" name="Text 19"/>
          <p:cNvSpPr txBox="1"/>
          <p:nvPr/>
        </p:nvSpPr>
        <p:spPr>
          <a:xfrm>
            <a:off x="685800" y="5381244"/>
            <a:ext cx="1990649" cy="285293"/>
          </a:xfrm>
          <a:prstGeom prst="rect">
            <a:avLst/>
          </a:prstGeom>
          <a:noFill/>
          <a:ln/>
        </p:spPr>
        <p:txBody>
          <a:bodyPr wrap="square" lIns="0" tIns="0" rIns="0" bIns="0" rtlCol="0" anchor="ctr"/>
          <a:lstStyle/>
          <a:p>
            <a:pPr indent="0" marL="0">
              <a:buNone/>
            </a:pPr>
            <a:r>
              <a:rPr lang="en-US" sz="1150" b="1" dirty="0">
                <a:solidFill>
                  <a:srgbClr val="111111"/>
                </a:solidFill>
                <a:latin typeface="Arial" pitchFamily="34" charset="0"/>
                <a:ea typeface="Arial" pitchFamily="34" charset="-122"/>
                <a:cs typeface="Arial" pitchFamily="34" charset="-120"/>
              </a:rPr>
              <a:t>SME Programme</a:t>
            </a:r>
            <a:endParaRPr lang="en-US" sz="1150" dirty="0"/>
          </a:p>
        </p:txBody>
      </p:sp>
      <p:sp>
        <p:nvSpPr>
          <p:cNvPr id="22" name="Shape 20"/>
          <p:cNvSpPr/>
          <p:nvPr/>
        </p:nvSpPr>
        <p:spPr>
          <a:xfrm>
            <a:off x="2895905" y="3952951"/>
            <a:ext cx="1990649" cy="1333195"/>
          </a:xfrm>
          <a:prstGeom prst="roundRect">
            <a:avLst>
              <a:gd name="adj" fmla="val 7133"/>
            </a:avLst>
          </a:prstGeom>
          <a:solidFill>
            <a:srgbClr val="F4F6F8"/>
          </a:solidFill>
          <a:ln/>
        </p:spPr>
      </p:sp>
      <p:sp>
        <p:nvSpPr>
          <p:cNvPr id="23" name="Text 21"/>
          <p:cNvSpPr txBox="1"/>
          <p:nvPr/>
        </p:nvSpPr>
        <p:spPr>
          <a:xfrm>
            <a:off x="3029407" y="4448556"/>
            <a:ext cx="17236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[PROJECT IMAGE]</a:t>
            </a:r>
            <a:endParaRPr lang="en-US" sz="950" dirty="0"/>
          </a:p>
        </p:txBody>
      </p:sp>
      <p:sp>
        <p:nvSpPr>
          <p:cNvPr id="24" name="Text 22"/>
          <p:cNvSpPr txBox="1"/>
          <p:nvPr/>
        </p:nvSpPr>
        <p:spPr>
          <a:xfrm>
            <a:off x="2895905" y="5381244"/>
            <a:ext cx="1990649" cy="285293"/>
          </a:xfrm>
          <a:prstGeom prst="rect">
            <a:avLst/>
          </a:prstGeom>
          <a:noFill/>
          <a:ln/>
        </p:spPr>
        <p:txBody>
          <a:bodyPr wrap="square" lIns="0" tIns="0" rIns="0" bIns="0" rtlCol="0" anchor="ctr"/>
          <a:lstStyle/>
          <a:p>
            <a:pPr indent="0" marL="0">
              <a:buNone/>
            </a:pPr>
            <a:r>
              <a:rPr lang="en-US" sz="1150" b="1" dirty="0">
                <a:solidFill>
                  <a:srgbClr val="111111"/>
                </a:solidFill>
                <a:latin typeface="Arial" pitchFamily="34" charset="0"/>
                <a:ea typeface="Arial" pitchFamily="34" charset="-122"/>
                <a:cs typeface="Arial" pitchFamily="34" charset="-120"/>
              </a:rPr>
              <a:t>Montajat</a:t>
            </a:r>
            <a:endParaRPr lang="en-US" sz="1150" dirty="0"/>
          </a:p>
        </p:txBody>
      </p:sp>
      <p:sp>
        <p:nvSpPr>
          <p:cNvPr id="25" name="Shape 23"/>
          <p:cNvSpPr/>
          <p:nvPr/>
        </p:nvSpPr>
        <p:spPr>
          <a:xfrm>
            <a:off x="5106010" y="3952951"/>
            <a:ext cx="1990649" cy="1333195"/>
          </a:xfrm>
          <a:prstGeom prst="roundRect">
            <a:avLst>
              <a:gd name="adj" fmla="val 7133"/>
            </a:avLst>
          </a:prstGeom>
          <a:solidFill>
            <a:srgbClr val="F4F6F8"/>
          </a:solidFill>
          <a:ln/>
        </p:spPr>
      </p:sp>
      <p:sp>
        <p:nvSpPr>
          <p:cNvPr id="26" name="Text 24"/>
          <p:cNvSpPr txBox="1"/>
          <p:nvPr/>
        </p:nvSpPr>
        <p:spPr>
          <a:xfrm>
            <a:off x="5239512" y="4448556"/>
            <a:ext cx="17236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[PROJECT IMAGE]</a:t>
            </a:r>
            <a:endParaRPr lang="en-US" sz="950" dirty="0"/>
          </a:p>
        </p:txBody>
      </p:sp>
      <p:sp>
        <p:nvSpPr>
          <p:cNvPr id="27" name="Text 25"/>
          <p:cNvSpPr txBox="1"/>
          <p:nvPr/>
        </p:nvSpPr>
        <p:spPr>
          <a:xfrm>
            <a:off x="5106010" y="5381244"/>
            <a:ext cx="1990649" cy="285293"/>
          </a:xfrm>
          <a:prstGeom prst="rect">
            <a:avLst/>
          </a:prstGeom>
          <a:noFill/>
          <a:ln/>
        </p:spPr>
        <p:txBody>
          <a:bodyPr wrap="square" lIns="0" tIns="0" rIns="0" bIns="0" rtlCol="0" anchor="ctr"/>
          <a:lstStyle/>
          <a:p>
            <a:pPr indent="0" marL="0">
              <a:buNone/>
            </a:pPr>
            <a:r>
              <a:rPr lang="en-US" sz="1150" b="1" dirty="0">
                <a:solidFill>
                  <a:srgbClr val="111111"/>
                </a:solidFill>
                <a:latin typeface="Arial" pitchFamily="34" charset="0"/>
                <a:ea typeface="Arial" pitchFamily="34" charset="-122"/>
                <a:cs typeface="Arial" pitchFamily="34" charset="-120"/>
              </a:rPr>
              <a:t>Dubai Challenge</a:t>
            </a:r>
            <a:endParaRPr lang="en-US" sz="1150" dirty="0"/>
          </a:p>
        </p:txBody>
      </p:sp>
      <p:sp>
        <p:nvSpPr>
          <p:cNvPr id="28" name="Shape 26"/>
          <p:cNvSpPr/>
          <p:nvPr/>
        </p:nvSpPr>
        <p:spPr>
          <a:xfrm>
            <a:off x="7316114" y="3952951"/>
            <a:ext cx="1990649" cy="1333195"/>
          </a:xfrm>
          <a:prstGeom prst="roundRect">
            <a:avLst>
              <a:gd name="adj" fmla="val 7133"/>
            </a:avLst>
          </a:prstGeom>
          <a:solidFill>
            <a:srgbClr val="F4F6F8"/>
          </a:solidFill>
          <a:ln/>
        </p:spPr>
      </p:sp>
      <p:sp>
        <p:nvSpPr>
          <p:cNvPr id="29" name="Text 27"/>
          <p:cNvSpPr txBox="1"/>
          <p:nvPr/>
        </p:nvSpPr>
        <p:spPr>
          <a:xfrm>
            <a:off x="7449617" y="4448556"/>
            <a:ext cx="17236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[PROJECT IMAGE]</a:t>
            </a:r>
            <a:endParaRPr lang="en-US" sz="950" dirty="0"/>
          </a:p>
        </p:txBody>
      </p:sp>
      <p:sp>
        <p:nvSpPr>
          <p:cNvPr id="30" name="Text 28"/>
          <p:cNvSpPr txBox="1"/>
          <p:nvPr/>
        </p:nvSpPr>
        <p:spPr>
          <a:xfrm>
            <a:off x="7316114" y="5381244"/>
            <a:ext cx="1990649" cy="285293"/>
          </a:xfrm>
          <a:prstGeom prst="rect">
            <a:avLst/>
          </a:prstGeom>
          <a:noFill/>
          <a:ln/>
        </p:spPr>
        <p:txBody>
          <a:bodyPr wrap="square" lIns="0" tIns="0" rIns="0" bIns="0" rtlCol="0" anchor="ctr"/>
          <a:lstStyle/>
          <a:p>
            <a:pPr indent="0" marL="0">
              <a:buNone/>
            </a:pPr>
            <a:r>
              <a:rPr lang="en-US" sz="1150" b="1" dirty="0">
                <a:solidFill>
                  <a:srgbClr val="111111"/>
                </a:solidFill>
                <a:latin typeface="Arial" pitchFamily="34" charset="0"/>
                <a:ea typeface="Arial" pitchFamily="34" charset="-122"/>
                <a:cs typeface="Arial" pitchFamily="34" charset="-120"/>
              </a:rPr>
              <a:t>SND</a:t>
            </a:r>
            <a:endParaRPr lang="en-US" sz="1150" dirty="0"/>
          </a:p>
        </p:txBody>
      </p:sp>
      <p:sp>
        <p:nvSpPr>
          <p:cNvPr id="31" name="Shape 29"/>
          <p:cNvSpPr/>
          <p:nvPr/>
        </p:nvSpPr>
        <p:spPr>
          <a:xfrm>
            <a:off x="9526219" y="3952951"/>
            <a:ext cx="1990649" cy="1333195"/>
          </a:xfrm>
          <a:prstGeom prst="roundRect">
            <a:avLst>
              <a:gd name="adj" fmla="val 7133"/>
            </a:avLst>
          </a:prstGeom>
          <a:solidFill>
            <a:srgbClr val="F4F6F8"/>
          </a:solidFill>
          <a:ln/>
        </p:spPr>
      </p:sp>
      <p:sp>
        <p:nvSpPr>
          <p:cNvPr id="32" name="Text 30"/>
          <p:cNvSpPr txBox="1"/>
          <p:nvPr/>
        </p:nvSpPr>
        <p:spPr>
          <a:xfrm>
            <a:off x="9659722" y="4448556"/>
            <a:ext cx="17236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[PROJECT IMAGE]</a:t>
            </a:r>
            <a:endParaRPr lang="en-US" sz="950" dirty="0"/>
          </a:p>
        </p:txBody>
      </p:sp>
      <p:sp>
        <p:nvSpPr>
          <p:cNvPr id="33" name="Text 31"/>
          <p:cNvSpPr txBox="1"/>
          <p:nvPr/>
        </p:nvSpPr>
        <p:spPr>
          <a:xfrm>
            <a:off x="9526219" y="5381244"/>
            <a:ext cx="1990649" cy="285293"/>
          </a:xfrm>
          <a:prstGeom prst="rect">
            <a:avLst/>
          </a:prstGeom>
          <a:noFill/>
          <a:ln/>
        </p:spPr>
        <p:txBody>
          <a:bodyPr wrap="square" lIns="0" tIns="0" rIns="0" bIns="0" rtlCol="0" anchor="ctr"/>
          <a:lstStyle/>
          <a:p>
            <a:pPr indent="0" marL="0">
              <a:buNone/>
            </a:pPr>
            <a:r>
              <a:rPr lang="en-US" sz="1150" b="1" dirty="0">
                <a:solidFill>
                  <a:srgbClr val="111111"/>
                </a:solidFill>
                <a:latin typeface="Arial" pitchFamily="34" charset="0"/>
                <a:ea typeface="Arial" pitchFamily="34" charset="-122"/>
                <a:cs typeface="Arial" pitchFamily="34" charset="-120"/>
              </a:rPr>
              <a:t>ILF</a:t>
            </a:r>
            <a:endParaRPr lang="en-US" sz="1150" dirty="0"/>
          </a:p>
        </p:txBody>
      </p:sp>
      <p:pic>
        <p:nvPicPr>
          <p:cNvPr id="34"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35" name="Text 32"/>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22</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2667305"/>
            <a:ext cx="10820095" cy="856793"/>
          </a:xfrm>
          <a:prstGeom prst="rect">
            <a:avLst/>
          </a:prstGeom>
          <a:noFill/>
          <a:ln/>
        </p:spPr>
        <p:txBody>
          <a:bodyPr wrap="square" lIns="0" tIns="0" rIns="0" bIns="0" rtlCol="0" anchor="t"/>
          <a:lstStyle/>
          <a:p>
            <a:pPr indent="0" marL="0">
              <a:buNone/>
            </a:pPr>
            <a:r>
              <a:rPr lang="en-US" sz="4200" b="1" dirty="0">
                <a:solidFill>
                  <a:srgbClr val="FFFFFF"/>
                </a:solidFill>
                <a:latin typeface="Arial" pitchFamily="34" charset="0"/>
                <a:ea typeface="Arial" pitchFamily="34" charset="-122"/>
                <a:cs typeface="Arial" pitchFamily="34" charset="-120"/>
              </a:rPr>
              <a:t>How the work runs.</a:t>
            </a:r>
            <a:endParaRPr lang="en-US" sz="4200" dirty="0"/>
          </a:p>
        </p:txBody>
      </p:sp>
      <p:sp>
        <p:nvSpPr>
          <p:cNvPr id="3" name="Text 1"/>
          <p:cNvSpPr txBox="1"/>
          <p:nvPr/>
        </p:nvSpPr>
        <p:spPr>
          <a:xfrm>
            <a:off x="685800" y="3714293"/>
            <a:ext cx="10820095" cy="228600"/>
          </a:xfrm>
          <a:prstGeom prst="rect">
            <a:avLst/>
          </a:prstGeom>
          <a:noFill/>
          <a:ln/>
        </p:spPr>
        <p:txBody>
          <a:bodyPr wrap="square" lIns="0" tIns="0" rIns="0" bIns="0" rtlCol="0" anchor="ctr"/>
          <a:lstStyle/>
          <a:p>
            <a:pPr indent="0" marL="0">
              <a:buNone/>
            </a:pPr>
            <a:r>
              <a:rPr lang="en-US" sz="950" b="1" spc="300" kern="0" dirty="0">
                <a:solidFill>
                  <a:srgbClr val="54D2FE"/>
                </a:solidFill>
                <a:latin typeface="Arial" pitchFamily="34" charset="0"/>
                <a:ea typeface="Arial" pitchFamily="34" charset="-122"/>
                <a:cs typeface="Arial" pitchFamily="34" charset="-120"/>
              </a:rPr>
              <a:t>THE FIRM · THE METHOD · THE FIRST STEP</a:t>
            </a:r>
            <a:endParaRPr lang="en-US" sz="950" dirty="0"/>
          </a:p>
        </p:txBody>
      </p:sp>
      <p:pic>
        <p:nvPicPr>
          <p:cNvPr id="4" name="Image 0" descr="assets/eov-wordmark-white.png">    </p:cNvPr>
          <p:cNvPicPr>
            <a:picLocks noChangeAspect="1"/>
          </p:cNvPicPr>
          <p:nvPr/>
        </p:nvPicPr>
        <p:blipFill>
          <a:blip r:embed="rId1"/>
          <a:stretch>
            <a:fillRect/>
          </a:stretch>
        </p:blipFill>
        <p:spPr>
          <a:xfrm>
            <a:off x="685800" y="6238951"/>
            <a:ext cx="571500" cy="190195"/>
          </a:xfrm>
          <a:prstGeom prst="rect">
            <a:avLst/>
          </a:prstGeom>
        </p:spPr>
      </p:pic>
      <p:sp>
        <p:nvSpPr>
          <p:cNvPr id="5" name="Text 2"/>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6E7379"/>
                </a:solidFill>
                <a:latin typeface="Arial" pitchFamily="34" charset="0"/>
                <a:ea typeface="Arial" pitchFamily="34" charset="-122"/>
                <a:cs typeface="Arial" pitchFamily="34" charset="-120"/>
              </a:rPr>
              <a:t>23</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WHAT EOV DOES</a:t>
            </a:r>
            <a:endParaRPr lang="en-US" sz="950" dirty="0"/>
          </a:p>
        </p:txBody>
      </p:sp>
      <p:sp>
        <p:nvSpPr>
          <p:cNvPr id="3" name="Text 1"/>
          <p:cNvSpPr txBox="1"/>
          <p:nvPr/>
        </p:nvSpPr>
        <p:spPr>
          <a:xfrm>
            <a:off x="685800" y="800100"/>
            <a:ext cx="10820095" cy="666598"/>
          </a:xfrm>
          <a:prstGeom prst="rect">
            <a:avLst/>
          </a:prstGeom>
          <a:noFill/>
          <a:ln/>
        </p:spPr>
        <p:txBody>
          <a:bodyPr wrap="square" lIns="0" tIns="0" rIns="0" bIns="0" rtlCol="0" anchor="t"/>
          <a:lstStyle/>
          <a:p>
            <a:pPr indent="0" marL="0">
              <a:lnSpc>
                <a:spcPts val="4050"/>
              </a:lnSpc>
              <a:buNone/>
            </a:pPr>
            <a:r>
              <a:rPr lang="en-US" sz="2850" b="1" dirty="0">
                <a:solidFill>
                  <a:srgbClr val="111111"/>
                </a:solidFill>
                <a:latin typeface="Arial" pitchFamily="34" charset="0"/>
                <a:ea typeface="Arial" pitchFamily="34" charset="-122"/>
                <a:cs typeface="Arial" pitchFamily="34" charset="-120"/>
              </a:rPr>
              <a:t>Six disciplines, one brief, one team.</a:t>
            </a:r>
            <a:endParaRPr lang="en-US" sz="2850" dirty="0"/>
          </a:p>
        </p:txBody>
      </p:sp>
      <p:sp>
        <p:nvSpPr>
          <p:cNvPr id="4" name="Shape 2"/>
          <p:cNvSpPr/>
          <p:nvPr/>
        </p:nvSpPr>
        <p:spPr>
          <a:xfrm>
            <a:off x="685800" y="2048256"/>
            <a:ext cx="5257800" cy="3142793"/>
          </a:xfrm>
          <a:prstGeom prst="roundRect">
            <a:avLst>
              <a:gd name="adj" fmla="val 3026"/>
            </a:avLst>
          </a:prstGeom>
          <a:solidFill>
            <a:srgbClr val="F4F6F8"/>
          </a:solidFill>
          <a:ln/>
        </p:spPr>
      </p:sp>
      <p:sp>
        <p:nvSpPr>
          <p:cNvPr id="5" name="Text 3"/>
          <p:cNvSpPr txBox="1"/>
          <p:nvPr/>
        </p:nvSpPr>
        <p:spPr>
          <a:xfrm>
            <a:off x="990295" y="2333549"/>
            <a:ext cx="4667098" cy="190195"/>
          </a:xfrm>
          <a:prstGeom prst="rect">
            <a:avLst/>
          </a:prstGeom>
          <a:noFill/>
          <a:ln/>
        </p:spPr>
        <p:txBody>
          <a:bodyPr wrap="square" lIns="0" tIns="0" rIns="0" bIns="0" rtlCol="0" anchor="ctr"/>
          <a:lstStyle/>
          <a:p>
            <a:pPr indent="0" marL="0">
              <a:buNone/>
            </a:pPr>
            <a:r>
              <a:rPr lang="en-US" sz="950" b="1" spc="260" kern="0" dirty="0">
                <a:solidFill>
                  <a:srgbClr val="8A8F98"/>
                </a:solidFill>
                <a:latin typeface="Arial" pitchFamily="34" charset="0"/>
                <a:ea typeface="Arial" pitchFamily="34" charset="-122"/>
                <a:cs typeface="Arial" pitchFamily="34" charset="-120"/>
              </a:rPr>
              <a:t>IN-HOUSE</a:t>
            </a:r>
            <a:endParaRPr lang="en-US" sz="950" dirty="0"/>
          </a:p>
        </p:txBody>
      </p:sp>
      <p:sp>
        <p:nvSpPr>
          <p:cNvPr id="6" name="Text 4"/>
          <p:cNvSpPr txBox="1"/>
          <p:nvPr/>
        </p:nvSpPr>
        <p:spPr>
          <a:xfrm>
            <a:off x="990295" y="2809951"/>
            <a:ext cx="4667098" cy="323698"/>
          </a:xfrm>
          <a:prstGeom prst="rect">
            <a:avLst/>
          </a:prstGeom>
          <a:noFill/>
          <a:ln/>
        </p:spPr>
        <p:txBody>
          <a:bodyPr wrap="square" lIns="0" tIns="0" rIns="0" bIns="0" rtlCol="0" anchor="t"/>
          <a:lstStyle/>
          <a:p>
            <a:pPr indent="0" marL="0">
              <a:buNone/>
            </a:pPr>
            <a:r>
              <a:rPr lang="en-US" sz="1250" dirty="0">
                <a:solidFill>
                  <a:srgbClr val="111111"/>
                </a:solidFill>
                <a:latin typeface="Arial" pitchFamily="34" charset="0"/>
                <a:ea typeface="Arial" pitchFamily="34" charset="-122"/>
                <a:cs typeface="Arial" pitchFamily="34" charset="-120"/>
              </a:rPr>
              <a:t>Strategy and research</a:t>
            </a:r>
            <a:endParaRPr lang="en-US" sz="1250" dirty="0"/>
          </a:p>
        </p:txBody>
      </p:sp>
      <p:sp>
        <p:nvSpPr>
          <p:cNvPr id="7" name="Text 5"/>
          <p:cNvSpPr txBox="1"/>
          <p:nvPr/>
        </p:nvSpPr>
        <p:spPr>
          <a:xfrm>
            <a:off x="990295" y="3209544"/>
            <a:ext cx="4667098" cy="323698"/>
          </a:xfrm>
          <a:prstGeom prst="rect">
            <a:avLst/>
          </a:prstGeom>
          <a:noFill/>
          <a:ln/>
        </p:spPr>
        <p:txBody>
          <a:bodyPr wrap="square" lIns="0" tIns="0" rIns="0" bIns="0" rtlCol="0" anchor="t"/>
          <a:lstStyle/>
          <a:p>
            <a:pPr indent="0" marL="0">
              <a:buNone/>
            </a:pPr>
            <a:r>
              <a:rPr lang="en-US" sz="1250" dirty="0">
                <a:solidFill>
                  <a:srgbClr val="111111"/>
                </a:solidFill>
                <a:latin typeface="Arial" pitchFamily="34" charset="0"/>
                <a:ea typeface="Arial" pitchFamily="34" charset="-122"/>
                <a:cs typeface="Arial" pitchFamily="34" charset="-120"/>
              </a:rPr>
              <a:t>Brand and creative</a:t>
            </a:r>
            <a:endParaRPr lang="en-US" sz="1250" dirty="0"/>
          </a:p>
        </p:txBody>
      </p:sp>
      <p:sp>
        <p:nvSpPr>
          <p:cNvPr id="8" name="Text 6"/>
          <p:cNvSpPr txBox="1"/>
          <p:nvPr/>
        </p:nvSpPr>
        <p:spPr>
          <a:xfrm>
            <a:off x="990295" y="3609137"/>
            <a:ext cx="4667098" cy="323698"/>
          </a:xfrm>
          <a:prstGeom prst="rect">
            <a:avLst/>
          </a:prstGeom>
          <a:noFill/>
          <a:ln/>
        </p:spPr>
        <p:txBody>
          <a:bodyPr wrap="square" lIns="0" tIns="0" rIns="0" bIns="0" rtlCol="0" anchor="t"/>
          <a:lstStyle/>
          <a:p>
            <a:pPr indent="0" marL="0">
              <a:buNone/>
            </a:pPr>
            <a:r>
              <a:rPr lang="en-US" sz="1250" dirty="0">
                <a:solidFill>
                  <a:srgbClr val="111111"/>
                </a:solidFill>
                <a:latin typeface="Arial" pitchFamily="34" charset="0"/>
                <a:ea typeface="Arial" pitchFamily="34" charset="-122"/>
                <a:cs typeface="Arial" pitchFamily="34" charset="-120"/>
              </a:rPr>
              <a:t>Digital and ecommerce</a:t>
            </a:r>
            <a:endParaRPr lang="en-US" sz="1250" dirty="0"/>
          </a:p>
        </p:txBody>
      </p:sp>
      <p:sp>
        <p:nvSpPr>
          <p:cNvPr id="9" name="Text 7"/>
          <p:cNvSpPr txBox="1"/>
          <p:nvPr/>
        </p:nvSpPr>
        <p:spPr>
          <a:xfrm>
            <a:off x="990295" y="4008730"/>
            <a:ext cx="4667098" cy="323698"/>
          </a:xfrm>
          <a:prstGeom prst="rect">
            <a:avLst/>
          </a:prstGeom>
          <a:noFill/>
          <a:ln/>
        </p:spPr>
        <p:txBody>
          <a:bodyPr wrap="square" lIns="0" tIns="0" rIns="0" bIns="0" rtlCol="0" anchor="t"/>
          <a:lstStyle/>
          <a:p>
            <a:pPr indent="0" marL="0">
              <a:buNone/>
            </a:pPr>
            <a:r>
              <a:rPr lang="en-US" sz="1250" dirty="0">
                <a:solidFill>
                  <a:srgbClr val="111111"/>
                </a:solidFill>
                <a:latin typeface="Arial" pitchFamily="34" charset="0"/>
                <a:ea typeface="Arial" pitchFamily="34" charset="-122"/>
                <a:cs typeface="Arial" pitchFamily="34" charset="-120"/>
              </a:rPr>
              <a:t>Communications and PR</a:t>
            </a:r>
            <a:endParaRPr lang="en-US" sz="1250" dirty="0"/>
          </a:p>
        </p:txBody>
      </p:sp>
      <p:sp>
        <p:nvSpPr>
          <p:cNvPr id="10" name="Text 8"/>
          <p:cNvSpPr txBox="1"/>
          <p:nvPr/>
        </p:nvSpPr>
        <p:spPr>
          <a:xfrm>
            <a:off x="990295" y="4408322"/>
            <a:ext cx="4667098" cy="323698"/>
          </a:xfrm>
          <a:prstGeom prst="rect">
            <a:avLst/>
          </a:prstGeom>
          <a:noFill/>
          <a:ln/>
        </p:spPr>
        <p:txBody>
          <a:bodyPr wrap="square" lIns="0" tIns="0" rIns="0" bIns="0" rtlCol="0" anchor="t"/>
          <a:lstStyle/>
          <a:p>
            <a:pPr indent="0" marL="0">
              <a:buNone/>
            </a:pPr>
            <a:r>
              <a:rPr lang="en-US" sz="1250" dirty="0">
                <a:solidFill>
                  <a:srgbClr val="111111"/>
                </a:solidFill>
                <a:latin typeface="Arial" pitchFamily="34" charset="0"/>
                <a:ea typeface="Arial" pitchFamily="34" charset="-122"/>
                <a:cs typeface="Arial" pitchFamily="34" charset="-120"/>
              </a:rPr>
              <a:t>Media planning and buying</a:t>
            </a:r>
            <a:endParaRPr lang="en-US" sz="1250" dirty="0"/>
          </a:p>
        </p:txBody>
      </p:sp>
      <p:sp>
        <p:nvSpPr>
          <p:cNvPr id="11" name="Text 9"/>
          <p:cNvSpPr txBox="1"/>
          <p:nvPr/>
        </p:nvSpPr>
        <p:spPr>
          <a:xfrm>
            <a:off x="990295" y="4807915"/>
            <a:ext cx="4667098" cy="323698"/>
          </a:xfrm>
          <a:prstGeom prst="rect">
            <a:avLst/>
          </a:prstGeom>
          <a:noFill/>
          <a:ln/>
        </p:spPr>
        <p:txBody>
          <a:bodyPr wrap="square" lIns="0" tIns="0" rIns="0" bIns="0" rtlCol="0" anchor="t"/>
          <a:lstStyle/>
          <a:p>
            <a:pPr indent="0" marL="0">
              <a:buNone/>
            </a:pPr>
            <a:r>
              <a:rPr lang="en-US" sz="1250" dirty="0">
                <a:solidFill>
                  <a:srgbClr val="111111"/>
                </a:solidFill>
                <a:latin typeface="Arial" pitchFamily="34" charset="0"/>
                <a:ea typeface="Arial" pitchFamily="34" charset="-122"/>
                <a:cs typeface="Arial" pitchFamily="34" charset="-120"/>
              </a:rPr>
              <a:t>Production and events</a:t>
            </a:r>
            <a:endParaRPr lang="en-US" sz="1250" dirty="0"/>
          </a:p>
        </p:txBody>
      </p:sp>
      <p:sp>
        <p:nvSpPr>
          <p:cNvPr id="12" name="Shape 10"/>
          <p:cNvSpPr/>
          <p:nvPr/>
        </p:nvSpPr>
        <p:spPr>
          <a:xfrm>
            <a:off x="6248095" y="2048256"/>
            <a:ext cx="5257800" cy="3142793"/>
          </a:xfrm>
          <a:prstGeom prst="roundRect">
            <a:avLst>
              <a:gd name="adj" fmla="val 3026"/>
            </a:avLst>
          </a:prstGeom>
          <a:solidFill>
            <a:srgbClr val="111111"/>
          </a:solidFill>
          <a:ln/>
        </p:spPr>
      </p:sp>
      <p:sp>
        <p:nvSpPr>
          <p:cNvPr id="13" name="Text 11"/>
          <p:cNvSpPr txBox="1"/>
          <p:nvPr/>
        </p:nvSpPr>
        <p:spPr>
          <a:xfrm>
            <a:off x="6552590" y="2333549"/>
            <a:ext cx="4667098" cy="190195"/>
          </a:xfrm>
          <a:prstGeom prst="rect">
            <a:avLst/>
          </a:prstGeom>
          <a:noFill/>
          <a:ln/>
        </p:spPr>
        <p:txBody>
          <a:bodyPr wrap="square" lIns="0" tIns="0" rIns="0" bIns="0" rtlCol="0" anchor="ctr"/>
          <a:lstStyle/>
          <a:p>
            <a:pPr indent="0" marL="0">
              <a:buNone/>
            </a:pPr>
            <a:r>
              <a:rPr lang="en-US" sz="950" b="1" spc="260" kern="0" dirty="0">
                <a:solidFill>
                  <a:srgbClr val="54D2FE"/>
                </a:solidFill>
                <a:latin typeface="Arial" pitchFamily="34" charset="0"/>
                <a:ea typeface="Arial" pitchFamily="34" charset="-122"/>
                <a:cs typeface="Arial" pitchFamily="34" charset="-120"/>
              </a:rPr>
              <a:t>PARTNERED</a:t>
            </a:r>
            <a:endParaRPr lang="en-US" sz="950" dirty="0"/>
          </a:p>
        </p:txBody>
      </p:sp>
      <p:sp>
        <p:nvSpPr>
          <p:cNvPr id="14" name="Text 12"/>
          <p:cNvSpPr txBox="1"/>
          <p:nvPr/>
        </p:nvSpPr>
        <p:spPr>
          <a:xfrm>
            <a:off x="6552590" y="2809951"/>
            <a:ext cx="4667098" cy="323698"/>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Specialist production and media depth</a:t>
            </a:r>
            <a:endParaRPr lang="en-US" sz="1250" dirty="0"/>
          </a:p>
        </p:txBody>
      </p:sp>
      <p:sp>
        <p:nvSpPr>
          <p:cNvPr id="15" name="Text 13"/>
          <p:cNvSpPr txBox="1"/>
          <p:nvPr/>
        </p:nvSpPr>
        <p:spPr>
          <a:xfrm>
            <a:off x="6552590" y="3209544"/>
            <a:ext cx="4667098" cy="323698"/>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Brought in by name, on the record, and</a:t>
            </a:r>
            <a:endParaRPr lang="en-US" sz="1250" dirty="0"/>
          </a:p>
        </p:txBody>
      </p:sp>
      <p:sp>
        <p:nvSpPr>
          <p:cNvPr id="16" name="Text 14"/>
          <p:cNvSpPr txBox="1"/>
          <p:nvPr/>
        </p:nvSpPr>
        <p:spPr>
          <a:xfrm>
            <a:off x="6552590" y="3609137"/>
            <a:ext cx="4667098" cy="323698"/>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disclosed on every engagement.</a:t>
            </a:r>
            <a:endParaRPr lang="en-US" sz="1250" dirty="0"/>
          </a:p>
        </p:txBody>
      </p:sp>
      <p:sp>
        <p:nvSpPr>
          <p:cNvPr id="17" name="Text 15"/>
          <p:cNvSpPr txBox="1"/>
          <p:nvPr/>
        </p:nvSpPr>
        <p:spPr>
          <a:xfrm>
            <a:off x="6552590" y="4008730"/>
            <a:ext cx="4667098" cy="323698"/>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Never sub-contracted quietly, and never</a:t>
            </a:r>
            <a:endParaRPr lang="en-US" sz="1250" dirty="0"/>
          </a:p>
        </p:txBody>
      </p:sp>
      <p:sp>
        <p:nvSpPr>
          <p:cNvPr id="18" name="Text 16"/>
          <p:cNvSpPr txBox="1"/>
          <p:nvPr/>
        </p:nvSpPr>
        <p:spPr>
          <a:xfrm>
            <a:off x="6552590" y="4408322"/>
            <a:ext cx="4667098" cy="323698"/>
          </a:xfrm>
          <a:prstGeom prst="rect">
            <a:avLst/>
          </a:prstGeom>
          <a:noFill/>
          <a:ln/>
        </p:spPr>
        <p:txBody>
          <a:bodyPr wrap="square" lIns="0" tIns="0" rIns="0" bIns="0" rtlCol="0" anchor="t"/>
          <a:lstStyle/>
          <a:p>
            <a:pPr indent="0" marL="0">
              <a:buNone/>
            </a:pPr>
            <a:r>
              <a:rPr lang="en-US" sz="1250" dirty="0">
                <a:solidFill>
                  <a:srgbClr val="FFFFFF"/>
                </a:solidFill>
                <a:latin typeface="Arial" pitchFamily="34" charset="0"/>
                <a:ea typeface="Arial" pitchFamily="34" charset="-122"/>
                <a:cs typeface="Arial" pitchFamily="34" charset="-120"/>
              </a:rPr>
              <a:t>billed as in-house.</a:t>
            </a:r>
            <a:endParaRPr lang="en-US" sz="1250" dirty="0"/>
          </a:p>
        </p:txBody>
      </p:sp>
      <p:pic>
        <p:nvPicPr>
          <p:cNvPr id="19"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20" name="Text 17"/>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24</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HOW EOV WORKS</a:t>
            </a:r>
            <a:endParaRPr lang="en-US" sz="950" dirty="0"/>
          </a:p>
        </p:txBody>
      </p:sp>
      <p:sp>
        <p:nvSpPr>
          <p:cNvPr id="3" name="Text 1"/>
          <p:cNvSpPr txBox="1"/>
          <p:nvPr/>
        </p:nvSpPr>
        <p:spPr>
          <a:xfrm>
            <a:off x="685800" y="800100"/>
            <a:ext cx="10820095" cy="666598"/>
          </a:xfrm>
          <a:prstGeom prst="rect">
            <a:avLst/>
          </a:prstGeom>
          <a:noFill/>
          <a:ln/>
        </p:spPr>
        <p:txBody>
          <a:bodyPr wrap="square" lIns="0" tIns="0" rIns="0" bIns="0" rtlCol="0" anchor="t"/>
          <a:lstStyle/>
          <a:p>
            <a:pPr indent="0" marL="0">
              <a:lnSpc>
                <a:spcPts val="4050"/>
              </a:lnSpc>
              <a:buNone/>
            </a:pPr>
            <a:r>
              <a:rPr lang="en-US" sz="2850" b="1" dirty="0">
                <a:solidFill>
                  <a:srgbClr val="111111"/>
                </a:solidFill>
                <a:latin typeface="Arial" pitchFamily="34" charset="0"/>
                <a:ea typeface="Arial" pitchFamily="34" charset="-122"/>
                <a:cs typeface="Arial" pitchFamily="34" charset="-120"/>
              </a:rPr>
              <a:t>Three things settled before anything goes live.</a:t>
            </a:r>
            <a:endParaRPr lang="en-US" sz="2850" dirty="0"/>
          </a:p>
        </p:txBody>
      </p:sp>
      <p:sp>
        <p:nvSpPr>
          <p:cNvPr id="4" name="Shape 2"/>
          <p:cNvSpPr/>
          <p:nvPr/>
        </p:nvSpPr>
        <p:spPr>
          <a:xfrm>
            <a:off x="685800" y="2095805"/>
            <a:ext cx="10820095" cy="914400"/>
          </a:xfrm>
          <a:prstGeom prst="roundRect">
            <a:avLst>
              <a:gd name="adj" fmla="val 10400"/>
            </a:avLst>
          </a:prstGeom>
          <a:solidFill>
            <a:srgbClr val="F4F6F8"/>
          </a:solidFill>
          <a:ln/>
        </p:spPr>
      </p:sp>
      <p:sp>
        <p:nvSpPr>
          <p:cNvPr id="5" name="Text 3"/>
          <p:cNvSpPr txBox="1"/>
          <p:nvPr/>
        </p:nvSpPr>
        <p:spPr>
          <a:xfrm>
            <a:off x="952805" y="2095805"/>
            <a:ext cx="571500" cy="914400"/>
          </a:xfrm>
          <a:prstGeom prst="rect">
            <a:avLst/>
          </a:prstGeom>
          <a:noFill/>
          <a:ln/>
        </p:spPr>
        <p:txBody>
          <a:bodyPr wrap="square" rtlCol="0" anchor="ctr"/>
          <a:lstStyle/>
          <a:p>
            <a:pPr indent="0" marL="0">
              <a:buNone/>
            </a:pPr>
            <a:r>
              <a:rPr lang="en-US" sz="1900" b="1" dirty="0">
                <a:solidFill>
                  <a:srgbClr val="8A8F98"/>
                </a:solidFill>
                <a:latin typeface="Arial" pitchFamily="34" charset="0"/>
                <a:ea typeface="Arial" pitchFamily="34" charset="-122"/>
                <a:cs typeface="Arial" pitchFamily="34" charset="-120"/>
              </a:rPr>
              <a:t>01</a:t>
            </a:r>
            <a:endParaRPr lang="en-US" sz="1900" dirty="0"/>
          </a:p>
        </p:txBody>
      </p:sp>
      <p:sp>
        <p:nvSpPr>
          <p:cNvPr id="6" name="Text 4"/>
          <p:cNvSpPr txBox="1"/>
          <p:nvPr/>
        </p:nvSpPr>
        <p:spPr>
          <a:xfrm>
            <a:off x="1676095" y="2305202"/>
            <a:ext cx="4000500" cy="285293"/>
          </a:xfrm>
          <a:prstGeom prst="rect">
            <a:avLst/>
          </a:prstGeom>
          <a:noFill/>
          <a:ln/>
        </p:spPr>
        <p:txBody>
          <a:bodyPr wrap="square" lIns="0" tIns="0" rIns="0" bIns="0" rtlCol="0" anchor="t"/>
          <a:lstStyle/>
          <a:p>
            <a:pPr indent="0" marL="0">
              <a:buNone/>
            </a:pPr>
            <a:r>
              <a:rPr lang="en-US" sz="1400" b="1" dirty="0">
                <a:solidFill>
                  <a:srgbClr val="111111"/>
                </a:solidFill>
                <a:latin typeface="Arial" pitchFamily="34" charset="0"/>
                <a:ea typeface="Arial" pitchFamily="34" charset="-122"/>
                <a:cs typeface="Arial" pitchFamily="34" charset="-120"/>
              </a:rPr>
              <a:t>Success defined before spend</a:t>
            </a:r>
            <a:endParaRPr lang="en-US" sz="1400" dirty="0"/>
          </a:p>
        </p:txBody>
      </p:sp>
      <p:sp>
        <p:nvSpPr>
          <p:cNvPr id="7" name="Text 5"/>
          <p:cNvSpPr txBox="1"/>
          <p:nvPr/>
        </p:nvSpPr>
        <p:spPr>
          <a:xfrm>
            <a:off x="5829300" y="2266798"/>
            <a:ext cx="5333695" cy="628193"/>
          </a:xfrm>
          <a:prstGeom prst="rect">
            <a:avLst/>
          </a:prstGeom>
          <a:noFill/>
          <a:ln/>
        </p:spPr>
        <p:txBody>
          <a:bodyPr wrap="square" lIns="0" tIns="0" rIns="0" bIns="0" rtlCol="0" anchor="t"/>
          <a:lstStyle/>
          <a:p>
            <a:pPr indent="0" marL="0">
              <a:lnSpc>
                <a:spcPts val="1500"/>
              </a:lnSpc>
              <a:buNone/>
            </a:pPr>
            <a:r>
              <a:rPr lang="en-US" sz="1100" dirty="0">
                <a:solidFill>
                  <a:srgbClr val="5A6068"/>
                </a:solidFill>
                <a:latin typeface="Arial" pitchFamily="34" charset="0"/>
                <a:ea typeface="Arial" pitchFamily="34" charset="-122"/>
                <a:cs typeface="Arial" pitchFamily="34" charset="-120"/>
              </a:rPr>
              <a:t>The objective, the audience and the measure are agreed and written down before budget is committed. Disagreement surfaces in week one, not at the review.</a:t>
            </a:r>
            <a:endParaRPr lang="en-US" sz="1100" dirty="0"/>
          </a:p>
        </p:txBody>
      </p:sp>
      <p:sp>
        <p:nvSpPr>
          <p:cNvPr id="8" name="Shape 6"/>
          <p:cNvSpPr/>
          <p:nvPr/>
        </p:nvSpPr>
        <p:spPr>
          <a:xfrm>
            <a:off x="685800" y="3162910"/>
            <a:ext cx="10820095" cy="914400"/>
          </a:xfrm>
          <a:prstGeom prst="roundRect">
            <a:avLst>
              <a:gd name="adj" fmla="val 10400"/>
            </a:avLst>
          </a:prstGeom>
          <a:solidFill>
            <a:srgbClr val="F4F6F8"/>
          </a:solidFill>
          <a:ln/>
        </p:spPr>
      </p:sp>
      <p:sp>
        <p:nvSpPr>
          <p:cNvPr id="9" name="Text 7"/>
          <p:cNvSpPr txBox="1"/>
          <p:nvPr/>
        </p:nvSpPr>
        <p:spPr>
          <a:xfrm>
            <a:off x="952805" y="3162910"/>
            <a:ext cx="571500" cy="914400"/>
          </a:xfrm>
          <a:prstGeom prst="rect">
            <a:avLst/>
          </a:prstGeom>
          <a:noFill/>
          <a:ln/>
        </p:spPr>
        <p:txBody>
          <a:bodyPr wrap="square" rtlCol="0" anchor="ctr"/>
          <a:lstStyle/>
          <a:p>
            <a:pPr indent="0" marL="0">
              <a:buNone/>
            </a:pPr>
            <a:r>
              <a:rPr lang="en-US" sz="1900" b="1" dirty="0">
                <a:solidFill>
                  <a:srgbClr val="8A8F98"/>
                </a:solidFill>
                <a:latin typeface="Arial" pitchFamily="34" charset="0"/>
                <a:ea typeface="Arial" pitchFamily="34" charset="-122"/>
                <a:cs typeface="Arial" pitchFamily="34" charset="-120"/>
              </a:rPr>
              <a:t>02</a:t>
            </a:r>
            <a:endParaRPr lang="en-US" sz="1900" dirty="0"/>
          </a:p>
        </p:txBody>
      </p:sp>
      <p:sp>
        <p:nvSpPr>
          <p:cNvPr id="10" name="Text 8"/>
          <p:cNvSpPr txBox="1"/>
          <p:nvPr/>
        </p:nvSpPr>
        <p:spPr>
          <a:xfrm>
            <a:off x="1676095" y="3372307"/>
            <a:ext cx="4000500" cy="285293"/>
          </a:xfrm>
          <a:prstGeom prst="rect">
            <a:avLst/>
          </a:prstGeom>
          <a:noFill/>
          <a:ln/>
        </p:spPr>
        <p:txBody>
          <a:bodyPr wrap="square" lIns="0" tIns="0" rIns="0" bIns="0" rtlCol="0" anchor="t"/>
          <a:lstStyle/>
          <a:p>
            <a:pPr indent="0" marL="0">
              <a:buNone/>
            </a:pPr>
            <a:r>
              <a:rPr lang="en-US" sz="1400" b="1" dirty="0">
                <a:solidFill>
                  <a:srgbClr val="111111"/>
                </a:solidFill>
                <a:latin typeface="Arial" pitchFamily="34" charset="0"/>
                <a:ea typeface="Arial" pitchFamily="34" charset="-122"/>
                <a:cs typeface="Arial" pitchFamily="34" charset="-120"/>
              </a:rPr>
              <a:t>Measurement built before launch</a:t>
            </a:r>
            <a:endParaRPr lang="en-US" sz="1400" dirty="0"/>
          </a:p>
        </p:txBody>
      </p:sp>
      <p:sp>
        <p:nvSpPr>
          <p:cNvPr id="11" name="Text 9"/>
          <p:cNvSpPr txBox="1"/>
          <p:nvPr/>
        </p:nvSpPr>
        <p:spPr>
          <a:xfrm>
            <a:off x="5829300" y="3333902"/>
            <a:ext cx="5333695" cy="628193"/>
          </a:xfrm>
          <a:prstGeom prst="rect">
            <a:avLst/>
          </a:prstGeom>
          <a:noFill/>
          <a:ln/>
        </p:spPr>
        <p:txBody>
          <a:bodyPr wrap="square" lIns="0" tIns="0" rIns="0" bIns="0" rtlCol="0" anchor="t"/>
          <a:lstStyle/>
          <a:p>
            <a:pPr indent="0" marL="0">
              <a:lnSpc>
                <a:spcPts val="1500"/>
              </a:lnSpc>
              <a:buNone/>
            </a:pPr>
            <a:r>
              <a:rPr lang="en-US" sz="1100" dirty="0">
                <a:solidFill>
                  <a:srgbClr val="5A6068"/>
                </a:solidFill>
                <a:latin typeface="Arial" pitchFamily="34" charset="0"/>
                <a:ea typeface="Arial" pitchFamily="34" charset="-122"/>
                <a:cs typeface="Arial" pitchFamily="34" charset="-120"/>
              </a:rPr>
              <a:t>Tracking and reporting are built and tested before the first impression is bought, so the first report is a reading rather than a reconstruction.</a:t>
            </a:r>
            <a:endParaRPr lang="en-US" sz="1100" dirty="0"/>
          </a:p>
        </p:txBody>
      </p:sp>
      <p:sp>
        <p:nvSpPr>
          <p:cNvPr id="12" name="Shape 10"/>
          <p:cNvSpPr/>
          <p:nvPr/>
        </p:nvSpPr>
        <p:spPr>
          <a:xfrm>
            <a:off x="685800" y="4230014"/>
            <a:ext cx="10820095" cy="914400"/>
          </a:xfrm>
          <a:prstGeom prst="roundRect">
            <a:avLst>
              <a:gd name="adj" fmla="val 10400"/>
            </a:avLst>
          </a:prstGeom>
          <a:solidFill>
            <a:srgbClr val="F4F6F8"/>
          </a:solidFill>
          <a:ln/>
        </p:spPr>
      </p:sp>
      <p:sp>
        <p:nvSpPr>
          <p:cNvPr id="13" name="Text 11"/>
          <p:cNvSpPr txBox="1"/>
          <p:nvPr/>
        </p:nvSpPr>
        <p:spPr>
          <a:xfrm>
            <a:off x="952805" y="4230014"/>
            <a:ext cx="571500" cy="914400"/>
          </a:xfrm>
          <a:prstGeom prst="rect">
            <a:avLst/>
          </a:prstGeom>
          <a:noFill/>
          <a:ln/>
        </p:spPr>
        <p:txBody>
          <a:bodyPr wrap="square" rtlCol="0" anchor="ctr"/>
          <a:lstStyle/>
          <a:p>
            <a:pPr indent="0" marL="0">
              <a:buNone/>
            </a:pPr>
            <a:r>
              <a:rPr lang="en-US" sz="1900" b="1" dirty="0">
                <a:solidFill>
                  <a:srgbClr val="8A8F98"/>
                </a:solidFill>
                <a:latin typeface="Arial" pitchFamily="34" charset="0"/>
                <a:ea typeface="Arial" pitchFamily="34" charset="-122"/>
                <a:cs typeface="Arial" pitchFamily="34" charset="-120"/>
              </a:rPr>
              <a:t>03</a:t>
            </a:r>
            <a:endParaRPr lang="en-US" sz="1900" dirty="0"/>
          </a:p>
        </p:txBody>
      </p:sp>
      <p:sp>
        <p:nvSpPr>
          <p:cNvPr id="14" name="Text 12"/>
          <p:cNvSpPr txBox="1"/>
          <p:nvPr/>
        </p:nvSpPr>
        <p:spPr>
          <a:xfrm>
            <a:off x="1676095" y="4439412"/>
            <a:ext cx="4000500" cy="285293"/>
          </a:xfrm>
          <a:prstGeom prst="rect">
            <a:avLst/>
          </a:prstGeom>
          <a:noFill/>
          <a:ln/>
        </p:spPr>
        <p:txBody>
          <a:bodyPr wrap="square" lIns="0" tIns="0" rIns="0" bIns="0" rtlCol="0" anchor="t"/>
          <a:lstStyle/>
          <a:p>
            <a:pPr indent="0" marL="0">
              <a:buNone/>
            </a:pPr>
            <a:r>
              <a:rPr lang="en-US" sz="1400" b="1" dirty="0">
                <a:solidFill>
                  <a:srgbClr val="111111"/>
                </a:solidFill>
                <a:latin typeface="Arial" pitchFamily="34" charset="0"/>
                <a:ea typeface="Arial" pitchFamily="34" charset="-122"/>
                <a:cs typeface="Arial" pitchFamily="34" charset="-120"/>
              </a:rPr>
              <a:t>Accounts built in the client's name</a:t>
            </a:r>
            <a:endParaRPr lang="en-US" sz="1400" dirty="0"/>
          </a:p>
        </p:txBody>
      </p:sp>
      <p:sp>
        <p:nvSpPr>
          <p:cNvPr id="15" name="Text 13"/>
          <p:cNvSpPr txBox="1"/>
          <p:nvPr/>
        </p:nvSpPr>
        <p:spPr>
          <a:xfrm>
            <a:off x="5829300" y="4401007"/>
            <a:ext cx="5333695" cy="628193"/>
          </a:xfrm>
          <a:prstGeom prst="rect">
            <a:avLst/>
          </a:prstGeom>
          <a:noFill/>
          <a:ln/>
        </p:spPr>
        <p:txBody>
          <a:bodyPr wrap="square" lIns="0" tIns="0" rIns="0" bIns="0" rtlCol="0" anchor="t"/>
          <a:lstStyle/>
          <a:p>
            <a:pPr indent="0" marL="0">
              <a:lnSpc>
                <a:spcPts val="1500"/>
              </a:lnSpc>
              <a:buNone/>
            </a:pPr>
            <a:r>
              <a:rPr lang="en-US" sz="1100" dirty="0">
                <a:solidFill>
                  <a:srgbClr val="5A6068"/>
                </a:solidFill>
                <a:latin typeface="Arial" pitchFamily="34" charset="0"/>
                <a:ea typeface="Arial" pitchFamily="34" charset="-122"/>
                <a:cs typeface="Arial" pitchFamily="34" charset="-120"/>
              </a:rPr>
              <a:t>Platforms, advertising accounts, analytics and CRM are created under the client's entity. When an agency leaves, the history stays.</a:t>
            </a:r>
            <a:endParaRPr lang="en-US" sz="1100" dirty="0"/>
          </a:p>
        </p:txBody>
      </p:sp>
      <p:pic>
        <p:nvPicPr>
          <p:cNvPr id="16"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17" name="Text 14"/>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25</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HOW AN ENGAGEMENT RUNS</a:t>
            </a:r>
            <a:endParaRPr lang="en-US" sz="950" dirty="0"/>
          </a:p>
        </p:txBody>
      </p:sp>
      <p:sp>
        <p:nvSpPr>
          <p:cNvPr id="3" name="Text 1"/>
          <p:cNvSpPr txBox="1"/>
          <p:nvPr/>
        </p:nvSpPr>
        <p:spPr>
          <a:xfrm>
            <a:off x="685800" y="800100"/>
            <a:ext cx="10820095" cy="666598"/>
          </a:xfrm>
          <a:prstGeom prst="rect">
            <a:avLst/>
          </a:prstGeom>
          <a:noFill/>
          <a:ln/>
        </p:spPr>
        <p:txBody>
          <a:bodyPr wrap="square" lIns="0" tIns="0" rIns="0" bIns="0" rtlCol="0" anchor="t"/>
          <a:lstStyle/>
          <a:p>
            <a:pPr indent="0" marL="0">
              <a:lnSpc>
                <a:spcPts val="4050"/>
              </a:lnSpc>
              <a:buNone/>
            </a:pPr>
            <a:r>
              <a:rPr lang="en-US" sz="2850" b="1" dirty="0">
                <a:solidFill>
                  <a:srgbClr val="111111"/>
                </a:solidFill>
                <a:latin typeface="Arial" pitchFamily="34" charset="0"/>
                <a:ea typeface="Arial" pitchFamily="34" charset="-122"/>
                <a:cs typeface="Arial" pitchFamily="34" charset="-120"/>
              </a:rPr>
              <a:t>One contract, one team, one point of accountability.</a:t>
            </a:r>
            <a:endParaRPr lang="en-US" sz="2850" dirty="0"/>
          </a:p>
        </p:txBody>
      </p:sp>
      <p:sp>
        <p:nvSpPr>
          <p:cNvPr id="4" name="Shape 2"/>
          <p:cNvSpPr/>
          <p:nvPr/>
        </p:nvSpPr>
        <p:spPr>
          <a:xfrm>
            <a:off x="685800" y="2048256"/>
            <a:ext cx="3400654" cy="2857500"/>
          </a:xfrm>
          <a:prstGeom prst="roundRect">
            <a:avLst>
              <a:gd name="adj" fmla="val 3328"/>
            </a:avLst>
          </a:prstGeom>
          <a:solidFill>
            <a:srgbClr val="F4F6F8"/>
          </a:solidFill>
          <a:ln/>
        </p:spPr>
      </p:sp>
      <p:sp>
        <p:nvSpPr>
          <p:cNvPr id="5" name="Text 3"/>
          <p:cNvSpPr txBox="1"/>
          <p:nvPr/>
        </p:nvSpPr>
        <p:spPr>
          <a:xfrm>
            <a:off x="952805" y="2333549"/>
            <a:ext cx="761695" cy="381305"/>
          </a:xfrm>
          <a:prstGeom prst="rect">
            <a:avLst/>
          </a:prstGeom>
          <a:noFill/>
          <a:ln/>
        </p:spPr>
        <p:txBody>
          <a:bodyPr wrap="square" lIns="0" tIns="0" rIns="0" bIns="0" rtlCol="0" anchor="ctr"/>
          <a:lstStyle/>
          <a:p>
            <a:pPr indent="0" marL="0">
              <a:buNone/>
            </a:pPr>
            <a:r>
              <a:rPr lang="en-US" sz="1400" b="1" dirty="0">
                <a:solidFill>
                  <a:srgbClr val="8A8F98"/>
                </a:solidFill>
                <a:latin typeface="Arial" pitchFamily="34" charset="0"/>
                <a:ea typeface="Arial" pitchFamily="34" charset="-122"/>
                <a:cs typeface="Arial" pitchFamily="34" charset="-120"/>
              </a:rPr>
              <a:t>01</a:t>
            </a:r>
            <a:endParaRPr lang="en-US" sz="1400" dirty="0"/>
          </a:p>
        </p:txBody>
      </p:sp>
      <p:sp>
        <p:nvSpPr>
          <p:cNvPr id="6" name="Text 4"/>
          <p:cNvSpPr txBox="1"/>
          <p:nvPr/>
        </p:nvSpPr>
        <p:spPr>
          <a:xfrm>
            <a:off x="952805" y="2857500"/>
            <a:ext cx="2857500" cy="342900"/>
          </a:xfrm>
          <a:prstGeom prst="rect">
            <a:avLst/>
          </a:prstGeom>
          <a:noFill/>
          <a:ln/>
        </p:spPr>
        <p:txBody>
          <a:bodyPr wrap="square" lIns="0" tIns="0" rIns="0" bIns="0" rtlCol="0" anchor="t"/>
          <a:lstStyle/>
          <a:p>
            <a:pPr indent="0" marL="0">
              <a:buNone/>
            </a:pPr>
            <a:r>
              <a:rPr lang="en-US" sz="1900" b="1" dirty="0">
                <a:solidFill>
                  <a:srgbClr val="111111"/>
                </a:solidFill>
                <a:latin typeface="Arial" pitchFamily="34" charset="0"/>
                <a:ea typeface="Arial" pitchFamily="34" charset="-122"/>
                <a:cs typeface="Arial" pitchFamily="34" charset="-120"/>
              </a:rPr>
              <a:t>Definition</a:t>
            </a:r>
            <a:endParaRPr lang="en-US" sz="1900" dirty="0"/>
          </a:p>
        </p:txBody>
      </p:sp>
      <p:sp>
        <p:nvSpPr>
          <p:cNvPr id="7" name="Text 5"/>
          <p:cNvSpPr txBox="1"/>
          <p:nvPr/>
        </p:nvSpPr>
        <p:spPr>
          <a:xfrm>
            <a:off x="952805" y="3333902"/>
            <a:ext cx="2857500" cy="1333195"/>
          </a:xfrm>
          <a:prstGeom prst="rect">
            <a:avLst/>
          </a:prstGeom>
          <a:noFill/>
          <a:ln/>
        </p:spPr>
        <p:txBody>
          <a:bodyPr wrap="square" lIns="0" tIns="0" rIns="0" bIns="0" rtlCol="0" anchor="t"/>
          <a:lstStyle/>
          <a:p>
            <a:pPr indent="0" marL="0">
              <a:lnSpc>
                <a:spcPts val="1580"/>
              </a:lnSpc>
              <a:buNone/>
            </a:pPr>
            <a:r>
              <a:rPr lang="en-US" sz="1150" dirty="0">
                <a:solidFill>
                  <a:srgbClr val="5A6068"/>
                </a:solidFill>
                <a:latin typeface="Arial" pitchFamily="34" charset="0"/>
                <a:ea typeface="Arial" pitchFamily="34" charset="-122"/>
                <a:cs typeface="Arial" pitchFamily="34" charset="-120"/>
              </a:rPr>
              <a:t>A short paid stage that ends in a written definition rather than a proposal: objective, audience, and the measure of success.</a:t>
            </a:r>
            <a:endParaRPr lang="en-US" sz="1150" dirty="0"/>
          </a:p>
        </p:txBody>
      </p:sp>
      <p:sp>
        <p:nvSpPr>
          <p:cNvPr id="8" name="Shape 6"/>
          <p:cNvSpPr/>
          <p:nvPr/>
        </p:nvSpPr>
        <p:spPr>
          <a:xfrm>
            <a:off x="4362602" y="2048256"/>
            <a:ext cx="3400654" cy="2857500"/>
          </a:xfrm>
          <a:prstGeom prst="roundRect">
            <a:avLst>
              <a:gd name="adj" fmla="val 3328"/>
            </a:avLst>
          </a:prstGeom>
          <a:solidFill>
            <a:srgbClr val="F4F6F8"/>
          </a:solidFill>
          <a:ln/>
        </p:spPr>
      </p:sp>
      <p:sp>
        <p:nvSpPr>
          <p:cNvPr id="9" name="Text 7"/>
          <p:cNvSpPr txBox="1"/>
          <p:nvPr/>
        </p:nvSpPr>
        <p:spPr>
          <a:xfrm>
            <a:off x="4629607" y="2333549"/>
            <a:ext cx="761695" cy="381305"/>
          </a:xfrm>
          <a:prstGeom prst="rect">
            <a:avLst/>
          </a:prstGeom>
          <a:noFill/>
          <a:ln/>
        </p:spPr>
        <p:txBody>
          <a:bodyPr wrap="square" lIns="0" tIns="0" rIns="0" bIns="0" rtlCol="0" anchor="ctr"/>
          <a:lstStyle/>
          <a:p>
            <a:pPr indent="0" marL="0">
              <a:buNone/>
            </a:pPr>
            <a:r>
              <a:rPr lang="en-US" sz="1400" b="1" dirty="0">
                <a:solidFill>
                  <a:srgbClr val="8A8F98"/>
                </a:solidFill>
                <a:latin typeface="Arial" pitchFamily="34" charset="0"/>
                <a:ea typeface="Arial" pitchFamily="34" charset="-122"/>
                <a:cs typeface="Arial" pitchFamily="34" charset="-120"/>
              </a:rPr>
              <a:t>02</a:t>
            </a:r>
            <a:endParaRPr lang="en-US" sz="1400" dirty="0"/>
          </a:p>
        </p:txBody>
      </p:sp>
      <p:sp>
        <p:nvSpPr>
          <p:cNvPr id="10" name="Text 8"/>
          <p:cNvSpPr txBox="1"/>
          <p:nvPr/>
        </p:nvSpPr>
        <p:spPr>
          <a:xfrm>
            <a:off x="4629607" y="2857500"/>
            <a:ext cx="2857500" cy="342900"/>
          </a:xfrm>
          <a:prstGeom prst="rect">
            <a:avLst/>
          </a:prstGeom>
          <a:noFill/>
          <a:ln/>
        </p:spPr>
        <p:txBody>
          <a:bodyPr wrap="square" lIns="0" tIns="0" rIns="0" bIns="0" rtlCol="0" anchor="t"/>
          <a:lstStyle/>
          <a:p>
            <a:pPr indent="0" marL="0">
              <a:buNone/>
            </a:pPr>
            <a:r>
              <a:rPr lang="en-US" sz="1900" b="1" dirty="0">
                <a:solidFill>
                  <a:srgbClr val="111111"/>
                </a:solidFill>
                <a:latin typeface="Arial" pitchFamily="34" charset="0"/>
                <a:ea typeface="Arial" pitchFamily="34" charset="-122"/>
                <a:cs typeface="Arial" pitchFamily="34" charset="-120"/>
              </a:rPr>
              <a:t>Build</a:t>
            </a:r>
            <a:endParaRPr lang="en-US" sz="1900" dirty="0"/>
          </a:p>
        </p:txBody>
      </p:sp>
      <p:sp>
        <p:nvSpPr>
          <p:cNvPr id="11" name="Text 9"/>
          <p:cNvSpPr txBox="1"/>
          <p:nvPr/>
        </p:nvSpPr>
        <p:spPr>
          <a:xfrm>
            <a:off x="4629607" y="3333902"/>
            <a:ext cx="2857500" cy="1333195"/>
          </a:xfrm>
          <a:prstGeom prst="rect">
            <a:avLst/>
          </a:prstGeom>
          <a:noFill/>
          <a:ln/>
        </p:spPr>
        <p:txBody>
          <a:bodyPr wrap="square" lIns="0" tIns="0" rIns="0" bIns="0" rtlCol="0" anchor="t"/>
          <a:lstStyle/>
          <a:p>
            <a:pPr indent="0" marL="0">
              <a:lnSpc>
                <a:spcPts val="1580"/>
              </a:lnSpc>
              <a:buNone/>
            </a:pPr>
            <a:r>
              <a:rPr lang="en-US" sz="1150" dirty="0">
                <a:solidFill>
                  <a:srgbClr val="5A6068"/>
                </a:solidFill>
                <a:latin typeface="Arial" pitchFamily="34" charset="0"/>
                <a:ea typeface="Arial" pitchFamily="34" charset="-122"/>
                <a:cs typeface="Arial" pitchFamily="34" charset="-120"/>
              </a:rPr>
              <a:t>Platforms, measurement and creative built against that definition, in the client's name.</a:t>
            </a:r>
            <a:endParaRPr lang="en-US" sz="1150" dirty="0"/>
          </a:p>
        </p:txBody>
      </p:sp>
      <p:sp>
        <p:nvSpPr>
          <p:cNvPr id="12" name="Shape 10"/>
          <p:cNvSpPr/>
          <p:nvPr/>
        </p:nvSpPr>
        <p:spPr>
          <a:xfrm>
            <a:off x="8039405" y="2048256"/>
            <a:ext cx="3400654" cy="2857500"/>
          </a:xfrm>
          <a:prstGeom prst="roundRect">
            <a:avLst>
              <a:gd name="adj" fmla="val 3328"/>
            </a:avLst>
          </a:prstGeom>
          <a:solidFill>
            <a:srgbClr val="F4F6F8"/>
          </a:solidFill>
          <a:ln/>
        </p:spPr>
      </p:sp>
      <p:sp>
        <p:nvSpPr>
          <p:cNvPr id="13" name="Text 11"/>
          <p:cNvSpPr txBox="1"/>
          <p:nvPr/>
        </p:nvSpPr>
        <p:spPr>
          <a:xfrm>
            <a:off x="8306410" y="2333549"/>
            <a:ext cx="761695" cy="381305"/>
          </a:xfrm>
          <a:prstGeom prst="rect">
            <a:avLst/>
          </a:prstGeom>
          <a:noFill/>
          <a:ln/>
        </p:spPr>
        <p:txBody>
          <a:bodyPr wrap="square" lIns="0" tIns="0" rIns="0" bIns="0" rtlCol="0" anchor="ctr"/>
          <a:lstStyle/>
          <a:p>
            <a:pPr indent="0" marL="0">
              <a:buNone/>
            </a:pPr>
            <a:r>
              <a:rPr lang="en-US" sz="1400" b="1" dirty="0">
                <a:solidFill>
                  <a:srgbClr val="8A8F98"/>
                </a:solidFill>
                <a:latin typeface="Arial" pitchFamily="34" charset="0"/>
                <a:ea typeface="Arial" pitchFamily="34" charset="-122"/>
                <a:cs typeface="Arial" pitchFamily="34" charset="-120"/>
              </a:rPr>
              <a:t>03</a:t>
            </a:r>
            <a:endParaRPr lang="en-US" sz="1400" dirty="0"/>
          </a:p>
        </p:txBody>
      </p:sp>
      <p:sp>
        <p:nvSpPr>
          <p:cNvPr id="14" name="Text 12"/>
          <p:cNvSpPr txBox="1"/>
          <p:nvPr/>
        </p:nvSpPr>
        <p:spPr>
          <a:xfrm>
            <a:off x="8306410" y="2857500"/>
            <a:ext cx="2857500" cy="342900"/>
          </a:xfrm>
          <a:prstGeom prst="rect">
            <a:avLst/>
          </a:prstGeom>
          <a:noFill/>
          <a:ln/>
        </p:spPr>
        <p:txBody>
          <a:bodyPr wrap="square" lIns="0" tIns="0" rIns="0" bIns="0" rtlCol="0" anchor="t"/>
          <a:lstStyle/>
          <a:p>
            <a:pPr indent="0" marL="0">
              <a:buNone/>
            </a:pPr>
            <a:r>
              <a:rPr lang="en-US" sz="1900" b="1" dirty="0">
                <a:solidFill>
                  <a:srgbClr val="111111"/>
                </a:solidFill>
                <a:latin typeface="Arial" pitchFamily="34" charset="0"/>
                <a:ea typeface="Arial" pitchFamily="34" charset="-122"/>
                <a:cs typeface="Arial" pitchFamily="34" charset="-120"/>
              </a:rPr>
              <a:t>Run</a:t>
            </a:r>
            <a:endParaRPr lang="en-US" sz="1900" dirty="0"/>
          </a:p>
        </p:txBody>
      </p:sp>
      <p:sp>
        <p:nvSpPr>
          <p:cNvPr id="15" name="Text 13"/>
          <p:cNvSpPr txBox="1"/>
          <p:nvPr/>
        </p:nvSpPr>
        <p:spPr>
          <a:xfrm>
            <a:off x="8306410" y="3333902"/>
            <a:ext cx="2857500" cy="1333195"/>
          </a:xfrm>
          <a:prstGeom prst="rect">
            <a:avLst/>
          </a:prstGeom>
          <a:noFill/>
          <a:ln/>
        </p:spPr>
        <p:txBody>
          <a:bodyPr wrap="square" lIns="0" tIns="0" rIns="0" bIns="0" rtlCol="0" anchor="t"/>
          <a:lstStyle/>
          <a:p>
            <a:pPr indent="0" marL="0">
              <a:lnSpc>
                <a:spcPts val="1580"/>
              </a:lnSpc>
              <a:buNone/>
            </a:pPr>
            <a:r>
              <a:rPr lang="en-US" sz="1150" dirty="0">
                <a:solidFill>
                  <a:srgbClr val="5A6068"/>
                </a:solidFill>
                <a:latin typeface="Arial" pitchFamily="34" charset="0"/>
                <a:ea typeface="Arial" pitchFamily="34" charset="-122"/>
                <a:cs typeface="Arial" pitchFamily="34" charset="-120"/>
              </a:rPr>
              <a:t>Delivery and reporting on a fixed cadence, with one senior contact who does not change.</a:t>
            </a:r>
            <a:endParaRPr lang="en-US" sz="1150" dirty="0"/>
          </a:p>
        </p:txBody>
      </p:sp>
      <p:pic>
        <p:nvPicPr>
          <p:cNvPr id="16"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17" name="Text 14"/>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26</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THE TEAM</a:t>
            </a:r>
            <a:endParaRPr lang="en-US" sz="950" dirty="0"/>
          </a:p>
        </p:txBody>
      </p:sp>
      <p:sp>
        <p:nvSpPr>
          <p:cNvPr id="3" name="Text 1"/>
          <p:cNvSpPr txBox="1"/>
          <p:nvPr/>
        </p:nvSpPr>
        <p:spPr>
          <a:xfrm>
            <a:off x="685800" y="800100"/>
            <a:ext cx="10820095" cy="666598"/>
          </a:xfrm>
          <a:prstGeom prst="rect">
            <a:avLst/>
          </a:prstGeom>
          <a:noFill/>
          <a:ln/>
        </p:spPr>
        <p:txBody>
          <a:bodyPr wrap="square" lIns="0" tIns="0" rIns="0" bIns="0" rtlCol="0" anchor="t"/>
          <a:lstStyle/>
          <a:p>
            <a:pPr indent="0" marL="0">
              <a:lnSpc>
                <a:spcPts val="4050"/>
              </a:lnSpc>
              <a:buNone/>
            </a:pPr>
            <a:r>
              <a:rPr lang="en-US" sz="2850" b="1" dirty="0">
                <a:solidFill>
                  <a:srgbClr val="111111"/>
                </a:solidFill>
                <a:latin typeface="Arial" pitchFamily="34" charset="0"/>
                <a:ea typeface="Arial" pitchFamily="34" charset="-122"/>
                <a:cs typeface="Arial" pitchFamily="34" charset="-120"/>
              </a:rPr>
              <a:t>The people on the account.</a:t>
            </a:r>
            <a:endParaRPr lang="en-US" sz="2850" dirty="0"/>
          </a:p>
        </p:txBody>
      </p:sp>
      <p:sp>
        <p:nvSpPr>
          <p:cNvPr id="4" name="Shape 2"/>
          <p:cNvSpPr/>
          <p:nvPr/>
        </p:nvSpPr>
        <p:spPr>
          <a:xfrm>
            <a:off x="685800" y="2048256"/>
            <a:ext cx="2562149" cy="2667305"/>
          </a:xfrm>
          <a:prstGeom prst="roundRect">
            <a:avLst>
              <a:gd name="adj" fmla="val 3712"/>
            </a:avLst>
          </a:prstGeom>
          <a:solidFill>
            <a:srgbClr val="F4F6F8"/>
          </a:solidFill>
          <a:ln/>
        </p:spPr>
      </p:sp>
      <p:sp>
        <p:nvSpPr>
          <p:cNvPr id="5" name="Text 3"/>
          <p:cNvSpPr txBox="1"/>
          <p:nvPr/>
        </p:nvSpPr>
        <p:spPr>
          <a:xfrm>
            <a:off x="819302" y="3210916"/>
            <a:ext cx="22951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MOHAMED-YOUSIF.PNG</a:t>
            </a:r>
            <a:endParaRPr lang="en-US" sz="950" dirty="0"/>
          </a:p>
        </p:txBody>
      </p:sp>
      <p:sp>
        <p:nvSpPr>
          <p:cNvPr id="6" name="Text 4"/>
          <p:cNvSpPr txBox="1"/>
          <p:nvPr/>
        </p:nvSpPr>
        <p:spPr>
          <a:xfrm>
            <a:off x="685800" y="4857293"/>
            <a:ext cx="2562149" cy="285293"/>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Mohamed Yousif</a:t>
            </a:r>
            <a:endParaRPr lang="en-US" sz="1400" dirty="0"/>
          </a:p>
        </p:txBody>
      </p:sp>
      <p:sp>
        <p:nvSpPr>
          <p:cNvPr id="7" name="Text 5"/>
          <p:cNvSpPr txBox="1"/>
          <p:nvPr/>
        </p:nvSpPr>
        <p:spPr>
          <a:xfrm>
            <a:off x="685800" y="5181905"/>
            <a:ext cx="2562149" cy="267005"/>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Chief Executive · founder</a:t>
            </a:r>
            <a:endParaRPr lang="en-US" sz="1150" dirty="0"/>
          </a:p>
        </p:txBody>
      </p:sp>
      <p:sp>
        <p:nvSpPr>
          <p:cNvPr id="8" name="Shape 6"/>
          <p:cNvSpPr/>
          <p:nvPr/>
        </p:nvSpPr>
        <p:spPr>
          <a:xfrm>
            <a:off x="3467405" y="2048256"/>
            <a:ext cx="2562149" cy="2667305"/>
          </a:xfrm>
          <a:prstGeom prst="roundRect">
            <a:avLst>
              <a:gd name="adj" fmla="val 3712"/>
            </a:avLst>
          </a:prstGeom>
          <a:solidFill>
            <a:srgbClr val="F4F6F8"/>
          </a:solidFill>
          <a:ln/>
        </p:spPr>
      </p:sp>
      <p:sp>
        <p:nvSpPr>
          <p:cNvPr id="9" name="Text 7"/>
          <p:cNvSpPr txBox="1"/>
          <p:nvPr/>
        </p:nvSpPr>
        <p:spPr>
          <a:xfrm>
            <a:off x="3600907" y="3210916"/>
            <a:ext cx="22951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[PORTRAIT]</a:t>
            </a:r>
            <a:endParaRPr lang="en-US" sz="950" dirty="0"/>
          </a:p>
        </p:txBody>
      </p:sp>
      <p:sp>
        <p:nvSpPr>
          <p:cNvPr id="10" name="Text 8"/>
          <p:cNvSpPr txBox="1"/>
          <p:nvPr/>
        </p:nvSpPr>
        <p:spPr>
          <a:xfrm>
            <a:off x="3467405" y="4857293"/>
            <a:ext cx="2562149" cy="285293"/>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[NAME]</a:t>
            </a:r>
            <a:endParaRPr lang="en-US" sz="1400" dirty="0"/>
          </a:p>
        </p:txBody>
      </p:sp>
      <p:sp>
        <p:nvSpPr>
          <p:cNvPr id="11" name="Text 9"/>
          <p:cNvSpPr txBox="1"/>
          <p:nvPr/>
        </p:nvSpPr>
        <p:spPr>
          <a:xfrm>
            <a:off x="3467405" y="5181905"/>
            <a:ext cx="2562149" cy="267005"/>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[Role]</a:t>
            </a:r>
            <a:endParaRPr lang="en-US" sz="1150" dirty="0"/>
          </a:p>
        </p:txBody>
      </p:sp>
      <p:sp>
        <p:nvSpPr>
          <p:cNvPr id="12" name="Shape 10"/>
          <p:cNvSpPr/>
          <p:nvPr/>
        </p:nvSpPr>
        <p:spPr>
          <a:xfrm>
            <a:off x="6249010" y="2048256"/>
            <a:ext cx="2562149" cy="2667305"/>
          </a:xfrm>
          <a:prstGeom prst="roundRect">
            <a:avLst>
              <a:gd name="adj" fmla="val 3712"/>
            </a:avLst>
          </a:prstGeom>
          <a:solidFill>
            <a:srgbClr val="F4F6F8"/>
          </a:solidFill>
          <a:ln/>
        </p:spPr>
      </p:sp>
      <p:sp>
        <p:nvSpPr>
          <p:cNvPr id="13" name="Text 11"/>
          <p:cNvSpPr txBox="1"/>
          <p:nvPr/>
        </p:nvSpPr>
        <p:spPr>
          <a:xfrm>
            <a:off x="6382512" y="3210916"/>
            <a:ext cx="22951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[PORTRAIT]</a:t>
            </a:r>
            <a:endParaRPr lang="en-US" sz="950" dirty="0"/>
          </a:p>
        </p:txBody>
      </p:sp>
      <p:sp>
        <p:nvSpPr>
          <p:cNvPr id="14" name="Text 12"/>
          <p:cNvSpPr txBox="1"/>
          <p:nvPr/>
        </p:nvSpPr>
        <p:spPr>
          <a:xfrm>
            <a:off x="6249010" y="4857293"/>
            <a:ext cx="2562149" cy="285293"/>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[NAME]</a:t>
            </a:r>
            <a:endParaRPr lang="en-US" sz="1400" dirty="0"/>
          </a:p>
        </p:txBody>
      </p:sp>
      <p:sp>
        <p:nvSpPr>
          <p:cNvPr id="15" name="Text 13"/>
          <p:cNvSpPr txBox="1"/>
          <p:nvPr/>
        </p:nvSpPr>
        <p:spPr>
          <a:xfrm>
            <a:off x="6249010" y="5181905"/>
            <a:ext cx="2562149" cy="267005"/>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[Role]</a:t>
            </a:r>
            <a:endParaRPr lang="en-US" sz="1150" dirty="0"/>
          </a:p>
        </p:txBody>
      </p:sp>
      <p:sp>
        <p:nvSpPr>
          <p:cNvPr id="16" name="Shape 14"/>
          <p:cNvSpPr/>
          <p:nvPr/>
        </p:nvSpPr>
        <p:spPr>
          <a:xfrm>
            <a:off x="9030614" y="2048256"/>
            <a:ext cx="2562149" cy="2667305"/>
          </a:xfrm>
          <a:prstGeom prst="roundRect">
            <a:avLst>
              <a:gd name="adj" fmla="val 3712"/>
            </a:avLst>
          </a:prstGeom>
          <a:solidFill>
            <a:srgbClr val="F4F6F8"/>
          </a:solidFill>
          <a:ln/>
        </p:spPr>
      </p:sp>
      <p:sp>
        <p:nvSpPr>
          <p:cNvPr id="17" name="Text 15"/>
          <p:cNvSpPr txBox="1"/>
          <p:nvPr/>
        </p:nvSpPr>
        <p:spPr>
          <a:xfrm>
            <a:off x="9164117" y="3210916"/>
            <a:ext cx="2295144" cy="342900"/>
          </a:xfrm>
          <a:prstGeom prst="rect">
            <a:avLst/>
          </a:prstGeom>
          <a:noFill/>
          <a:ln/>
        </p:spPr>
        <p:txBody>
          <a:bodyPr wrap="square" rtlCol="0" anchor="ctr"/>
          <a:lstStyle/>
          <a:p>
            <a:pPr algn="ctr" indent="0" marL="0">
              <a:buNone/>
            </a:pPr>
            <a:r>
              <a:rPr lang="en-US" sz="950" b="1" spc="240" kern="0" dirty="0">
                <a:solidFill>
                  <a:srgbClr val="8A8F98"/>
                </a:solidFill>
                <a:latin typeface="Arial" pitchFamily="34" charset="0"/>
                <a:ea typeface="Arial" pitchFamily="34" charset="-122"/>
                <a:cs typeface="Arial" pitchFamily="34" charset="-120"/>
              </a:rPr>
              <a:t>[PORTRAIT]</a:t>
            </a:r>
            <a:endParaRPr lang="en-US" sz="950" dirty="0"/>
          </a:p>
        </p:txBody>
      </p:sp>
      <p:sp>
        <p:nvSpPr>
          <p:cNvPr id="18" name="Text 16"/>
          <p:cNvSpPr txBox="1"/>
          <p:nvPr/>
        </p:nvSpPr>
        <p:spPr>
          <a:xfrm>
            <a:off x="9030614" y="4857293"/>
            <a:ext cx="2562149" cy="285293"/>
          </a:xfrm>
          <a:prstGeom prst="rect">
            <a:avLst/>
          </a:prstGeom>
          <a:noFill/>
          <a:ln/>
        </p:spPr>
        <p:txBody>
          <a:bodyPr wrap="square" lIns="0" tIns="0" rIns="0" bIns="0" rtlCol="0" anchor="ctr"/>
          <a:lstStyle/>
          <a:p>
            <a:pPr indent="0" marL="0">
              <a:buNone/>
            </a:pPr>
            <a:r>
              <a:rPr lang="en-US" sz="1400" b="1" dirty="0">
                <a:solidFill>
                  <a:srgbClr val="111111"/>
                </a:solidFill>
                <a:latin typeface="Arial" pitchFamily="34" charset="0"/>
                <a:ea typeface="Arial" pitchFamily="34" charset="-122"/>
                <a:cs typeface="Arial" pitchFamily="34" charset="-120"/>
              </a:rPr>
              <a:t>[NAME]</a:t>
            </a:r>
            <a:endParaRPr lang="en-US" sz="1400" dirty="0"/>
          </a:p>
        </p:txBody>
      </p:sp>
      <p:sp>
        <p:nvSpPr>
          <p:cNvPr id="19" name="Text 17"/>
          <p:cNvSpPr txBox="1"/>
          <p:nvPr/>
        </p:nvSpPr>
        <p:spPr>
          <a:xfrm>
            <a:off x="9030614" y="5181905"/>
            <a:ext cx="2562149" cy="267005"/>
          </a:xfrm>
          <a:prstGeom prst="rect">
            <a:avLst/>
          </a:prstGeom>
          <a:noFill/>
          <a:ln/>
        </p:spPr>
        <p:txBody>
          <a:bodyPr wrap="square" lIns="0" tIns="0" rIns="0" bIns="0" rtlCol="0" anchor="ctr"/>
          <a:lstStyle/>
          <a:p>
            <a:pPr indent="0" marL="0">
              <a:buNone/>
            </a:pPr>
            <a:r>
              <a:rPr lang="en-US" sz="1150" dirty="0">
                <a:solidFill>
                  <a:srgbClr val="5A6068"/>
                </a:solidFill>
                <a:latin typeface="Arial" pitchFamily="34" charset="0"/>
                <a:ea typeface="Arial" pitchFamily="34" charset="-122"/>
                <a:cs typeface="Arial" pitchFamily="34" charset="-120"/>
              </a:rPr>
              <a:t>[Role]</a:t>
            </a:r>
            <a:endParaRPr lang="en-US" sz="1150" dirty="0"/>
          </a:p>
        </p:txBody>
      </p:sp>
      <p:pic>
        <p:nvPicPr>
          <p:cNvPr id="20"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21" name="Text 18"/>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27</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8A8F98"/>
                </a:solidFill>
                <a:latin typeface="Arial" pitchFamily="34" charset="0"/>
                <a:ea typeface="Arial" pitchFamily="34" charset="-122"/>
                <a:cs typeface="Arial" pitchFamily="34" charset="-120"/>
              </a:rPr>
              <a:t>PARTNERS</a:t>
            </a:r>
            <a:endParaRPr lang="en-US" sz="950" dirty="0"/>
          </a:p>
        </p:txBody>
      </p:sp>
      <p:sp>
        <p:nvSpPr>
          <p:cNvPr id="3" name="Text 1"/>
          <p:cNvSpPr txBox="1"/>
          <p:nvPr/>
        </p:nvSpPr>
        <p:spPr>
          <a:xfrm>
            <a:off x="685800" y="800100"/>
            <a:ext cx="10820095" cy="666598"/>
          </a:xfrm>
          <a:prstGeom prst="rect">
            <a:avLst/>
          </a:prstGeom>
          <a:noFill/>
          <a:ln/>
        </p:spPr>
        <p:txBody>
          <a:bodyPr wrap="square" lIns="0" tIns="0" rIns="0" bIns="0" rtlCol="0" anchor="t"/>
          <a:lstStyle/>
          <a:p>
            <a:pPr indent="0" marL="0">
              <a:lnSpc>
                <a:spcPts val="4050"/>
              </a:lnSpc>
              <a:buNone/>
            </a:pPr>
            <a:r>
              <a:rPr lang="en-US" sz="2850" b="1" dirty="0">
                <a:solidFill>
                  <a:srgbClr val="111111"/>
                </a:solidFill>
                <a:latin typeface="Arial" pitchFamily="34" charset="0"/>
                <a:ea typeface="Arial" pitchFamily="34" charset="-122"/>
                <a:cs typeface="Arial" pitchFamily="34" charset="-120"/>
              </a:rPr>
              <a:t>Depth bought where it is better bought than built.</a:t>
            </a:r>
            <a:endParaRPr lang="en-US" sz="2850" dirty="0"/>
          </a:p>
        </p:txBody>
      </p:sp>
      <p:sp>
        <p:nvSpPr>
          <p:cNvPr id="4" name="Text 2"/>
          <p:cNvSpPr txBox="1"/>
          <p:nvPr/>
        </p:nvSpPr>
        <p:spPr>
          <a:xfrm>
            <a:off x="685800" y="1885493"/>
            <a:ext cx="8953805" cy="571500"/>
          </a:xfrm>
          <a:prstGeom prst="rect">
            <a:avLst/>
          </a:prstGeom>
          <a:noFill/>
          <a:ln/>
        </p:spPr>
        <p:txBody>
          <a:bodyPr wrap="square" lIns="0" tIns="0" rIns="0" bIns="0" rtlCol="0" anchor="t"/>
          <a:lstStyle/>
          <a:p>
            <a:pPr indent="0" marL="0">
              <a:lnSpc>
                <a:spcPts val="1950"/>
              </a:lnSpc>
              <a:buNone/>
            </a:pPr>
            <a:r>
              <a:rPr lang="en-US" sz="1300" dirty="0">
                <a:solidFill>
                  <a:srgbClr val="5A6068"/>
                </a:solidFill>
                <a:latin typeface="Arial" pitchFamily="34" charset="0"/>
                <a:ea typeface="Arial" pitchFamily="34" charset="-122"/>
                <a:cs typeface="Arial" pitchFamily="34" charset="-120"/>
              </a:rPr>
              <a:t>Capacity is the standing question asked of any agency this size. EOV answers it by naming the partners rather than absorbing them into a headcount figure.</a:t>
            </a:r>
            <a:endParaRPr lang="en-US" sz="1300" dirty="0"/>
          </a:p>
        </p:txBody>
      </p:sp>
      <p:sp>
        <p:nvSpPr>
          <p:cNvPr id="5" name="Shape 3"/>
          <p:cNvSpPr/>
          <p:nvPr/>
        </p:nvSpPr>
        <p:spPr>
          <a:xfrm>
            <a:off x="685800" y="2857500"/>
            <a:ext cx="3400654" cy="1999793"/>
          </a:xfrm>
          <a:prstGeom prst="roundRect">
            <a:avLst>
              <a:gd name="adj" fmla="val 4755"/>
            </a:avLst>
          </a:prstGeom>
          <a:solidFill>
            <a:srgbClr val="F4F6F8"/>
          </a:solidFill>
          <a:ln/>
        </p:spPr>
      </p:sp>
      <p:sp>
        <p:nvSpPr>
          <p:cNvPr id="6" name="Text 4"/>
          <p:cNvSpPr txBox="1"/>
          <p:nvPr/>
        </p:nvSpPr>
        <p:spPr>
          <a:xfrm>
            <a:off x="914400" y="2857500"/>
            <a:ext cx="2943454" cy="1999793"/>
          </a:xfrm>
          <a:prstGeom prst="rect">
            <a:avLst/>
          </a:prstGeom>
          <a:noFill/>
          <a:ln/>
        </p:spPr>
        <p:txBody>
          <a:bodyPr wrap="square" rtlCol="0" anchor="ctr"/>
          <a:lstStyle/>
          <a:p>
            <a:pPr algn="ctr" indent="0" marL="0">
              <a:buNone/>
            </a:pPr>
            <a:r>
              <a:rPr lang="en-US" sz="1900" b="1" dirty="0">
                <a:solidFill>
                  <a:srgbClr val="111111"/>
                </a:solidFill>
                <a:latin typeface="Arial" pitchFamily="34" charset="0"/>
                <a:ea typeface="Arial" pitchFamily="34" charset="-122"/>
                <a:cs typeface="Arial" pitchFamily="34" charset="-120"/>
              </a:rPr>
              <a:t>Marcollin</a:t>
            </a:r>
            <a:endParaRPr lang="en-US" sz="1900" dirty="0"/>
          </a:p>
        </p:txBody>
      </p:sp>
      <p:sp>
        <p:nvSpPr>
          <p:cNvPr id="7" name="Shape 5"/>
          <p:cNvSpPr/>
          <p:nvPr/>
        </p:nvSpPr>
        <p:spPr>
          <a:xfrm>
            <a:off x="4362602" y="2857500"/>
            <a:ext cx="3400654" cy="1999793"/>
          </a:xfrm>
          <a:prstGeom prst="roundRect">
            <a:avLst>
              <a:gd name="adj" fmla="val 4755"/>
            </a:avLst>
          </a:prstGeom>
          <a:solidFill>
            <a:srgbClr val="F4F6F8"/>
          </a:solidFill>
          <a:ln/>
        </p:spPr>
      </p:sp>
      <p:sp>
        <p:nvSpPr>
          <p:cNvPr id="8" name="Text 6"/>
          <p:cNvSpPr txBox="1"/>
          <p:nvPr/>
        </p:nvSpPr>
        <p:spPr>
          <a:xfrm>
            <a:off x="4591202" y="2857500"/>
            <a:ext cx="2943454" cy="1999793"/>
          </a:xfrm>
          <a:prstGeom prst="rect">
            <a:avLst/>
          </a:prstGeom>
          <a:noFill/>
          <a:ln/>
        </p:spPr>
        <p:txBody>
          <a:bodyPr wrap="square" rtlCol="0" anchor="ctr"/>
          <a:lstStyle/>
          <a:p>
            <a:pPr algn="ctr" indent="0" marL="0">
              <a:buNone/>
            </a:pPr>
            <a:r>
              <a:rPr lang="en-US" sz="1900" b="1" dirty="0">
                <a:solidFill>
                  <a:srgbClr val="111111"/>
                </a:solidFill>
                <a:latin typeface="Arial" pitchFamily="34" charset="0"/>
                <a:ea typeface="Arial" pitchFamily="34" charset="-122"/>
                <a:cs typeface="Arial" pitchFamily="34" charset="-120"/>
              </a:rPr>
              <a:t>SAA</a:t>
            </a:r>
            <a:endParaRPr lang="en-US" sz="1900" dirty="0"/>
          </a:p>
        </p:txBody>
      </p:sp>
      <p:sp>
        <p:nvSpPr>
          <p:cNvPr id="9" name="Shape 7"/>
          <p:cNvSpPr/>
          <p:nvPr/>
        </p:nvSpPr>
        <p:spPr>
          <a:xfrm>
            <a:off x="8039405" y="2857500"/>
            <a:ext cx="3400654" cy="1999793"/>
          </a:xfrm>
          <a:prstGeom prst="roundRect">
            <a:avLst>
              <a:gd name="adj" fmla="val 4755"/>
            </a:avLst>
          </a:prstGeom>
          <a:solidFill>
            <a:srgbClr val="F4F6F8"/>
          </a:solidFill>
          <a:ln/>
        </p:spPr>
      </p:sp>
      <p:sp>
        <p:nvSpPr>
          <p:cNvPr id="10" name="Text 8"/>
          <p:cNvSpPr txBox="1"/>
          <p:nvPr/>
        </p:nvSpPr>
        <p:spPr>
          <a:xfrm>
            <a:off x="8268005" y="2857500"/>
            <a:ext cx="2943454" cy="1999793"/>
          </a:xfrm>
          <a:prstGeom prst="rect">
            <a:avLst/>
          </a:prstGeom>
          <a:noFill/>
          <a:ln/>
        </p:spPr>
        <p:txBody>
          <a:bodyPr wrap="square" rtlCol="0" anchor="ctr"/>
          <a:lstStyle/>
          <a:p>
            <a:pPr algn="ctr" indent="0" marL="0">
              <a:buNone/>
            </a:pPr>
            <a:r>
              <a:rPr lang="en-US" sz="1900" b="1" dirty="0">
                <a:solidFill>
                  <a:srgbClr val="111111"/>
                </a:solidFill>
                <a:latin typeface="Arial" pitchFamily="34" charset="0"/>
                <a:ea typeface="Arial" pitchFamily="34" charset="-122"/>
                <a:cs typeface="Arial" pitchFamily="34" charset="-120"/>
              </a:rPr>
              <a:t>Palo Alto Tribunal</a:t>
            </a:r>
            <a:endParaRPr lang="en-US" sz="1900" dirty="0"/>
          </a:p>
        </p:txBody>
      </p:sp>
      <p:pic>
        <p:nvPicPr>
          <p:cNvPr id="11" name="Image 0" descr="assets/eov-wordmark-black-sm.png">    </p:cNvPr>
          <p:cNvPicPr>
            <a:picLocks noChangeAspect="1"/>
          </p:cNvPicPr>
          <p:nvPr/>
        </p:nvPicPr>
        <p:blipFill>
          <a:blip r:embed="rId1"/>
          <a:stretch>
            <a:fillRect/>
          </a:stretch>
        </p:blipFill>
        <p:spPr>
          <a:xfrm>
            <a:off x="685800" y="6238951"/>
            <a:ext cx="571500" cy="190195"/>
          </a:xfrm>
          <a:prstGeom prst="rect">
            <a:avLst/>
          </a:prstGeom>
        </p:spPr>
      </p:pic>
      <p:sp>
        <p:nvSpPr>
          <p:cNvPr id="12" name="Text 9"/>
          <p:cNvSpPr txBox="1"/>
          <p:nvPr/>
        </p:nvSpPr>
        <p:spPr>
          <a:xfrm>
            <a:off x="10668305" y="6238951"/>
            <a:ext cx="838505" cy="190195"/>
          </a:xfrm>
          <a:prstGeom prst="rect">
            <a:avLst/>
          </a:prstGeom>
          <a:noFill/>
          <a:ln/>
        </p:spPr>
        <p:txBody>
          <a:bodyPr wrap="square" lIns="0" tIns="0" rIns="0" bIns="0" rtlCol="0" anchor="ctr"/>
          <a:lstStyle/>
          <a:p>
            <a:pPr algn="r" indent="0" marL="0">
              <a:buNone/>
            </a:pPr>
            <a:r>
              <a:rPr lang="en-US" sz="950" b="1" dirty="0">
                <a:solidFill>
                  <a:srgbClr val="8A8F98"/>
                </a:solidFill>
                <a:latin typeface="Arial" pitchFamily="34" charset="0"/>
                <a:ea typeface="Arial" pitchFamily="34" charset="-122"/>
                <a:cs typeface="Arial" pitchFamily="34" charset="-120"/>
              </a:rPr>
              <a:t>28</a:t>
            </a:r>
            <a:endParaRPr lang="en-US" sz="9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0000"/>
        </a:solidFill>
      </p:bgPr>
    </p:bg>
    <p:spTree>
      <p:nvGrpSpPr>
        <p:cNvPr id="1" name=""/>
        <p:cNvGrpSpPr/>
        <p:nvPr/>
      </p:nvGrpSpPr>
      <p:grpSpPr>
        <a:xfrm>
          <a:off x="0" y="0"/>
          <a:ext cx="0" cy="0"/>
          <a:chOff x="0" y="0"/>
          <a:chExt cx="0" cy="0"/>
        </a:xfrm>
      </p:grpSpPr>
      <p:sp>
        <p:nvSpPr>
          <p:cNvPr id="2" name="Text 0"/>
          <p:cNvSpPr txBox="1"/>
          <p:nvPr/>
        </p:nvSpPr>
        <p:spPr>
          <a:xfrm>
            <a:off x="685800" y="504749"/>
            <a:ext cx="10820095" cy="190195"/>
          </a:xfrm>
          <a:prstGeom prst="rect">
            <a:avLst/>
          </a:prstGeom>
          <a:noFill/>
          <a:ln/>
        </p:spPr>
        <p:txBody>
          <a:bodyPr wrap="square" lIns="0" tIns="0" rIns="0" bIns="0" rtlCol="0" anchor="ctr"/>
          <a:lstStyle/>
          <a:p>
            <a:pPr indent="0" marL="0">
              <a:buNone/>
            </a:pPr>
            <a:r>
              <a:rPr lang="en-US" sz="950" b="1" spc="300" kern="0" dirty="0">
                <a:solidFill>
                  <a:srgbClr val="54D2FE"/>
                </a:solidFill>
                <a:latin typeface="Arial" pitchFamily="34" charset="0"/>
                <a:ea typeface="Arial" pitchFamily="34" charset="-122"/>
                <a:cs typeface="Arial" pitchFamily="34" charset="-120"/>
              </a:rPr>
              <a:t>NEXT STEP</a:t>
            </a:r>
            <a:endParaRPr lang="en-US" sz="950" dirty="0"/>
          </a:p>
        </p:txBody>
      </p:sp>
      <p:sp>
        <p:nvSpPr>
          <p:cNvPr id="3" name="Text 1"/>
          <p:cNvSpPr txBox="1"/>
          <p:nvPr/>
        </p:nvSpPr>
        <p:spPr>
          <a:xfrm>
            <a:off x="685800" y="800100"/>
            <a:ext cx="10820095" cy="1809598"/>
          </a:xfrm>
          <a:prstGeom prst="rect">
            <a:avLst/>
          </a:prstGeom>
          <a:noFill/>
          <a:ln/>
        </p:spPr>
        <p:txBody>
          <a:bodyPr wrap="square" lIns="0" tIns="0" rIns="0" bIns="0" rtlCol="0" anchor="t"/>
          <a:lstStyle/>
          <a:p>
            <a:pPr indent="0" marL="0">
              <a:lnSpc>
                <a:spcPts val="4200"/>
              </a:lnSpc>
              <a:buNone/>
            </a:pPr>
            <a:r>
              <a:rPr lang="en-US" sz="3400" b="1" dirty="0">
                <a:solidFill>
                  <a:srgbClr val="FFFFFF"/>
                </a:solidFill>
                <a:latin typeface="Arial" pitchFamily="34" charset="0"/>
                <a:ea typeface="Arial" pitchFamily="34" charset="-122"/>
                <a:cs typeface="Arial" pitchFamily="34" charset="-120"/>
              </a:rPr>
              <a:t>The first conversation is about what cannot be done twice.</a:t>
            </a:r>
            <a:endParaRPr lang="en-US" sz="3400" dirty="0"/>
          </a:p>
        </p:txBody>
      </p:sp>
      <p:sp>
        <p:nvSpPr>
          <p:cNvPr id="4" name="Shape 2"/>
          <p:cNvSpPr/>
          <p:nvPr/>
        </p:nvSpPr>
        <p:spPr>
          <a:xfrm>
            <a:off x="685800" y="3619195"/>
            <a:ext cx="10820095" cy="1428293"/>
          </a:xfrm>
          <a:prstGeom prst="roundRect">
            <a:avLst>
              <a:gd name="adj" fmla="val 6658"/>
            </a:avLst>
          </a:prstGeom>
          <a:solidFill>
            <a:srgbClr val="111111"/>
          </a:solidFill>
          <a:ln/>
        </p:spPr>
      </p:sp>
      <p:sp>
        <p:nvSpPr>
          <p:cNvPr id="5" name="Text 3"/>
          <p:cNvSpPr txBox="1"/>
          <p:nvPr/>
        </p:nvSpPr>
        <p:spPr>
          <a:xfrm>
            <a:off x="1067105" y="3886200"/>
            <a:ext cx="4762195" cy="285293"/>
          </a:xfrm>
          <a:prstGeom prst="rect">
            <a:avLst/>
          </a:prstGeom>
          <a:noFill/>
          <a:ln/>
        </p:spPr>
        <p:txBody>
          <a:bodyPr wrap="square" lIns="0" tIns="0" rIns="0" bIns="0" rtlCol="0" anchor="ctr"/>
          <a:lstStyle/>
          <a:p>
            <a:pPr indent="0" marL="0">
              <a:buNone/>
            </a:pPr>
            <a:r>
              <a:rPr lang="en-US" sz="1400" b="1" dirty="0">
                <a:solidFill>
                  <a:srgbClr val="FFFFFF"/>
                </a:solidFill>
                <a:latin typeface="Arial" pitchFamily="34" charset="0"/>
                <a:ea typeface="Arial" pitchFamily="34" charset="-122"/>
                <a:cs typeface="Arial" pitchFamily="34" charset="-120"/>
              </a:rPr>
              <a:t>EOV Technology Innovation</a:t>
            </a:r>
            <a:endParaRPr lang="en-US" sz="1400" dirty="0"/>
          </a:p>
        </p:txBody>
      </p:sp>
      <p:sp>
        <p:nvSpPr>
          <p:cNvPr id="6" name="Text 4"/>
          <p:cNvSpPr txBox="1"/>
          <p:nvPr/>
        </p:nvSpPr>
        <p:spPr>
          <a:xfrm>
            <a:off x="1067105" y="4229100"/>
            <a:ext cx="4762195" cy="267005"/>
          </a:xfrm>
          <a:prstGeom prst="rect">
            <a:avLst/>
          </a:prstGeom>
          <a:noFill/>
          <a:ln/>
        </p:spPr>
        <p:txBody>
          <a:bodyPr wrap="square" lIns="0" tIns="0" rIns="0" bIns="0" rtlCol="0" anchor="ctr"/>
          <a:lstStyle/>
          <a:p>
            <a:pPr indent="0" marL="0">
              <a:buNone/>
            </a:pPr>
            <a:r>
              <a:rPr lang="en-US" sz="1150" dirty="0">
                <a:solidFill>
                  <a:srgbClr val="C9CED4"/>
                </a:solidFill>
                <a:latin typeface="Arial" pitchFamily="34" charset="0"/>
                <a:ea typeface="Arial" pitchFamily="34" charset="-122"/>
                <a:cs typeface="Arial" pitchFamily="34" charset="-120"/>
              </a:rPr>
              <a:t>tanvi@eov.ae  ·  [direct line]</a:t>
            </a:r>
            <a:endParaRPr lang="en-US" sz="1150" dirty="0"/>
          </a:p>
        </p:txBody>
      </p:sp>
      <p:sp>
        <p:nvSpPr>
          <p:cNvPr id="7" name="Text 5"/>
          <p:cNvSpPr txBox="1"/>
          <p:nvPr/>
        </p:nvSpPr>
        <p:spPr>
          <a:xfrm>
            <a:off x="1067105" y="4552798"/>
            <a:ext cx="4762195" cy="267005"/>
          </a:xfrm>
          <a:prstGeom prst="rect">
            <a:avLst/>
          </a:prstGeom>
          <a:noFill/>
          <a:ln/>
        </p:spPr>
        <p:txBody>
          <a:bodyPr wrap="square" lIns="0" tIns="0" rIns="0" bIns="0" rtlCol="0" anchor="ctr"/>
          <a:lstStyle/>
          <a:p>
            <a:pPr indent="0" marL="0">
              <a:buNone/>
            </a:pPr>
            <a:r>
              <a:rPr lang="en-US" sz="1150" dirty="0">
                <a:solidFill>
                  <a:srgbClr val="6E7379"/>
                </a:solidFill>
                <a:latin typeface="Arial" pitchFamily="34" charset="0"/>
                <a:ea typeface="Arial" pitchFamily="34" charset="-122"/>
                <a:cs typeface="Arial" pitchFamily="34" charset="-120"/>
              </a:rPr>
              <a:t>eov.ae  ·  Abu Dhabi  ·  Dubai</a:t>
            </a:r>
            <a:endParaRPr lang="en-US" sz="1150" dirty="0"/>
          </a:p>
        </p:txBody>
      </p:sp>
      <p:pic>
        <p:nvPicPr>
          <p:cNvPr id="8" name="Image 0" descr="assets/eov-wordmark-white.png">    </p:cNvPr>
          <p:cNvPicPr>
            <a:picLocks noChangeAspect="1"/>
          </p:cNvPicPr>
          <p:nvPr/>
        </p:nvPicPr>
        <p:blipFill>
          <a:blip r:embed="rId1"/>
          <a:stretch>
            <a:fillRect/>
          </a:stretch>
        </p:blipFill>
        <p:spPr>
          <a:xfrm>
            <a:off x="8953805" y="4095598"/>
            <a:ext cx="1904695" cy="638251"/>
          </a:xfrm>
          <a:prstGeom prst="rect">
            <a:avLst/>
          </a:prstGeom>
        </p:spPr>
      </p:pic>
      <p:sp>
        <p:nvSpPr>
          <p:cNvPr id="9" name="Text 6"/>
          <p:cNvSpPr txBox="1"/>
          <p:nvPr/>
        </p:nvSpPr>
        <p:spPr>
          <a:xfrm>
            <a:off x="685800" y="6238951"/>
            <a:ext cx="10820095" cy="190195"/>
          </a:xfrm>
          <a:prstGeom prst="rect">
            <a:avLst/>
          </a:prstGeom>
          <a:noFill/>
          <a:ln/>
        </p:spPr>
        <p:txBody>
          <a:bodyPr wrap="square" lIns="0" tIns="0" rIns="0" bIns="0" rtlCol="0" anchor="ctr"/>
          <a:lstStyle/>
          <a:p>
            <a:pPr indent="0" marL="0">
              <a:buNone/>
            </a:pPr>
            <a:r>
              <a:rPr lang="en-US" sz="950" dirty="0">
                <a:solidFill>
                  <a:srgbClr val="6E7379"/>
                </a:solidFill>
                <a:latin typeface="Arial" pitchFamily="34" charset="0"/>
                <a:ea typeface="Arial" pitchFamily="34" charset="-122"/>
                <a:cs typeface="Arial" pitchFamily="34" charset="-120"/>
              </a:rPr>
              <a:t>EOV Technology Innovation  ·  Commercial-in-confidence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EOV Technology Innovation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EOV Credentials</dc:title>
  <dc:subject>PptxGenJS Presentation</dc:subject>
  <dc:creator>EOV</dc:creator>
  <cp:lastModifiedBy>EOV</cp:lastModifiedBy>
  <cp:revision>1</cp:revision>
  <dcterms:created xsi:type="dcterms:W3CDTF">2026-09-02T11:14:35Z</dcterms:created>
  <dcterms:modified xsi:type="dcterms:W3CDTF">2026-09-02T11:14:35Z</dcterms:modified>
</cp:coreProperties>
</file>