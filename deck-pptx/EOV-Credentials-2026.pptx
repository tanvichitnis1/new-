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Al Quoz unit is a working production facility. Do not use the website's 400+ figure — it reads as headcount and is qualified as teams and partnerships.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hinge. Stated once and never repeated — slide 16 echoes it without restating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tiles with client marks once naming consent is confirmed per client. A logo on a 2022 website is not consent to name a client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Founding, boutique and ingredient detail from public sources. Confirm the boutique count and whether the Paris founding date may be stated as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occasion pages exist on the site. Confirm which occasions may be shown and supply campaign imagery per occasion.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Confirmed by the client: KGS and Ferronato are two brands in one group. This slide is the hinge of the range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the PR record and this slide is finished: publications with dates and tier, retail doors, awareness study, influencer reach, and which markets US and EU distribution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films exist. Stills or the films themselves are the strongest asset on this case after the boutique photography.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Delegate count, venue and delegation composition are externally documented for the OPEC International Seminar. CONFIRM which edition EOV delivered before stating the linkage — the site says 'OPEC events'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Consent required — OPEC is intergovernmental and the Ministry federal. Still needed: the year, scope delivered,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only ships if the plural is confirmed. If Vienna was the only one, cut it — a single event overclaimed as a capability is exactly the kind of thing a government buyer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Everything after this slide is administration.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limit alongside the claim is the house move. Confirm which disciplines are in-house. Also reconcile: the website publishes three pillars, the old deck five practices, this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rule must be true today, or it comes out. It is the easiest claim in the deck for a client's technical lead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definition stage is real practice, and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 five named people, not the org chart. Also state how many work in Arabic to professional standard — buyers ask and most UAE agencies answer vaguely.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assets/eov-wordmark-white.png">    </p:cNvPr>
          <p:cNvPicPr>
            <a:picLocks noChangeAspect="1"/>
          </p:cNvPicPr>
          <p:nvPr/>
        </p:nvPicPr>
        <p:blipFill>
          <a:blip r:embed="rId1"/>
          <a:stretch>
            <a:fillRect/>
          </a:stretch>
        </p:blipFill>
        <p:spPr>
          <a:xfrm>
            <a:off x="685800" y="2381098"/>
            <a:ext cx="2476195" cy="828446"/>
          </a:xfrm>
          <a:prstGeom prst="rect">
            <a:avLst/>
          </a:prstGeom>
        </p:spPr>
      </p:pic>
      <p:sp>
        <p:nvSpPr>
          <p:cNvPr id="3" name="Text 0"/>
          <p:cNvSpPr txBox="1"/>
          <p:nvPr/>
        </p:nvSpPr>
        <p:spPr>
          <a:xfrm>
            <a:off x="685800" y="3619195"/>
            <a:ext cx="10820095" cy="285293"/>
          </a:xfrm>
          <a:prstGeom prst="rect">
            <a:avLst/>
          </a:prstGeom>
          <a:noFill/>
          <a:ln/>
        </p:spPr>
        <p:txBody>
          <a:bodyPr wrap="square" lIns="0" tIns="0" rIns="0" bIns="0" rtlCol="0" anchor="ctr"/>
          <a:lstStyle/>
          <a:p>
            <a:pPr indent="0" marL="0">
              <a:buNone/>
            </a:pPr>
            <a:r>
              <a:rPr lang="en-US" sz="1300" dirty="0">
                <a:solidFill>
                  <a:srgbClr val="B9BEC5"/>
                </a:solidFill>
                <a:latin typeface="Arial" pitchFamily="34" charset="0"/>
                <a:ea typeface="Arial" pitchFamily="34" charset="-122"/>
                <a:cs typeface="Arial" pitchFamily="34" charset="-120"/>
              </a:rPr>
              <a:t>Integrated marketing  ·  Abu Dhabi and Dubai  ·  Since 2006</a:t>
            </a:r>
            <a:endParaRPr lang="en-US" sz="1300" dirty="0"/>
          </a:p>
        </p:txBody>
      </p:sp>
      <p:sp>
        <p:nvSpPr>
          <p:cNvPr id="4" name="Text 1"/>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54D2FE"/>
                </a:solidFill>
                <a:latin typeface="Arial" pitchFamily="34" charset="0"/>
                <a:ea typeface="Arial" pitchFamily="34" charset="-122"/>
                <a:cs typeface="Arial" pitchFamily="34" charset="-120"/>
              </a:rPr>
              <a:t>CREDENTIALS  ·  2026</a:t>
            </a:r>
            <a:endParaRPr lang="en-US" sz="950" dirty="0"/>
          </a:p>
        </p:txBody>
      </p:sp>
      <p:sp>
        <p:nvSpPr>
          <p:cNvPr id="5" name="Text 2"/>
          <p:cNvSpPr txBox="1"/>
          <p:nvPr/>
        </p:nvSpPr>
        <p:spPr>
          <a:xfrm>
            <a:off x="685800" y="6238951"/>
            <a:ext cx="7619695" cy="190195"/>
          </a:xfrm>
          <a:prstGeom prst="rect">
            <a:avLst/>
          </a:prstGeom>
          <a:noFill/>
          <a:ln/>
        </p:spPr>
        <p:txBody>
          <a:bodyPr wrap="square" lIns="0" tIns="0" rIns="0" bIns="0" rtlCol="0" anchor="ctr"/>
          <a:lstStyle/>
          <a:p>
            <a:pPr indent="0" marL="0">
              <a:buNone/>
            </a:pPr>
            <a:r>
              <a:rPr lang="en-US" sz="950" dirty="0">
                <a:solidFill>
                  <a:srgbClr val="6E7379"/>
                </a:solidFill>
                <a:latin typeface="Arial" pitchFamily="34" charset="0"/>
                <a:ea typeface="Arial" pitchFamily="34" charset="-122"/>
                <a:cs typeface="Arial" pitchFamily="34" charset="-120"/>
              </a:rPr>
              <a:t>[NAME] · [TITLE] · [EMAIL] · [PHONE]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0" y="0"/>
            <a:ext cx="6248370" cy="6858000"/>
          </a:xfrm>
          <a:prstGeom prst="rect">
            <a:avLst/>
          </a:prstGeom>
          <a:solidFill>
            <a:srgbClr val="F4F6F8"/>
          </a:solidFill>
          <a:ln/>
        </p:spPr>
      </p:sp>
      <p:sp>
        <p:nvSpPr>
          <p:cNvPr id="3" name="Text 1"/>
          <p:cNvSpPr txBox="1"/>
          <p:nvPr/>
        </p:nvSpPr>
        <p:spPr>
          <a:xfrm>
            <a:off x="6228893" y="3238805"/>
            <a:ext cx="5676870" cy="381305"/>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mohamed-yousif.png · team</a:t>
            </a:r>
            <a:endParaRPr lang="en-US" sz="950" dirty="0"/>
          </a:p>
        </p:txBody>
      </p:sp>
      <p:sp>
        <p:nvSpPr>
          <p:cNvPr id="4" name="Text 2"/>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WHO WE ARE</a:t>
            </a:r>
            <a:endParaRPr lang="en-US" sz="950" dirty="0"/>
          </a:p>
        </p:txBody>
      </p:sp>
      <p:sp>
        <p:nvSpPr>
          <p:cNvPr id="5" name="Text 3"/>
          <p:cNvSpPr txBox="1"/>
          <p:nvPr/>
        </p:nvSpPr>
        <p:spPr>
          <a:xfrm>
            <a:off x="685800" y="800100"/>
            <a:ext cx="4762195" cy="1904695"/>
          </a:xfrm>
          <a:prstGeom prst="rect">
            <a:avLst/>
          </a:prstGeom>
          <a:noFill/>
          <a:ln/>
        </p:spPr>
        <p:txBody>
          <a:bodyPr wrap="square" lIns="0" tIns="0" rIns="0" bIns="0" rtlCol="0" anchor="t"/>
          <a:lstStyle/>
          <a:p>
            <a:pPr indent="0" marL="0">
              <a:lnSpc>
                <a:spcPts val="3080"/>
              </a:lnSpc>
              <a:buNone/>
            </a:pPr>
            <a:r>
              <a:rPr lang="en-US" sz="2550" b="1" dirty="0">
                <a:solidFill>
                  <a:srgbClr val="111111"/>
                </a:solidFill>
                <a:latin typeface="Arial" pitchFamily="34" charset="0"/>
                <a:ea typeface="Arial" pitchFamily="34" charset="-122"/>
                <a:cs typeface="Arial" pitchFamily="34" charset="-120"/>
              </a:rPr>
              <a:t>An Emirati-founded integrated marketing agency, working in the UAE since 2006.</a:t>
            </a:r>
            <a:endParaRPr lang="en-US" sz="2550" dirty="0"/>
          </a:p>
        </p:txBody>
      </p:sp>
      <p:sp>
        <p:nvSpPr>
          <p:cNvPr id="6" name="Text 4"/>
          <p:cNvSpPr txBox="1"/>
          <p:nvPr/>
        </p:nvSpPr>
        <p:spPr>
          <a:xfrm>
            <a:off x="685800" y="2952598"/>
            <a:ext cx="4762195" cy="571500"/>
          </a:xfrm>
          <a:prstGeom prst="rect">
            <a:avLst/>
          </a:prstGeom>
          <a:noFill/>
          <a:ln/>
        </p:spPr>
        <p:txBody>
          <a:bodyPr wrap="square" lIns="0" tIns="0" rIns="0" bIns="0" rtlCol="0" anchor="t"/>
          <a:lstStyle/>
          <a:p>
            <a:pPr indent="0" marL="0">
              <a:lnSpc>
                <a:spcPts val="1950"/>
              </a:lnSpc>
              <a:buNone/>
            </a:pPr>
            <a:r>
              <a:rPr lang="en-US" sz="1300" dirty="0">
                <a:solidFill>
                  <a:srgbClr val="5A6068"/>
                </a:solidFill>
                <a:latin typeface="Arial" pitchFamily="34" charset="0"/>
                <a:ea typeface="Arial" pitchFamily="34" charset="-122"/>
                <a:cs typeface="Arial" pitchFamily="34" charset="-120"/>
              </a:rPr>
              <a:t>Abu Dhabi office · Dubai production facility. Six disciplines under one team.</a:t>
            </a:r>
            <a:endParaRPr lang="en-US" sz="1300" dirty="0"/>
          </a:p>
        </p:txBody>
      </p:sp>
      <p:sp>
        <p:nvSpPr>
          <p:cNvPr id="7" name="Text 5"/>
          <p:cNvSpPr txBox="1"/>
          <p:nvPr/>
        </p:nvSpPr>
        <p:spPr>
          <a:xfrm>
            <a:off x="685800" y="4095598"/>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2</a:t>
            </a:r>
            <a:endParaRPr lang="en-US" sz="2850" dirty="0"/>
          </a:p>
        </p:txBody>
      </p:sp>
      <p:sp>
        <p:nvSpPr>
          <p:cNvPr id="8" name="Text 6"/>
          <p:cNvSpPr txBox="1"/>
          <p:nvPr/>
        </p:nvSpPr>
        <p:spPr>
          <a:xfrm>
            <a:off x="685800" y="4572000"/>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EMIRATES</a:t>
            </a:r>
            <a:endParaRPr lang="en-US" sz="950" dirty="0"/>
          </a:p>
        </p:txBody>
      </p:sp>
      <p:sp>
        <p:nvSpPr>
          <p:cNvPr id="9" name="Text 7"/>
          <p:cNvSpPr txBox="1"/>
          <p:nvPr/>
        </p:nvSpPr>
        <p:spPr>
          <a:xfrm>
            <a:off x="2286000" y="4095598"/>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6</a:t>
            </a:r>
            <a:endParaRPr lang="en-US" sz="2850" dirty="0"/>
          </a:p>
        </p:txBody>
      </p:sp>
      <p:sp>
        <p:nvSpPr>
          <p:cNvPr id="10" name="Text 8"/>
          <p:cNvSpPr txBox="1"/>
          <p:nvPr/>
        </p:nvSpPr>
        <p:spPr>
          <a:xfrm>
            <a:off x="2286000" y="4572000"/>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DISCIPLINES</a:t>
            </a:r>
            <a:endParaRPr lang="en-US" sz="950" dirty="0"/>
          </a:p>
        </p:txBody>
      </p:sp>
      <p:sp>
        <p:nvSpPr>
          <p:cNvPr id="11" name="Text 9"/>
          <p:cNvSpPr txBox="1"/>
          <p:nvPr/>
        </p:nvSpPr>
        <p:spPr>
          <a:xfrm>
            <a:off x="3886200" y="4095598"/>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20</a:t>
            </a:r>
            <a:endParaRPr lang="en-US" sz="2850" dirty="0"/>
          </a:p>
        </p:txBody>
      </p:sp>
      <p:sp>
        <p:nvSpPr>
          <p:cNvPr id="12" name="Text 10"/>
          <p:cNvSpPr txBox="1"/>
          <p:nvPr/>
        </p:nvSpPr>
        <p:spPr>
          <a:xfrm>
            <a:off x="3886200" y="4572000"/>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YEARS</a:t>
            </a:r>
            <a:endParaRPr lang="en-US" sz="950" dirty="0"/>
          </a:p>
        </p:txBody>
      </p:sp>
      <p:pic>
        <p:nvPicPr>
          <p:cNvPr id="13"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14" name="Text 11"/>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THE PREMISE</a:t>
            </a:r>
            <a:endParaRPr lang="en-US" sz="950" dirty="0"/>
          </a:p>
        </p:txBody>
      </p:sp>
      <p:sp>
        <p:nvSpPr>
          <p:cNvPr id="3" name="Text 1"/>
          <p:cNvSpPr txBox="1"/>
          <p:nvPr/>
        </p:nvSpPr>
        <p:spPr>
          <a:xfrm>
            <a:off x="685800" y="800100"/>
            <a:ext cx="10820095" cy="1428293"/>
          </a:xfrm>
          <a:prstGeom prst="rect">
            <a:avLst/>
          </a:prstGeom>
          <a:noFill/>
          <a:ln/>
        </p:spPr>
        <p:txBody>
          <a:bodyPr wrap="square" lIns="0" tIns="0" rIns="0" bIns="0" rtlCol="0" anchor="t"/>
          <a:lstStyle/>
          <a:p>
            <a:pPr indent="0" marL="0">
              <a:lnSpc>
                <a:spcPts val="4050"/>
              </a:lnSpc>
              <a:buNone/>
            </a:pPr>
            <a:r>
              <a:rPr lang="en-US" sz="3400" b="1" dirty="0">
                <a:solidFill>
                  <a:srgbClr val="111111"/>
                </a:solidFill>
                <a:latin typeface="Arial" pitchFamily="34" charset="0"/>
                <a:ea typeface="Arial" pitchFamily="34" charset="-122"/>
                <a:cs typeface="Arial" pitchFamily="34" charset="-120"/>
              </a:rPr>
              <a:t>Marketing bought in pieces.</a:t>
            </a:r>
            <a:endParaRPr lang="en-US" sz="3400" dirty="0"/>
          </a:p>
          <a:p>
            <a:pPr indent="0" marL="0">
              <a:lnSpc>
                <a:spcPts val="4050"/>
              </a:lnSpc>
              <a:buNone/>
            </a:pPr>
            <a:r>
              <a:rPr lang="en-US" sz="3400" b="1" dirty="0">
                <a:solidFill>
                  <a:srgbClr val="111111"/>
                </a:solidFill>
                <a:latin typeface="Arial" pitchFamily="34" charset="0"/>
                <a:ea typeface="Arial" pitchFamily="34" charset="-122"/>
                <a:cs typeface="Arial" pitchFamily="34" charset="-120"/>
              </a:rPr>
              <a:t>Nobody answerable for the whole.</a:t>
            </a:r>
            <a:endParaRPr lang="en-US" sz="3400" dirty="0"/>
          </a:p>
        </p:txBody>
      </p:sp>
      <p:sp>
        <p:nvSpPr>
          <p:cNvPr id="4" name="Text 2"/>
          <p:cNvSpPr txBox="1"/>
          <p:nvPr/>
        </p:nvSpPr>
        <p:spPr>
          <a:xfrm>
            <a:off x="685800" y="2476195"/>
            <a:ext cx="7239305" cy="533095"/>
          </a:xfrm>
          <a:prstGeom prst="rect">
            <a:avLst/>
          </a:prstGeom>
          <a:noFill/>
          <a:ln/>
        </p:spPr>
        <p:txBody>
          <a:bodyPr wrap="square" lIns="0" tIns="0" rIns="0" bIns="0" rtlCol="0" anchor="t"/>
          <a:lstStyle/>
          <a:p>
            <a:pPr indent="0" marL="0">
              <a:lnSpc>
                <a:spcPts val="1950"/>
              </a:lnSpc>
              <a:buNone/>
            </a:pPr>
            <a:r>
              <a:rPr lang="en-US" sz="1300" dirty="0">
                <a:solidFill>
                  <a:srgbClr val="5A6068"/>
                </a:solidFill>
                <a:latin typeface="Arial" pitchFamily="34" charset="0"/>
                <a:ea typeface="Arial" pitchFamily="34" charset="-122"/>
                <a:cs typeface="Arial" pitchFamily="34" charset="-120"/>
              </a:rPr>
              <a:t>Brand from one supplier, media from another, the website from a third. Each part is delivered competently. The value is lost in the joins.</a:t>
            </a:r>
            <a:endParaRPr lang="en-US" sz="1300" dirty="0"/>
          </a:p>
        </p:txBody>
      </p:sp>
      <p:sp>
        <p:nvSpPr>
          <p:cNvPr id="5" name="Shape 3"/>
          <p:cNvSpPr/>
          <p:nvPr/>
        </p:nvSpPr>
        <p:spPr>
          <a:xfrm>
            <a:off x="685800" y="3810305"/>
            <a:ext cx="10820095" cy="1143000"/>
          </a:xfrm>
          <a:prstGeom prst="roundRect">
            <a:avLst>
              <a:gd name="adj" fmla="val 8320"/>
            </a:avLst>
          </a:prstGeom>
          <a:solidFill>
            <a:srgbClr val="111111"/>
          </a:solidFill>
          <a:ln/>
        </p:spPr>
      </p:sp>
      <p:sp>
        <p:nvSpPr>
          <p:cNvPr id="6" name="Text 4"/>
          <p:cNvSpPr txBox="1"/>
          <p:nvPr/>
        </p:nvSpPr>
        <p:spPr>
          <a:xfrm>
            <a:off x="1067105" y="3810305"/>
            <a:ext cx="10058400" cy="11430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It works — until something cannot be done twice.</a:t>
            </a:r>
            <a:endParaRPr lang="en-US" sz="1900" dirty="0"/>
          </a:p>
        </p:txBody>
      </p:sp>
      <p:pic>
        <p:nvPicPr>
          <p:cNvPr id="7"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8" name="Text 5"/>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54D2FE"/>
                </a:solidFill>
                <a:latin typeface="Arial" pitchFamily="34" charset="0"/>
                <a:ea typeface="Arial" pitchFamily="34" charset="-122"/>
                <a:cs typeface="Arial" pitchFamily="34" charset="-120"/>
              </a:rPr>
              <a:t>WHAT EOV IS FOR</a:t>
            </a:r>
            <a:endParaRPr lang="en-US" sz="950" dirty="0"/>
          </a:p>
        </p:txBody>
      </p:sp>
      <p:sp>
        <p:nvSpPr>
          <p:cNvPr id="3" name="Text 1"/>
          <p:cNvSpPr txBox="1"/>
          <p:nvPr/>
        </p:nvSpPr>
        <p:spPr>
          <a:xfrm>
            <a:off x="685800" y="800100"/>
            <a:ext cx="10820095" cy="2190902"/>
          </a:xfrm>
          <a:prstGeom prst="rect">
            <a:avLst/>
          </a:prstGeom>
          <a:noFill/>
          <a:ln/>
        </p:spPr>
        <p:txBody>
          <a:bodyPr wrap="square" lIns="0" tIns="0" rIns="0" bIns="0" rtlCol="0" anchor="t"/>
          <a:lstStyle/>
          <a:p>
            <a:pPr indent="0" marL="0">
              <a:lnSpc>
                <a:spcPts val="4950"/>
              </a:lnSpc>
              <a:buNone/>
            </a:pPr>
            <a:r>
              <a:rPr lang="en-US" sz="4200" b="1" dirty="0">
                <a:solidFill>
                  <a:srgbClr val="FFFFFF"/>
                </a:solidFill>
                <a:latin typeface="Arial" pitchFamily="34" charset="0"/>
                <a:ea typeface="Arial" pitchFamily="34" charset="-122"/>
                <a:cs typeface="Arial" pitchFamily="34" charset="-120"/>
              </a:rPr>
              <a:t>Twenty years of work that had to be right the first time.</a:t>
            </a:r>
            <a:endParaRPr lang="en-US" sz="4200" dirty="0"/>
          </a:p>
        </p:txBody>
      </p:sp>
      <p:sp>
        <p:nvSpPr>
          <p:cNvPr id="4" name="Text 2"/>
          <p:cNvSpPr txBox="1"/>
          <p:nvPr/>
        </p:nvSpPr>
        <p:spPr>
          <a:xfrm>
            <a:off x="685800" y="3429000"/>
            <a:ext cx="8382305" cy="533095"/>
          </a:xfrm>
          <a:prstGeom prst="rect">
            <a:avLst/>
          </a:prstGeom>
          <a:noFill/>
          <a:ln/>
        </p:spPr>
        <p:txBody>
          <a:bodyPr wrap="square" lIns="0" tIns="0" rIns="0" bIns="0" rtlCol="0" anchor="t"/>
          <a:lstStyle/>
          <a:p>
            <a:pPr indent="0" marL="0">
              <a:lnSpc>
                <a:spcPts val="1950"/>
              </a:lnSpc>
              <a:buNone/>
            </a:pPr>
            <a:r>
              <a:rPr lang="en-US" sz="1300" dirty="0">
                <a:solidFill>
                  <a:srgbClr val="B9BEC5"/>
                </a:solidFill>
                <a:latin typeface="Arial" pitchFamily="34" charset="0"/>
                <a:ea typeface="Arial" pitchFamily="34" charset="-122"/>
                <a:cs typeface="Arial" pitchFamily="34" charset="-120"/>
              </a:rPr>
              <a:t>A national event staged abroad on a fixed date. A retail season that arrives whether the work is ready or not. A category-first launch with one window.</a:t>
            </a:r>
            <a:endParaRPr lang="en-US" sz="1300" dirty="0"/>
          </a:p>
        </p:txBody>
      </p:sp>
      <p:pic>
        <p:nvPicPr>
          <p:cNvPr id="5" name="Image 0" descr="assets/eov-wordmark-white.png">    </p:cNvPr>
          <p:cNvPicPr>
            <a:picLocks noChangeAspect="1"/>
          </p:cNvPicPr>
          <p:nvPr/>
        </p:nvPicPr>
        <p:blipFill>
          <a:blip r:embed="rId1"/>
          <a:stretch>
            <a:fillRect/>
          </a:stretch>
        </p:blipFill>
        <p:spPr>
          <a:xfrm>
            <a:off x="685800" y="6238951"/>
            <a:ext cx="571500" cy="190195"/>
          </a:xfrm>
          <a:prstGeom prst="rect">
            <a:avLst/>
          </a:prstGeom>
        </p:spPr>
      </p:pic>
      <p:sp>
        <p:nvSpPr>
          <p:cNvPr id="6" name="Text 3"/>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6E7379"/>
                </a:solidFill>
                <a:latin typeface="Arial" pitchFamily="34" charset="0"/>
                <a:ea typeface="Arial" pitchFamily="34" charset="-122"/>
                <a:cs typeface="Arial"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2667305"/>
            <a:ext cx="10820095" cy="856793"/>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The work.</a:t>
            </a:r>
            <a:endParaRPr lang="en-US" sz="4200" dirty="0"/>
          </a:p>
        </p:txBody>
      </p:sp>
      <p:sp>
        <p:nvSpPr>
          <p:cNvPr id="3" name="Text 1"/>
          <p:cNvSpPr txBox="1"/>
          <p:nvPr/>
        </p:nvSpPr>
        <p:spPr>
          <a:xfrm>
            <a:off x="685800" y="3714293"/>
            <a:ext cx="10820095" cy="228600"/>
          </a:xfrm>
          <a:prstGeom prst="rect">
            <a:avLst/>
          </a:prstGeom>
          <a:noFill/>
          <a:ln/>
        </p:spPr>
        <p:txBody>
          <a:bodyPr wrap="square" lIns="0" tIns="0" rIns="0" bIns="0" rtlCol="0" anchor="ctr"/>
          <a:lstStyle/>
          <a:p>
            <a:pPr indent="0" marL="0">
              <a:buNone/>
            </a:pPr>
            <a:r>
              <a:rPr lang="en-US" sz="950" b="1" spc="300" kern="0" dirty="0">
                <a:solidFill>
                  <a:srgbClr val="54D2FE"/>
                </a:solidFill>
                <a:latin typeface="Arial" pitchFamily="34" charset="0"/>
                <a:ea typeface="Arial" pitchFamily="34" charset="-122"/>
                <a:cs typeface="Arial" pitchFamily="34" charset="-120"/>
              </a:rPr>
              <a:t>FOUR CLIENTS · RISING STAKES</a:t>
            </a:r>
            <a:endParaRPr lang="en-US" sz="950" dirty="0"/>
          </a:p>
        </p:txBody>
      </p:sp>
      <p:pic>
        <p:nvPicPr>
          <p:cNvPr id="4" name="Image 0" descr="assets/eov-wordmark-white.png">    </p:cNvPr>
          <p:cNvPicPr>
            <a:picLocks noChangeAspect="1"/>
          </p:cNvPicPr>
          <p:nvPr/>
        </p:nvPicPr>
        <p:blipFill>
          <a:blip r:embed="rId1"/>
          <a:stretch>
            <a:fillRect/>
          </a:stretch>
        </p:blipFill>
        <p:spPr>
          <a:xfrm>
            <a:off x="685800" y="6238951"/>
            <a:ext cx="571500" cy="190195"/>
          </a:xfrm>
          <a:prstGeom prst="rect">
            <a:avLst/>
          </a:prstGeom>
        </p:spPr>
      </p:pic>
      <p:sp>
        <p:nvSpPr>
          <p:cNvPr id="5" name="Text 2"/>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6E7379"/>
                </a:solidFill>
                <a:latin typeface="Arial" pitchFamily="34" charset="0"/>
                <a:ea typeface="Arial" pitchFamily="34" charset="-122"/>
                <a:cs typeface="Arial"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CLIENTS</a:t>
            </a:r>
            <a:endParaRPr lang="en-US" sz="950" dirty="0"/>
          </a:p>
        </p:txBody>
      </p:sp>
      <p:sp>
        <p:nvSpPr>
          <p:cNvPr id="3" name="Text 1"/>
          <p:cNvSpPr txBox="1"/>
          <p:nvPr/>
        </p:nvSpPr>
        <p:spPr>
          <a:xfrm>
            <a:off x="685800" y="800100"/>
            <a:ext cx="10820095" cy="666598"/>
          </a:xfrm>
          <a:prstGeom prst="rect">
            <a:avLst/>
          </a:prstGeom>
          <a:noFill/>
          <a:ln/>
        </p:spPr>
        <p:txBody>
          <a:bodyPr wrap="square" lIns="0" tIns="0" rIns="0" bIns="0" rtlCol="0" anchor="t"/>
          <a:lstStyle/>
          <a:p>
            <a:pPr indent="0" marL="0">
              <a:lnSpc>
                <a:spcPts val="4050"/>
              </a:lnSpc>
              <a:buNone/>
            </a:pPr>
            <a:r>
              <a:rPr lang="en-US" sz="2850" b="1" dirty="0">
                <a:solidFill>
                  <a:srgbClr val="111111"/>
                </a:solidFill>
                <a:latin typeface="Arial" pitchFamily="34" charset="0"/>
                <a:ea typeface="Arial" pitchFamily="34" charset="-122"/>
                <a:cs typeface="Arial" pitchFamily="34" charset="-120"/>
              </a:rPr>
              <a:t>Twenty years across government, luxury, retail and industry.</a:t>
            </a:r>
            <a:endParaRPr lang="en-US" sz="2850" dirty="0"/>
          </a:p>
        </p:txBody>
      </p:sp>
      <p:sp>
        <p:nvSpPr>
          <p:cNvPr id="4" name="Shape 2"/>
          <p:cNvSpPr/>
          <p:nvPr/>
        </p:nvSpPr>
        <p:spPr>
          <a:xfrm>
            <a:off x="685800" y="2048256"/>
            <a:ext cx="1695298" cy="1257300"/>
          </a:xfrm>
          <a:prstGeom prst="roundRect">
            <a:avLst>
              <a:gd name="adj" fmla="val 7564"/>
            </a:avLst>
          </a:prstGeom>
          <a:solidFill>
            <a:srgbClr val="F4F6F8"/>
          </a:solidFill>
          <a:ln/>
        </p:spPr>
      </p:sp>
      <p:sp>
        <p:nvSpPr>
          <p:cNvPr id="5" name="Text 3"/>
          <p:cNvSpPr txBox="1"/>
          <p:nvPr/>
        </p:nvSpPr>
        <p:spPr>
          <a:xfrm>
            <a:off x="780898" y="2048256"/>
            <a:ext cx="1505102" cy="1257300"/>
          </a:xfrm>
          <a:prstGeom prst="rect">
            <a:avLst/>
          </a:prstGeom>
          <a:noFill/>
          <a:ln/>
        </p:spPr>
        <p:txBody>
          <a:bodyPr wrap="square" rtlCol="0" anchor="ctr"/>
          <a:lstStyle/>
          <a:p>
            <a:pPr algn="ctr" indent="0" marL="0">
              <a:buNone/>
            </a:pPr>
            <a:r>
              <a:rPr lang="en-US" sz="950" b="1" spc="120" kern="0" dirty="0">
                <a:solidFill>
                  <a:srgbClr val="8A8F98"/>
                </a:solidFill>
                <a:latin typeface="Arial" pitchFamily="34" charset="0"/>
                <a:ea typeface="Arial" pitchFamily="34" charset="-122"/>
                <a:cs typeface="Arial" pitchFamily="34" charset="-120"/>
              </a:rPr>
              <a:t>OPEC</a:t>
            </a:r>
            <a:endParaRPr lang="en-US" sz="950" dirty="0"/>
          </a:p>
        </p:txBody>
      </p:sp>
      <p:sp>
        <p:nvSpPr>
          <p:cNvPr id="6" name="Shape 4"/>
          <p:cNvSpPr/>
          <p:nvPr/>
        </p:nvSpPr>
        <p:spPr>
          <a:xfrm>
            <a:off x="2514600" y="2048256"/>
            <a:ext cx="1695298" cy="1257300"/>
          </a:xfrm>
          <a:prstGeom prst="roundRect">
            <a:avLst>
              <a:gd name="adj" fmla="val 7564"/>
            </a:avLst>
          </a:prstGeom>
          <a:solidFill>
            <a:srgbClr val="F4F6F8"/>
          </a:solidFill>
          <a:ln/>
        </p:spPr>
      </p:sp>
      <p:sp>
        <p:nvSpPr>
          <p:cNvPr id="7" name="Text 5"/>
          <p:cNvSpPr txBox="1"/>
          <p:nvPr/>
        </p:nvSpPr>
        <p:spPr>
          <a:xfrm>
            <a:off x="2609698" y="2048256"/>
            <a:ext cx="1505102" cy="1257300"/>
          </a:xfrm>
          <a:prstGeom prst="rect">
            <a:avLst/>
          </a:prstGeom>
          <a:noFill/>
          <a:ln/>
        </p:spPr>
        <p:txBody>
          <a:bodyPr wrap="square" rtlCol="0" anchor="ctr"/>
          <a:lstStyle/>
          <a:p>
            <a:pPr algn="ctr" indent="0" marL="0">
              <a:buNone/>
            </a:pPr>
            <a:r>
              <a:rPr lang="en-US" sz="950" b="1" spc="120" kern="0" dirty="0">
                <a:solidFill>
                  <a:srgbClr val="8A8F98"/>
                </a:solidFill>
                <a:latin typeface="Arial" pitchFamily="34" charset="0"/>
                <a:ea typeface="Arial" pitchFamily="34" charset="-122"/>
                <a:cs typeface="Arial" pitchFamily="34" charset="-120"/>
              </a:rPr>
              <a:t>MUBADALA</a:t>
            </a:r>
            <a:endParaRPr lang="en-US" sz="950" dirty="0"/>
          </a:p>
        </p:txBody>
      </p:sp>
      <p:sp>
        <p:nvSpPr>
          <p:cNvPr id="8" name="Shape 6"/>
          <p:cNvSpPr/>
          <p:nvPr/>
        </p:nvSpPr>
        <p:spPr>
          <a:xfrm>
            <a:off x="4343400" y="2048256"/>
            <a:ext cx="1695298" cy="1257300"/>
          </a:xfrm>
          <a:prstGeom prst="roundRect">
            <a:avLst>
              <a:gd name="adj" fmla="val 7564"/>
            </a:avLst>
          </a:prstGeom>
          <a:solidFill>
            <a:srgbClr val="F4F6F8"/>
          </a:solidFill>
          <a:ln/>
        </p:spPr>
      </p:sp>
      <p:sp>
        <p:nvSpPr>
          <p:cNvPr id="9" name="Text 7"/>
          <p:cNvSpPr txBox="1"/>
          <p:nvPr/>
        </p:nvSpPr>
        <p:spPr>
          <a:xfrm>
            <a:off x="4438498" y="2048256"/>
            <a:ext cx="1505102" cy="1257300"/>
          </a:xfrm>
          <a:prstGeom prst="rect">
            <a:avLst/>
          </a:prstGeom>
          <a:noFill/>
          <a:ln/>
        </p:spPr>
        <p:txBody>
          <a:bodyPr wrap="square" rtlCol="0" anchor="ctr"/>
          <a:lstStyle/>
          <a:p>
            <a:pPr algn="ctr" indent="0" marL="0">
              <a:buNone/>
            </a:pPr>
            <a:r>
              <a:rPr lang="en-US" sz="950" b="1" spc="120" kern="0" dirty="0">
                <a:solidFill>
                  <a:srgbClr val="8A8F98"/>
                </a:solidFill>
                <a:latin typeface="Arial" pitchFamily="34" charset="0"/>
                <a:ea typeface="Arial" pitchFamily="34" charset="-122"/>
                <a:cs typeface="Arial" pitchFamily="34" charset="-120"/>
              </a:rPr>
              <a:t>ADNOC</a:t>
            </a:r>
            <a:endParaRPr lang="en-US" sz="950" dirty="0"/>
          </a:p>
        </p:txBody>
      </p:sp>
      <p:sp>
        <p:nvSpPr>
          <p:cNvPr id="10" name="Shape 8"/>
          <p:cNvSpPr/>
          <p:nvPr/>
        </p:nvSpPr>
        <p:spPr>
          <a:xfrm>
            <a:off x="6172200" y="2048256"/>
            <a:ext cx="1695298" cy="1257300"/>
          </a:xfrm>
          <a:prstGeom prst="roundRect">
            <a:avLst>
              <a:gd name="adj" fmla="val 7564"/>
            </a:avLst>
          </a:prstGeom>
          <a:solidFill>
            <a:srgbClr val="F4F6F8"/>
          </a:solidFill>
          <a:ln/>
        </p:spPr>
      </p:sp>
      <p:sp>
        <p:nvSpPr>
          <p:cNvPr id="11" name="Text 9"/>
          <p:cNvSpPr txBox="1"/>
          <p:nvPr/>
        </p:nvSpPr>
        <p:spPr>
          <a:xfrm>
            <a:off x="6267298" y="2048256"/>
            <a:ext cx="1505102" cy="1257300"/>
          </a:xfrm>
          <a:prstGeom prst="rect">
            <a:avLst/>
          </a:prstGeom>
          <a:noFill/>
          <a:ln/>
        </p:spPr>
        <p:txBody>
          <a:bodyPr wrap="square" rtlCol="0" anchor="ctr"/>
          <a:lstStyle/>
          <a:p>
            <a:pPr algn="ctr" indent="0" marL="0">
              <a:buNone/>
            </a:pPr>
            <a:r>
              <a:rPr lang="en-US" sz="950" b="1" spc="120" kern="0" dirty="0">
                <a:solidFill>
                  <a:srgbClr val="8A8F98"/>
                </a:solidFill>
                <a:latin typeface="Arial" pitchFamily="34" charset="0"/>
                <a:ea typeface="Arial" pitchFamily="34" charset="-122"/>
                <a:cs typeface="Arial" pitchFamily="34" charset="-120"/>
              </a:rPr>
              <a:t>RTA</a:t>
            </a:r>
            <a:endParaRPr lang="en-US" sz="950" dirty="0"/>
          </a:p>
        </p:txBody>
      </p:sp>
      <p:sp>
        <p:nvSpPr>
          <p:cNvPr id="12" name="Shape 10"/>
          <p:cNvSpPr/>
          <p:nvPr/>
        </p:nvSpPr>
        <p:spPr>
          <a:xfrm>
            <a:off x="8001000" y="2048256"/>
            <a:ext cx="1695298" cy="1257300"/>
          </a:xfrm>
          <a:prstGeom prst="roundRect">
            <a:avLst>
              <a:gd name="adj" fmla="val 7564"/>
            </a:avLst>
          </a:prstGeom>
          <a:solidFill>
            <a:srgbClr val="F4F6F8"/>
          </a:solidFill>
          <a:ln/>
        </p:spPr>
      </p:sp>
      <p:sp>
        <p:nvSpPr>
          <p:cNvPr id="13" name="Text 11"/>
          <p:cNvSpPr txBox="1"/>
          <p:nvPr/>
        </p:nvSpPr>
        <p:spPr>
          <a:xfrm>
            <a:off x="8096098" y="2048256"/>
            <a:ext cx="1505102" cy="1257300"/>
          </a:xfrm>
          <a:prstGeom prst="rect">
            <a:avLst/>
          </a:prstGeom>
          <a:noFill/>
          <a:ln/>
        </p:spPr>
        <p:txBody>
          <a:bodyPr wrap="square" rtlCol="0" anchor="ctr"/>
          <a:lstStyle/>
          <a:p>
            <a:pPr algn="ctr" indent="0" marL="0">
              <a:buNone/>
            </a:pPr>
            <a:r>
              <a:rPr lang="en-US" sz="950" b="1" spc="120" kern="0" dirty="0">
                <a:solidFill>
                  <a:srgbClr val="8A8F98"/>
                </a:solidFill>
                <a:latin typeface="Arial" pitchFamily="34" charset="0"/>
                <a:ea typeface="Arial" pitchFamily="34" charset="-122"/>
                <a:cs typeface="Arial" pitchFamily="34" charset="-120"/>
              </a:rPr>
              <a:t>DEWA</a:t>
            </a:r>
            <a:endParaRPr lang="en-US" sz="950" dirty="0"/>
          </a:p>
        </p:txBody>
      </p:sp>
      <p:sp>
        <p:nvSpPr>
          <p:cNvPr id="14" name="Shape 12"/>
          <p:cNvSpPr/>
          <p:nvPr/>
        </p:nvSpPr>
        <p:spPr>
          <a:xfrm>
            <a:off x="9829800" y="2048256"/>
            <a:ext cx="1695298" cy="1257300"/>
          </a:xfrm>
          <a:prstGeom prst="roundRect">
            <a:avLst>
              <a:gd name="adj" fmla="val 7564"/>
            </a:avLst>
          </a:prstGeom>
          <a:solidFill>
            <a:srgbClr val="F4F6F8"/>
          </a:solidFill>
          <a:ln/>
        </p:spPr>
      </p:sp>
      <p:sp>
        <p:nvSpPr>
          <p:cNvPr id="15" name="Text 13"/>
          <p:cNvSpPr txBox="1"/>
          <p:nvPr/>
        </p:nvSpPr>
        <p:spPr>
          <a:xfrm>
            <a:off x="9924898" y="2048256"/>
            <a:ext cx="1505102" cy="1257300"/>
          </a:xfrm>
          <a:prstGeom prst="rect">
            <a:avLst/>
          </a:prstGeom>
          <a:noFill/>
          <a:ln/>
        </p:spPr>
        <p:txBody>
          <a:bodyPr wrap="square" rtlCol="0" anchor="ctr"/>
          <a:lstStyle/>
          <a:p>
            <a:pPr algn="ctr" indent="0" marL="0">
              <a:buNone/>
            </a:pPr>
            <a:r>
              <a:rPr lang="en-US" sz="950" b="1" spc="120" kern="0" dirty="0">
                <a:solidFill>
                  <a:srgbClr val="8A8F98"/>
                </a:solidFill>
                <a:latin typeface="Arial" pitchFamily="34" charset="0"/>
                <a:ea typeface="Arial" pitchFamily="34" charset="-122"/>
                <a:cs typeface="Arial" pitchFamily="34" charset="-120"/>
              </a:rPr>
              <a:t>ESMA</a:t>
            </a:r>
            <a:endParaRPr lang="en-US" sz="950" dirty="0"/>
          </a:p>
        </p:txBody>
      </p:sp>
      <p:sp>
        <p:nvSpPr>
          <p:cNvPr id="16" name="Shape 14"/>
          <p:cNvSpPr/>
          <p:nvPr/>
        </p:nvSpPr>
        <p:spPr>
          <a:xfrm>
            <a:off x="685800" y="3476549"/>
            <a:ext cx="1695298" cy="1257300"/>
          </a:xfrm>
          <a:prstGeom prst="roundRect">
            <a:avLst>
              <a:gd name="adj" fmla="val 7564"/>
            </a:avLst>
          </a:prstGeom>
          <a:solidFill>
            <a:srgbClr val="F4F6F8"/>
          </a:solidFill>
          <a:ln/>
        </p:spPr>
      </p:sp>
      <p:sp>
        <p:nvSpPr>
          <p:cNvPr id="17" name="Text 15"/>
          <p:cNvSpPr txBox="1"/>
          <p:nvPr/>
        </p:nvSpPr>
        <p:spPr>
          <a:xfrm>
            <a:off x="780898" y="3476549"/>
            <a:ext cx="1505102" cy="1257300"/>
          </a:xfrm>
          <a:prstGeom prst="rect">
            <a:avLst/>
          </a:prstGeom>
          <a:noFill/>
          <a:ln/>
        </p:spPr>
        <p:txBody>
          <a:bodyPr wrap="square" rtlCol="0" anchor="ctr"/>
          <a:lstStyle/>
          <a:p>
            <a:pPr algn="ctr" indent="0" marL="0">
              <a:buNone/>
            </a:pPr>
            <a:r>
              <a:rPr lang="en-US" sz="950" b="1" spc="120" kern="0" dirty="0">
                <a:solidFill>
                  <a:srgbClr val="8A8F98"/>
                </a:solidFill>
                <a:latin typeface="Arial" pitchFamily="34" charset="0"/>
                <a:ea typeface="Arial" pitchFamily="34" charset="-122"/>
                <a:cs typeface="Arial" pitchFamily="34" charset="-120"/>
              </a:rPr>
              <a:t>MIN. OF ENERGY</a:t>
            </a:r>
            <a:endParaRPr lang="en-US" sz="950" dirty="0"/>
          </a:p>
        </p:txBody>
      </p:sp>
      <p:sp>
        <p:nvSpPr>
          <p:cNvPr id="18" name="Shape 16"/>
          <p:cNvSpPr/>
          <p:nvPr/>
        </p:nvSpPr>
        <p:spPr>
          <a:xfrm>
            <a:off x="2514600" y="3476549"/>
            <a:ext cx="1695298" cy="1257300"/>
          </a:xfrm>
          <a:prstGeom prst="roundRect">
            <a:avLst>
              <a:gd name="adj" fmla="val 7564"/>
            </a:avLst>
          </a:prstGeom>
          <a:solidFill>
            <a:srgbClr val="F4F6F8"/>
          </a:solidFill>
          <a:ln/>
        </p:spPr>
      </p:sp>
      <p:sp>
        <p:nvSpPr>
          <p:cNvPr id="19" name="Text 17"/>
          <p:cNvSpPr txBox="1"/>
          <p:nvPr/>
        </p:nvSpPr>
        <p:spPr>
          <a:xfrm>
            <a:off x="2609698" y="3476549"/>
            <a:ext cx="1505102" cy="1257300"/>
          </a:xfrm>
          <a:prstGeom prst="rect">
            <a:avLst/>
          </a:prstGeom>
          <a:noFill/>
          <a:ln/>
        </p:spPr>
        <p:txBody>
          <a:bodyPr wrap="square" rtlCol="0" anchor="ctr"/>
          <a:lstStyle/>
          <a:p>
            <a:pPr algn="ctr" indent="0" marL="0">
              <a:buNone/>
            </a:pPr>
            <a:r>
              <a:rPr lang="en-US" sz="950" b="1" spc="120" kern="0" dirty="0">
                <a:solidFill>
                  <a:srgbClr val="8A8F98"/>
                </a:solidFill>
                <a:latin typeface="Arial" pitchFamily="34" charset="0"/>
                <a:ea typeface="Arial" pitchFamily="34" charset="-122"/>
                <a:cs typeface="Arial" pitchFamily="34" charset="-120"/>
              </a:rPr>
              <a:t>MIN. OF ECONOMY</a:t>
            </a:r>
            <a:endParaRPr lang="en-US" sz="950" dirty="0"/>
          </a:p>
        </p:txBody>
      </p:sp>
      <p:sp>
        <p:nvSpPr>
          <p:cNvPr id="20" name="Shape 18"/>
          <p:cNvSpPr/>
          <p:nvPr/>
        </p:nvSpPr>
        <p:spPr>
          <a:xfrm>
            <a:off x="4343400" y="3476549"/>
            <a:ext cx="1695298" cy="1257300"/>
          </a:xfrm>
          <a:prstGeom prst="roundRect">
            <a:avLst>
              <a:gd name="adj" fmla="val 7564"/>
            </a:avLst>
          </a:prstGeom>
          <a:solidFill>
            <a:srgbClr val="F4F6F8"/>
          </a:solidFill>
          <a:ln/>
        </p:spPr>
      </p:sp>
      <p:sp>
        <p:nvSpPr>
          <p:cNvPr id="21" name="Text 19"/>
          <p:cNvSpPr txBox="1"/>
          <p:nvPr/>
        </p:nvSpPr>
        <p:spPr>
          <a:xfrm>
            <a:off x="4438498" y="3476549"/>
            <a:ext cx="1505102" cy="1257300"/>
          </a:xfrm>
          <a:prstGeom prst="rect">
            <a:avLst/>
          </a:prstGeom>
          <a:noFill/>
          <a:ln/>
        </p:spPr>
        <p:txBody>
          <a:bodyPr wrap="square" rtlCol="0" anchor="ctr"/>
          <a:lstStyle/>
          <a:p>
            <a:pPr algn="ctr" indent="0" marL="0">
              <a:buNone/>
            </a:pPr>
            <a:r>
              <a:rPr lang="en-US" sz="950" b="1" spc="120" kern="0" dirty="0">
                <a:solidFill>
                  <a:srgbClr val="8A8F98"/>
                </a:solidFill>
                <a:latin typeface="Arial" pitchFamily="34" charset="0"/>
                <a:ea typeface="Arial" pitchFamily="34" charset="-122"/>
                <a:cs typeface="Arial" pitchFamily="34" charset="-120"/>
              </a:rPr>
              <a:t>FCA</a:t>
            </a:r>
            <a:endParaRPr lang="en-US" sz="950" dirty="0"/>
          </a:p>
        </p:txBody>
      </p:sp>
      <p:sp>
        <p:nvSpPr>
          <p:cNvPr id="22" name="Shape 20"/>
          <p:cNvSpPr/>
          <p:nvPr/>
        </p:nvSpPr>
        <p:spPr>
          <a:xfrm>
            <a:off x="6172200" y="3476549"/>
            <a:ext cx="1695298" cy="1257300"/>
          </a:xfrm>
          <a:prstGeom prst="roundRect">
            <a:avLst>
              <a:gd name="adj" fmla="val 7564"/>
            </a:avLst>
          </a:prstGeom>
          <a:solidFill>
            <a:srgbClr val="F4F6F8"/>
          </a:solidFill>
          <a:ln/>
        </p:spPr>
      </p:sp>
      <p:sp>
        <p:nvSpPr>
          <p:cNvPr id="23" name="Text 21"/>
          <p:cNvSpPr txBox="1"/>
          <p:nvPr/>
        </p:nvSpPr>
        <p:spPr>
          <a:xfrm>
            <a:off x="6267298" y="3476549"/>
            <a:ext cx="1505102" cy="1257300"/>
          </a:xfrm>
          <a:prstGeom prst="rect">
            <a:avLst/>
          </a:prstGeom>
          <a:noFill/>
          <a:ln/>
        </p:spPr>
        <p:txBody>
          <a:bodyPr wrap="square" rtlCol="0" anchor="ctr"/>
          <a:lstStyle/>
          <a:p>
            <a:pPr algn="ctr" indent="0" marL="0">
              <a:buNone/>
            </a:pPr>
            <a:r>
              <a:rPr lang="en-US" sz="950" b="1" spc="120" kern="0" dirty="0">
                <a:solidFill>
                  <a:srgbClr val="8A8F98"/>
                </a:solidFill>
                <a:latin typeface="Arial" pitchFamily="34" charset="0"/>
                <a:ea typeface="Arial" pitchFamily="34" charset="-122"/>
                <a:cs typeface="Arial" pitchFamily="34" charset="-120"/>
              </a:rPr>
              <a:t>DAMAC</a:t>
            </a:r>
            <a:endParaRPr lang="en-US" sz="950" dirty="0"/>
          </a:p>
        </p:txBody>
      </p:sp>
      <p:sp>
        <p:nvSpPr>
          <p:cNvPr id="24" name="Shape 22"/>
          <p:cNvSpPr/>
          <p:nvPr/>
        </p:nvSpPr>
        <p:spPr>
          <a:xfrm>
            <a:off x="8001000" y="3476549"/>
            <a:ext cx="1695298" cy="1257300"/>
          </a:xfrm>
          <a:prstGeom prst="roundRect">
            <a:avLst>
              <a:gd name="adj" fmla="val 7564"/>
            </a:avLst>
          </a:prstGeom>
          <a:solidFill>
            <a:srgbClr val="F4F6F8"/>
          </a:solidFill>
          <a:ln/>
        </p:spPr>
      </p:sp>
      <p:sp>
        <p:nvSpPr>
          <p:cNvPr id="25" name="Text 23"/>
          <p:cNvSpPr txBox="1"/>
          <p:nvPr/>
        </p:nvSpPr>
        <p:spPr>
          <a:xfrm>
            <a:off x="8096098" y="3476549"/>
            <a:ext cx="1505102" cy="1257300"/>
          </a:xfrm>
          <a:prstGeom prst="rect">
            <a:avLst/>
          </a:prstGeom>
          <a:noFill/>
          <a:ln/>
        </p:spPr>
        <p:txBody>
          <a:bodyPr wrap="square" rtlCol="0" anchor="ctr"/>
          <a:lstStyle/>
          <a:p>
            <a:pPr algn="ctr" indent="0" marL="0">
              <a:buNone/>
            </a:pPr>
            <a:r>
              <a:rPr lang="en-US" sz="950" b="1" spc="120" kern="0" dirty="0">
                <a:solidFill>
                  <a:srgbClr val="8A8F98"/>
                </a:solidFill>
                <a:latin typeface="Arial" pitchFamily="34" charset="0"/>
                <a:ea typeface="Arial" pitchFamily="34" charset="-122"/>
                <a:cs typeface="Arial" pitchFamily="34" charset="-120"/>
              </a:rPr>
              <a:t>HMS</a:t>
            </a:r>
            <a:endParaRPr lang="en-US" sz="950" dirty="0"/>
          </a:p>
        </p:txBody>
      </p:sp>
      <p:sp>
        <p:nvSpPr>
          <p:cNvPr id="26" name="Shape 24"/>
          <p:cNvSpPr/>
          <p:nvPr/>
        </p:nvSpPr>
        <p:spPr>
          <a:xfrm>
            <a:off x="9829800" y="3476549"/>
            <a:ext cx="1695298" cy="1257300"/>
          </a:xfrm>
          <a:prstGeom prst="roundRect">
            <a:avLst>
              <a:gd name="adj" fmla="val 7564"/>
            </a:avLst>
          </a:prstGeom>
          <a:solidFill>
            <a:srgbClr val="F4F6F8"/>
          </a:solidFill>
          <a:ln/>
        </p:spPr>
      </p:sp>
      <p:sp>
        <p:nvSpPr>
          <p:cNvPr id="27" name="Text 25"/>
          <p:cNvSpPr txBox="1"/>
          <p:nvPr/>
        </p:nvSpPr>
        <p:spPr>
          <a:xfrm>
            <a:off x="9924898" y="3476549"/>
            <a:ext cx="1505102" cy="1257300"/>
          </a:xfrm>
          <a:prstGeom prst="rect">
            <a:avLst/>
          </a:prstGeom>
          <a:noFill/>
          <a:ln/>
        </p:spPr>
        <p:txBody>
          <a:bodyPr wrap="square" rtlCol="0" anchor="ctr"/>
          <a:lstStyle/>
          <a:p>
            <a:pPr algn="ctr" indent="0" marL="0">
              <a:buNone/>
            </a:pPr>
            <a:r>
              <a:rPr lang="en-US" sz="950" b="1" spc="120" kern="0" dirty="0">
                <a:solidFill>
                  <a:srgbClr val="8A8F98"/>
                </a:solidFill>
                <a:latin typeface="Arial" pitchFamily="34" charset="0"/>
                <a:ea typeface="Arial" pitchFamily="34" charset="-122"/>
                <a:cs typeface="Arial" pitchFamily="34" charset="-120"/>
              </a:rPr>
              <a:t>MBR</a:t>
            </a:r>
            <a:endParaRPr lang="en-US" sz="950" dirty="0"/>
          </a:p>
        </p:txBody>
      </p:sp>
      <p:sp>
        <p:nvSpPr>
          <p:cNvPr id="28" name="Text 26"/>
          <p:cNvSpPr txBox="1"/>
          <p:nvPr/>
        </p:nvSpPr>
        <p:spPr>
          <a:xfrm>
            <a:off x="685800" y="5095951"/>
            <a:ext cx="10820095" cy="247802"/>
          </a:xfrm>
          <a:prstGeom prst="rect">
            <a:avLst/>
          </a:prstGeom>
          <a:noFill/>
          <a:ln/>
        </p:spPr>
        <p:txBody>
          <a:bodyPr wrap="square" lIns="0" tIns="0" rIns="0" bIns="0" rtlCol="0" anchor="ctr"/>
          <a:lstStyle/>
          <a:p>
            <a:pPr indent="0" marL="0">
              <a:buNone/>
            </a:pPr>
            <a:r>
              <a:rPr lang="en-US" sz="1150" dirty="0">
                <a:solidFill>
                  <a:srgbClr val="5A6068"/>
                </a:solidFill>
                <a:latin typeface="Arial" pitchFamily="34" charset="0"/>
                <a:ea typeface="Arial" pitchFamily="34" charset="-122"/>
                <a:cs typeface="Arial" pitchFamily="34" charset="-120"/>
              </a:rPr>
              <a:t>Also SPSA · MOPA · ADAEGP · POD/DCD · Pension Fund · ADAFSA · Department of Economic Development</a:t>
            </a:r>
            <a:endParaRPr lang="en-US" sz="1150" dirty="0"/>
          </a:p>
        </p:txBody>
      </p:sp>
      <p:pic>
        <p:nvPicPr>
          <p:cNvPr id="29"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30" name="Text 27"/>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54D2FE"/>
                </a:solidFill>
                <a:latin typeface="Arial" pitchFamily="34" charset="0"/>
                <a:ea typeface="Arial" pitchFamily="34" charset="-122"/>
                <a:cs typeface="Arial" pitchFamily="34" charset="-120"/>
              </a:rPr>
              <a:t>FORREY &amp; GALLAND · PARIS, LA BELLE ÉPOQUE</a:t>
            </a:r>
            <a:endParaRPr lang="en-US" sz="950" dirty="0"/>
          </a:p>
        </p:txBody>
      </p:sp>
      <p:sp>
        <p:nvSpPr>
          <p:cNvPr id="3" name="Text 1"/>
          <p:cNvSpPr txBox="1"/>
          <p:nvPr/>
        </p:nvSpPr>
        <p:spPr>
          <a:xfrm>
            <a:off x="685800" y="800100"/>
            <a:ext cx="10820095" cy="1238098"/>
          </a:xfrm>
          <a:prstGeom prst="rect">
            <a:avLst/>
          </a:prstGeom>
          <a:noFill/>
          <a:ln/>
        </p:spPr>
        <p:txBody>
          <a:bodyPr wrap="square" lIns="0" tIns="0" rIns="0" bIns="0" rtlCol="0" anchor="t"/>
          <a:lstStyle/>
          <a:p>
            <a:pPr indent="0" marL="0">
              <a:lnSpc>
                <a:spcPts val="3600"/>
              </a:lnSpc>
              <a:buNone/>
            </a:pPr>
            <a:r>
              <a:rPr lang="en-US" sz="3000" b="1" dirty="0">
                <a:solidFill>
                  <a:srgbClr val="FFFFFF"/>
                </a:solidFill>
                <a:latin typeface="Arial" pitchFamily="34" charset="0"/>
                <a:ea typeface="Arial" pitchFamily="34" charset="-122"/>
                <a:cs typeface="Arial" pitchFamily="34" charset="-120"/>
              </a:rPr>
              <a:t>A Parisian chocolate house, reintroduced to the Gulf.</a:t>
            </a:r>
            <a:endParaRPr lang="en-US" sz="3000" dirty="0"/>
          </a:p>
        </p:txBody>
      </p:sp>
      <p:sp>
        <p:nvSpPr>
          <p:cNvPr id="4" name="Text 2"/>
          <p:cNvSpPr txBox="1"/>
          <p:nvPr/>
        </p:nvSpPr>
        <p:spPr>
          <a:xfrm>
            <a:off x="685800" y="2190902"/>
            <a:ext cx="8572500" cy="666598"/>
          </a:xfrm>
          <a:prstGeom prst="rect">
            <a:avLst/>
          </a:prstGeom>
          <a:noFill/>
          <a:ln/>
        </p:spPr>
        <p:txBody>
          <a:bodyPr wrap="square" lIns="0" tIns="0" rIns="0" bIns="0" rtlCol="0" anchor="t"/>
          <a:lstStyle/>
          <a:p>
            <a:pPr indent="0" marL="0">
              <a:lnSpc>
                <a:spcPts val="1950"/>
              </a:lnSpc>
              <a:buNone/>
            </a:pPr>
            <a:r>
              <a:rPr lang="en-US" sz="1300" dirty="0">
                <a:solidFill>
                  <a:srgbClr val="B9BEC5"/>
                </a:solidFill>
                <a:latin typeface="Arial" pitchFamily="34" charset="0"/>
                <a:ea typeface="Arial" pitchFamily="34" charset="-122"/>
                <a:cs typeface="Arial" pitchFamily="34" charset="-120"/>
              </a:rPr>
              <a:t>Two families, Forrey and Galland, founded the house in Paris in the 1900s. It now trades from The Dubai Mall, working saffron, dates, pistachios and rose into a French craft tradition.</a:t>
            </a:r>
            <a:endParaRPr lang="en-US" sz="1300" dirty="0"/>
          </a:p>
        </p:txBody>
      </p:sp>
      <p:sp>
        <p:nvSpPr>
          <p:cNvPr id="5" name="Text 3"/>
          <p:cNvSpPr txBox="1"/>
          <p:nvPr/>
        </p:nvSpPr>
        <p:spPr>
          <a:xfrm>
            <a:off x="685800" y="3238805"/>
            <a:ext cx="1943100" cy="437998"/>
          </a:xfrm>
          <a:prstGeom prst="rect">
            <a:avLst/>
          </a:prstGeom>
          <a:noFill/>
          <a:ln/>
        </p:spPr>
        <p:txBody>
          <a:bodyPr wrap="square" lIns="0" tIns="0" rIns="0" bIns="0" rtlCol="0" anchor="ctr"/>
          <a:lstStyle/>
          <a:p>
            <a:pPr indent="0" marL="0">
              <a:buNone/>
            </a:pPr>
            <a:r>
              <a:rPr lang="en-US" sz="2850" b="1" dirty="0">
                <a:solidFill>
                  <a:srgbClr val="FFFFFF"/>
                </a:solidFill>
                <a:latin typeface="Arial" pitchFamily="34" charset="0"/>
                <a:ea typeface="Arial" pitchFamily="34" charset="-122"/>
                <a:cs typeface="Arial" pitchFamily="34" charset="-120"/>
              </a:rPr>
              <a:t>1900s</a:t>
            </a:r>
            <a:endParaRPr lang="en-US" sz="2850" dirty="0"/>
          </a:p>
        </p:txBody>
      </p:sp>
      <p:sp>
        <p:nvSpPr>
          <p:cNvPr id="6" name="Text 4"/>
          <p:cNvSpPr txBox="1"/>
          <p:nvPr/>
        </p:nvSpPr>
        <p:spPr>
          <a:xfrm>
            <a:off x="685800" y="3715207"/>
            <a:ext cx="1905610"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54D2FE"/>
                </a:solidFill>
                <a:latin typeface="Arial" pitchFamily="34" charset="0"/>
                <a:ea typeface="Arial" pitchFamily="34" charset="-122"/>
                <a:cs typeface="Arial" pitchFamily="34" charset="-120"/>
              </a:rPr>
              <a:t>FOUNDED, PARIS</a:t>
            </a:r>
            <a:endParaRPr lang="en-US" sz="950" dirty="0"/>
          </a:p>
        </p:txBody>
      </p:sp>
      <p:sp>
        <p:nvSpPr>
          <p:cNvPr id="7" name="Text 5"/>
          <p:cNvSpPr txBox="1"/>
          <p:nvPr/>
        </p:nvSpPr>
        <p:spPr>
          <a:xfrm>
            <a:off x="2781605" y="3238805"/>
            <a:ext cx="1943100" cy="437998"/>
          </a:xfrm>
          <a:prstGeom prst="rect">
            <a:avLst/>
          </a:prstGeom>
          <a:noFill/>
          <a:ln/>
        </p:spPr>
        <p:txBody>
          <a:bodyPr wrap="square" lIns="0" tIns="0" rIns="0" bIns="0" rtlCol="0" anchor="ctr"/>
          <a:lstStyle/>
          <a:p>
            <a:pPr indent="0" marL="0">
              <a:buNone/>
            </a:pPr>
            <a:r>
              <a:rPr lang="en-US" sz="2850" b="1" dirty="0">
                <a:solidFill>
                  <a:srgbClr val="FFFFFF"/>
                </a:solidFill>
                <a:latin typeface="Arial" pitchFamily="34" charset="0"/>
                <a:ea typeface="Arial" pitchFamily="34" charset="-122"/>
                <a:cs typeface="Arial" pitchFamily="34" charset="-120"/>
              </a:rPr>
              <a:t>100</a:t>
            </a:r>
            <a:endParaRPr lang="en-US" sz="2850" dirty="0"/>
          </a:p>
        </p:txBody>
      </p:sp>
      <p:sp>
        <p:nvSpPr>
          <p:cNvPr id="8" name="Text 6"/>
          <p:cNvSpPr txBox="1"/>
          <p:nvPr/>
        </p:nvSpPr>
        <p:spPr>
          <a:xfrm>
            <a:off x="2781605" y="3715207"/>
            <a:ext cx="1905610"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54D2FE"/>
                </a:solidFill>
                <a:latin typeface="Arial" pitchFamily="34" charset="0"/>
                <a:ea typeface="Arial" pitchFamily="34" charset="-122"/>
                <a:cs typeface="Arial" pitchFamily="34" charset="-120"/>
              </a:rPr>
              <a:t>YEARS OF THE HOUSE</a:t>
            </a:r>
            <a:endParaRPr lang="en-US" sz="950" dirty="0"/>
          </a:p>
        </p:txBody>
      </p:sp>
      <p:sp>
        <p:nvSpPr>
          <p:cNvPr id="9" name="Text 7"/>
          <p:cNvSpPr txBox="1"/>
          <p:nvPr/>
        </p:nvSpPr>
        <p:spPr>
          <a:xfrm>
            <a:off x="4877410" y="3238805"/>
            <a:ext cx="1943100" cy="437998"/>
          </a:xfrm>
          <a:prstGeom prst="rect">
            <a:avLst/>
          </a:prstGeom>
          <a:noFill/>
          <a:ln/>
        </p:spPr>
        <p:txBody>
          <a:bodyPr wrap="square" lIns="0" tIns="0" rIns="0" bIns="0" rtlCol="0" anchor="ctr"/>
          <a:lstStyle/>
          <a:p>
            <a:pPr indent="0" marL="0">
              <a:buNone/>
            </a:pPr>
            <a:r>
              <a:rPr lang="en-US" sz="2850" b="1" dirty="0">
                <a:solidFill>
                  <a:srgbClr val="FFFFFF"/>
                </a:solidFill>
                <a:latin typeface="Arial" pitchFamily="34" charset="0"/>
                <a:ea typeface="Arial" pitchFamily="34" charset="-122"/>
                <a:cs typeface="Arial" pitchFamily="34" charset="-120"/>
              </a:rPr>
              <a:t>Dubai Mall</a:t>
            </a:r>
            <a:endParaRPr lang="en-US" sz="2850" dirty="0"/>
          </a:p>
        </p:txBody>
      </p:sp>
      <p:sp>
        <p:nvSpPr>
          <p:cNvPr id="10" name="Text 8"/>
          <p:cNvSpPr txBox="1"/>
          <p:nvPr/>
        </p:nvSpPr>
        <p:spPr>
          <a:xfrm>
            <a:off x="4877410" y="3715207"/>
            <a:ext cx="1905610"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54D2FE"/>
                </a:solidFill>
                <a:latin typeface="Arial" pitchFamily="34" charset="0"/>
                <a:ea typeface="Arial" pitchFamily="34" charset="-122"/>
                <a:cs typeface="Arial" pitchFamily="34" charset="-120"/>
              </a:rPr>
              <a:t>FLAGSHIP BOUTIQUE</a:t>
            </a:r>
            <a:endParaRPr lang="en-US" sz="950" dirty="0"/>
          </a:p>
        </p:txBody>
      </p:sp>
      <p:sp>
        <p:nvSpPr>
          <p:cNvPr id="11" name="Text 9"/>
          <p:cNvSpPr txBox="1"/>
          <p:nvPr/>
        </p:nvSpPr>
        <p:spPr>
          <a:xfrm>
            <a:off x="6973214" y="3238805"/>
            <a:ext cx="1943100" cy="437998"/>
          </a:xfrm>
          <a:prstGeom prst="rect">
            <a:avLst/>
          </a:prstGeom>
          <a:noFill/>
          <a:ln/>
        </p:spPr>
        <p:txBody>
          <a:bodyPr wrap="square" lIns="0" tIns="0" rIns="0" bIns="0" rtlCol="0" anchor="ctr"/>
          <a:lstStyle/>
          <a:p>
            <a:pPr indent="0" marL="0">
              <a:buNone/>
            </a:pPr>
            <a:r>
              <a:rPr lang="en-US" sz="2850" b="1" dirty="0">
                <a:solidFill>
                  <a:srgbClr val="FFFFFF"/>
                </a:solidFill>
                <a:latin typeface="Arial" pitchFamily="34" charset="0"/>
                <a:ea typeface="Arial" pitchFamily="34" charset="-122"/>
                <a:cs typeface="Arial" pitchFamily="34" charset="-120"/>
              </a:rPr>
              <a:t>5-star</a:t>
            </a:r>
            <a:endParaRPr lang="en-US" sz="2850" dirty="0"/>
          </a:p>
        </p:txBody>
      </p:sp>
      <p:sp>
        <p:nvSpPr>
          <p:cNvPr id="12" name="Text 10"/>
          <p:cNvSpPr txBox="1"/>
          <p:nvPr/>
        </p:nvSpPr>
        <p:spPr>
          <a:xfrm>
            <a:off x="6973214" y="3715207"/>
            <a:ext cx="1905610"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54D2FE"/>
                </a:solidFill>
                <a:latin typeface="Arial" pitchFamily="34" charset="0"/>
                <a:ea typeface="Arial" pitchFamily="34" charset="-122"/>
                <a:cs typeface="Arial" pitchFamily="34" charset="-120"/>
              </a:rPr>
              <a:t>HOTELS, AIRLINES, VIP</a:t>
            </a:r>
            <a:endParaRPr lang="en-US" sz="950" dirty="0"/>
          </a:p>
        </p:txBody>
      </p:sp>
      <p:sp>
        <p:nvSpPr>
          <p:cNvPr id="13" name="Shape 11"/>
          <p:cNvSpPr/>
          <p:nvPr/>
        </p:nvSpPr>
        <p:spPr>
          <a:xfrm>
            <a:off x="685800" y="4572000"/>
            <a:ext cx="10820095" cy="1428293"/>
          </a:xfrm>
          <a:prstGeom prst="roundRect">
            <a:avLst>
              <a:gd name="adj" fmla="val 6658"/>
            </a:avLst>
          </a:prstGeom>
          <a:solidFill>
            <a:srgbClr val="111111"/>
          </a:solidFill>
          <a:ln/>
        </p:spPr>
      </p:sp>
      <p:sp>
        <p:nvSpPr>
          <p:cNvPr id="14" name="Text 12"/>
          <p:cNvSpPr txBox="1"/>
          <p:nvPr/>
        </p:nvSpPr>
        <p:spPr>
          <a:xfrm>
            <a:off x="819302" y="5115154"/>
            <a:ext cx="10553090"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FG-KINARA-1.PNG</a:t>
            </a:r>
            <a:endParaRPr lang="en-US" sz="950" dirty="0"/>
          </a:p>
        </p:txBody>
      </p:sp>
      <p:pic>
        <p:nvPicPr>
          <p:cNvPr id="15" name="Image 0" descr="assets/eov-wordmark-white.png">    </p:cNvPr>
          <p:cNvPicPr>
            <a:picLocks noChangeAspect="1"/>
          </p:cNvPicPr>
          <p:nvPr/>
        </p:nvPicPr>
        <p:blipFill>
          <a:blip r:embed="rId1"/>
          <a:stretch>
            <a:fillRect/>
          </a:stretch>
        </p:blipFill>
        <p:spPr>
          <a:xfrm>
            <a:off x="685800" y="6238951"/>
            <a:ext cx="571500" cy="190195"/>
          </a:xfrm>
          <a:prstGeom prst="rect">
            <a:avLst/>
          </a:prstGeom>
        </p:spPr>
      </p:pic>
      <p:sp>
        <p:nvSpPr>
          <p:cNvPr id="16" name="Text 13"/>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6E7379"/>
                </a:solidFill>
                <a:latin typeface="Arial" pitchFamily="34" charset="0"/>
                <a:ea typeface="Arial" pitchFamily="34" charset="-122"/>
                <a:cs typeface="Arial"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0" y="0"/>
            <a:ext cx="6248370" cy="6858000"/>
          </a:xfrm>
          <a:prstGeom prst="rect">
            <a:avLst/>
          </a:prstGeom>
          <a:solidFill>
            <a:srgbClr val="F4F6F8"/>
          </a:solidFill>
          <a:ln/>
        </p:spPr>
      </p:sp>
      <p:sp>
        <p:nvSpPr>
          <p:cNvPr id="3" name="Text 1"/>
          <p:cNvSpPr txBox="1"/>
          <p:nvPr/>
        </p:nvSpPr>
        <p:spPr>
          <a:xfrm>
            <a:off x="6228893" y="3238805"/>
            <a:ext cx="5676870" cy="381305"/>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CEYLON-RANGE.PNG</a:t>
            </a:r>
            <a:endParaRPr lang="en-US" sz="950" dirty="0"/>
          </a:p>
        </p:txBody>
      </p:sp>
      <p:sp>
        <p:nvSpPr>
          <p:cNvPr id="4" name="Text 2"/>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FORREY &amp; GALLAND · LUXURY CONFECTIONERY</a:t>
            </a:r>
            <a:endParaRPr lang="en-US" sz="950" dirty="0"/>
          </a:p>
        </p:txBody>
      </p:sp>
      <p:sp>
        <p:nvSpPr>
          <p:cNvPr id="5" name="Text 3"/>
          <p:cNvSpPr txBox="1"/>
          <p:nvPr/>
        </p:nvSpPr>
        <p:spPr>
          <a:xfrm>
            <a:off x="685800" y="800100"/>
            <a:ext cx="4762195" cy="1809598"/>
          </a:xfrm>
          <a:prstGeom prst="rect">
            <a:avLst/>
          </a:prstGeom>
          <a:noFill/>
          <a:ln/>
        </p:spPr>
        <p:txBody>
          <a:bodyPr wrap="square" lIns="0" tIns="0" rIns="0" bIns="0" rtlCol="0" anchor="t"/>
          <a:lstStyle/>
          <a:p>
            <a:pPr indent="0" marL="0">
              <a:lnSpc>
                <a:spcPts val="3080"/>
              </a:lnSpc>
              <a:buNone/>
            </a:pPr>
            <a:r>
              <a:rPr lang="en-US" sz="2550" b="1" dirty="0">
                <a:solidFill>
                  <a:srgbClr val="111111"/>
                </a:solidFill>
                <a:latin typeface="Arial" pitchFamily="34" charset="0"/>
                <a:ea typeface="Arial" pitchFamily="34" charset="-122"/>
                <a:cs typeface="Arial" pitchFamily="34" charset="-120"/>
              </a:rPr>
              <a:t>Search visibility up 3.4×, with no paid media.</a:t>
            </a:r>
            <a:endParaRPr lang="en-US" sz="2550" dirty="0"/>
          </a:p>
        </p:txBody>
      </p:sp>
      <p:sp>
        <p:nvSpPr>
          <p:cNvPr id="6" name="Text 4"/>
          <p:cNvSpPr txBox="1"/>
          <p:nvPr/>
        </p:nvSpPr>
        <p:spPr>
          <a:xfrm>
            <a:off x="685800" y="2381098"/>
            <a:ext cx="4762195" cy="1047902"/>
          </a:xfrm>
          <a:prstGeom prst="rect">
            <a:avLst/>
          </a:prstGeom>
          <a:noFill/>
          <a:ln/>
        </p:spPr>
        <p:txBody>
          <a:bodyPr wrap="square" lIns="0" tIns="0" rIns="0" bIns="0" rtlCol="0" anchor="t"/>
          <a:lstStyle/>
          <a:p>
            <a:pPr indent="0" marL="0">
              <a:lnSpc>
                <a:spcPts val="1950"/>
              </a:lnSpc>
              <a:buNone/>
            </a:pPr>
            <a:r>
              <a:rPr lang="en-US" sz="1300" dirty="0">
                <a:solidFill>
                  <a:srgbClr val="5A6068"/>
                </a:solidFill>
                <a:latin typeface="Arial" pitchFamily="34" charset="0"/>
                <a:ea typeface="Arial" pitchFamily="34" charset="-122"/>
                <a:cs typeface="Arial" pitchFamily="34" charset="-120"/>
              </a:rPr>
              <a:t>Visibility built structurally rather than bought. Growth achieved with no paid search at any point across the period.</a:t>
            </a:r>
            <a:endParaRPr lang="en-US" sz="1300" dirty="0"/>
          </a:p>
        </p:txBody>
      </p:sp>
      <p:sp>
        <p:nvSpPr>
          <p:cNvPr id="7" name="Text 5"/>
          <p:cNvSpPr txBox="1"/>
          <p:nvPr/>
        </p:nvSpPr>
        <p:spPr>
          <a:xfrm>
            <a:off x="685800" y="4000500"/>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3.4×</a:t>
            </a:r>
            <a:endParaRPr lang="en-US" sz="2850" dirty="0"/>
          </a:p>
        </p:txBody>
      </p:sp>
      <p:sp>
        <p:nvSpPr>
          <p:cNvPr id="8" name="Text 6"/>
          <p:cNvSpPr txBox="1"/>
          <p:nvPr/>
        </p:nvSpPr>
        <p:spPr>
          <a:xfrm>
            <a:off x="685800" y="4476902"/>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VISIBILITY</a:t>
            </a:r>
            <a:endParaRPr lang="en-US" sz="950" dirty="0"/>
          </a:p>
        </p:txBody>
      </p:sp>
      <p:sp>
        <p:nvSpPr>
          <p:cNvPr id="9" name="Text 7"/>
          <p:cNvSpPr txBox="1"/>
          <p:nvPr/>
        </p:nvSpPr>
        <p:spPr>
          <a:xfrm>
            <a:off x="2286000" y="4000500"/>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Zero</a:t>
            </a:r>
            <a:endParaRPr lang="en-US" sz="2850" dirty="0"/>
          </a:p>
        </p:txBody>
      </p:sp>
      <p:sp>
        <p:nvSpPr>
          <p:cNvPr id="10" name="Text 8"/>
          <p:cNvSpPr txBox="1"/>
          <p:nvPr/>
        </p:nvSpPr>
        <p:spPr>
          <a:xfrm>
            <a:off x="2286000" y="4476902"/>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PAID SEARCH</a:t>
            </a:r>
            <a:endParaRPr lang="en-US" sz="950" dirty="0"/>
          </a:p>
        </p:txBody>
      </p:sp>
      <p:sp>
        <p:nvSpPr>
          <p:cNvPr id="11" name="Text 9"/>
          <p:cNvSpPr txBox="1"/>
          <p:nvPr/>
        </p:nvSpPr>
        <p:spPr>
          <a:xfrm>
            <a:off x="3886200" y="4000500"/>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1,510</a:t>
            </a:r>
            <a:endParaRPr lang="en-US" sz="2850" dirty="0"/>
          </a:p>
        </p:txBody>
      </p:sp>
      <p:sp>
        <p:nvSpPr>
          <p:cNvPr id="12" name="Text 10"/>
          <p:cNvSpPr txBox="1"/>
          <p:nvPr/>
        </p:nvSpPr>
        <p:spPr>
          <a:xfrm>
            <a:off x="3886200" y="4476902"/>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PEAK VISITS</a:t>
            </a:r>
            <a:endParaRPr lang="en-US" sz="950" dirty="0"/>
          </a:p>
        </p:txBody>
      </p:sp>
      <p:pic>
        <p:nvPicPr>
          <p:cNvPr id="13"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14" name="Text 11"/>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7239305" cy="6858000"/>
          </a:xfrm>
          <a:prstGeom prst="roundRect">
            <a:avLst>
              <a:gd name="adj" fmla="val 1387"/>
            </a:avLst>
          </a:prstGeom>
          <a:solidFill>
            <a:srgbClr val="111111"/>
          </a:solidFill>
          <a:ln/>
        </p:spPr>
      </p:sp>
      <p:sp>
        <p:nvSpPr>
          <p:cNvPr id="3" name="Text 1"/>
          <p:cNvSpPr txBox="1"/>
          <p:nvPr/>
        </p:nvSpPr>
        <p:spPr>
          <a:xfrm>
            <a:off x="133502" y="3258007"/>
            <a:ext cx="6972300"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FG-KINARA-4.PNG</a:t>
            </a:r>
            <a:endParaRPr lang="en-US" sz="950" dirty="0"/>
          </a:p>
        </p:txBody>
      </p:sp>
      <p:sp>
        <p:nvSpPr>
          <p:cNvPr id="4" name="Shape 2"/>
          <p:cNvSpPr/>
          <p:nvPr/>
        </p:nvSpPr>
        <p:spPr>
          <a:xfrm>
            <a:off x="7315200" y="0"/>
            <a:ext cx="4876770" cy="3391052"/>
          </a:xfrm>
          <a:prstGeom prst="roundRect">
            <a:avLst>
              <a:gd name="adj" fmla="val 2804"/>
            </a:avLst>
          </a:prstGeom>
          <a:solidFill>
            <a:srgbClr val="111111"/>
          </a:solidFill>
          <a:ln/>
        </p:spPr>
      </p:sp>
      <p:sp>
        <p:nvSpPr>
          <p:cNvPr id="5" name="Text 3"/>
          <p:cNvSpPr txBox="1"/>
          <p:nvPr/>
        </p:nvSpPr>
        <p:spPr>
          <a:xfrm>
            <a:off x="7448702" y="1524533"/>
            <a:ext cx="4609765"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FG-KINARA-2.PNG</a:t>
            </a:r>
            <a:endParaRPr lang="en-US" sz="950" dirty="0"/>
          </a:p>
        </p:txBody>
      </p:sp>
      <p:sp>
        <p:nvSpPr>
          <p:cNvPr id="6" name="Shape 4"/>
          <p:cNvSpPr/>
          <p:nvPr/>
        </p:nvSpPr>
        <p:spPr>
          <a:xfrm>
            <a:off x="7315200" y="3466948"/>
            <a:ext cx="4876770" cy="3391052"/>
          </a:xfrm>
          <a:prstGeom prst="roundRect">
            <a:avLst>
              <a:gd name="adj" fmla="val 2804"/>
            </a:avLst>
          </a:prstGeom>
          <a:solidFill>
            <a:srgbClr val="111111"/>
          </a:solidFill>
          <a:ln/>
        </p:spPr>
      </p:sp>
      <p:sp>
        <p:nvSpPr>
          <p:cNvPr id="7" name="Text 5"/>
          <p:cNvSpPr txBox="1"/>
          <p:nvPr/>
        </p:nvSpPr>
        <p:spPr>
          <a:xfrm>
            <a:off x="7448702" y="4991481"/>
            <a:ext cx="4609765"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RETAIL-ACTIVATION.PNG</a:t>
            </a:r>
            <a:endParaRPr lang="en-US" sz="950" dirty="0"/>
          </a:p>
        </p:txBody>
      </p:sp>
      <p:sp>
        <p:nvSpPr>
          <p:cNvPr id="8" name="Shape 6"/>
          <p:cNvSpPr/>
          <p:nvPr/>
        </p:nvSpPr>
        <p:spPr>
          <a:xfrm>
            <a:off x="0" y="4762195"/>
            <a:ext cx="7239305" cy="2095805"/>
          </a:xfrm>
          <a:prstGeom prst="rect">
            <a:avLst/>
          </a:prstGeom>
          <a:solidFill>
            <a:srgbClr val="000000">
              <a:alpha val="86000"/>
            </a:srgbClr>
          </a:solidFill>
          <a:ln/>
        </p:spPr>
      </p:sp>
      <p:sp>
        <p:nvSpPr>
          <p:cNvPr id="9" name="Text 7"/>
          <p:cNvSpPr txBox="1"/>
          <p:nvPr/>
        </p:nvSpPr>
        <p:spPr>
          <a:xfrm>
            <a:off x="533095" y="5219395"/>
            <a:ext cx="6191402" cy="190195"/>
          </a:xfrm>
          <a:prstGeom prst="rect">
            <a:avLst/>
          </a:prstGeom>
          <a:noFill/>
          <a:ln/>
        </p:spPr>
        <p:txBody>
          <a:bodyPr wrap="square" lIns="0" tIns="0" rIns="0" bIns="0" rtlCol="0" anchor="ctr"/>
          <a:lstStyle/>
          <a:p>
            <a:pPr indent="0" marL="0">
              <a:buNone/>
            </a:pPr>
            <a:r>
              <a:rPr lang="en-US" sz="950" b="1" spc="300" kern="0" dirty="0">
                <a:solidFill>
                  <a:srgbClr val="54D2FE"/>
                </a:solidFill>
                <a:latin typeface="Arial" pitchFamily="34" charset="0"/>
                <a:ea typeface="Arial" pitchFamily="34" charset="-122"/>
                <a:cs typeface="Arial" pitchFamily="34" charset="-120"/>
              </a:rPr>
              <a:t>FORREY &amp; GALLAND</a:t>
            </a:r>
            <a:endParaRPr lang="en-US" sz="950" dirty="0"/>
          </a:p>
        </p:txBody>
      </p:sp>
      <p:sp>
        <p:nvSpPr>
          <p:cNvPr id="10" name="Text 8"/>
          <p:cNvSpPr txBox="1"/>
          <p:nvPr/>
        </p:nvSpPr>
        <p:spPr>
          <a:xfrm>
            <a:off x="533095" y="5543093"/>
            <a:ext cx="6191402" cy="914400"/>
          </a:xfrm>
          <a:prstGeom prst="rect">
            <a:avLst/>
          </a:prstGeom>
          <a:noFill/>
          <a:ln/>
        </p:spPr>
        <p:txBody>
          <a:bodyPr wrap="square" lIns="0" tIns="0" rIns="0" bIns="0" rtlCol="0" anchor="t"/>
          <a:lstStyle/>
          <a:p>
            <a:pPr indent="0" marL="0">
              <a:lnSpc>
                <a:spcPts val="2400"/>
              </a:lnSpc>
              <a:buNone/>
            </a:pPr>
            <a:r>
              <a:rPr lang="en-US" sz="1900" b="1" dirty="0">
                <a:solidFill>
                  <a:srgbClr val="FFFFFF"/>
                </a:solidFill>
                <a:latin typeface="Arial" pitchFamily="34" charset="0"/>
                <a:ea typeface="Arial" pitchFamily="34" charset="-122"/>
                <a:cs typeface="Arial" pitchFamily="34" charset="-120"/>
              </a:rPr>
              <a:t>For a business built on occasions, the calendar is the strategy.</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FORREY &amp; GALLAND · THE CALENDAR</a:t>
            </a:r>
            <a:endParaRPr lang="en-US" sz="950" dirty="0"/>
          </a:p>
        </p:txBody>
      </p:sp>
      <p:sp>
        <p:nvSpPr>
          <p:cNvPr id="3" name="Text 1"/>
          <p:cNvSpPr txBox="1"/>
          <p:nvPr/>
        </p:nvSpPr>
        <p:spPr>
          <a:xfrm>
            <a:off x="685800" y="800100"/>
            <a:ext cx="10820095" cy="666598"/>
          </a:xfrm>
          <a:prstGeom prst="rect">
            <a:avLst/>
          </a:prstGeom>
          <a:noFill/>
          <a:ln/>
        </p:spPr>
        <p:txBody>
          <a:bodyPr wrap="square" lIns="0" tIns="0" rIns="0" bIns="0" rtlCol="0" anchor="t"/>
          <a:lstStyle/>
          <a:p>
            <a:pPr indent="0" marL="0">
              <a:lnSpc>
                <a:spcPts val="4050"/>
              </a:lnSpc>
              <a:buNone/>
            </a:pPr>
            <a:r>
              <a:rPr lang="en-US" sz="2850" b="1" dirty="0">
                <a:solidFill>
                  <a:srgbClr val="111111"/>
                </a:solidFill>
                <a:latin typeface="Arial" pitchFamily="34" charset="0"/>
                <a:ea typeface="Arial" pitchFamily="34" charset="-122"/>
                <a:cs typeface="Arial" pitchFamily="34" charset="-120"/>
              </a:rPr>
              <a:t>Four occasions, rebuilt every year.</a:t>
            </a:r>
            <a:endParaRPr lang="en-US" sz="2850" dirty="0"/>
          </a:p>
        </p:txBody>
      </p:sp>
      <p:sp>
        <p:nvSpPr>
          <p:cNvPr id="4" name="Text 2"/>
          <p:cNvSpPr txBox="1"/>
          <p:nvPr/>
        </p:nvSpPr>
        <p:spPr>
          <a:xfrm>
            <a:off x="685800" y="1714500"/>
            <a:ext cx="9525305" cy="533095"/>
          </a:xfrm>
          <a:prstGeom prst="rect">
            <a:avLst/>
          </a:prstGeom>
          <a:noFill/>
          <a:ln/>
        </p:spPr>
        <p:txBody>
          <a:bodyPr wrap="square" lIns="0" tIns="0" rIns="0" bIns="0" rtlCol="0" anchor="t"/>
          <a:lstStyle/>
          <a:p>
            <a:pPr indent="0" marL="0">
              <a:lnSpc>
                <a:spcPts val="1950"/>
              </a:lnSpc>
              <a:buNone/>
            </a:pPr>
            <a:r>
              <a:rPr lang="en-US" sz="1300" dirty="0">
                <a:solidFill>
                  <a:srgbClr val="5A6068"/>
                </a:solidFill>
                <a:latin typeface="Arial" pitchFamily="34" charset="0"/>
                <a:ea typeface="Arial" pitchFamily="34" charset="-122"/>
                <a:cs typeface="Arial" pitchFamily="34" charset="-120"/>
              </a:rPr>
              <a:t>The lunar calendar moves roughly eleven days a year, so nothing carries over. Each occasion runs as a full programme of product, photography, campaign, events and retail.</a:t>
            </a:r>
            <a:endParaRPr lang="en-US" sz="1300" dirty="0"/>
          </a:p>
        </p:txBody>
      </p:sp>
      <p:sp>
        <p:nvSpPr>
          <p:cNvPr id="5" name="Shape 3"/>
          <p:cNvSpPr/>
          <p:nvPr/>
        </p:nvSpPr>
        <p:spPr>
          <a:xfrm>
            <a:off x="685800" y="2571293"/>
            <a:ext cx="2562149" cy="1714500"/>
          </a:xfrm>
          <a:prstGeom prst="roundRect">
            <a:avLst>
              <a:gd name="adj" fmla="val 5547"/>
            </a:avLst>
          </a:prstGeom>
          <a:solidFill>
            <a:srgbClr val="F4F6F8"/>
          </a:solidFill>
          <a:ln/>
        </p:spPr>
      </p:sp>
      <p:sp>
        <p:nvSpPr>
          <p:cNvPr id="6" name="Text 4"/>
          <p:cNvSpPr txBox="1"/>
          <p:nvPr/>
        </p:nvSpPr>
        <p:spPr>
          <a:xfrm>
            <a:off x="819302" y="3257550"/>
            <a:ext cx="22951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HATTA-RAMADAN.PNG / UAE-NATIONAL-DAY.PNG</a:t>
            </a:r>
            <a:endParaRPr lang="en-US" sz="950" dirty="0"/>
          </a:p>
        </p:txBody>
      </p:sp>
      <p:sp>
        <p:nvSpPr>
          <p:cNvPr id="7" name="Text 5"/>
          <p:cNvSpPr txBox="1"/>
          <p:nvPr/>
        </p:nvSpPr>
        <p:spPr>
          <a:xfrm>
            <a:off x="685800" y="4457700"/>
            <a:ext cx="2562149" cy="323698"/>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Ramadan</a:t>
            </a:r>
            <a:endParaRPr lang="en-US" sz="1400" dirty="0"/>
          </a:p>
        </p:txBody>
      </p:sp>
      <p:sp>
        <p:nvSpPr>
          <p:cNvPr id="8" name="Shape 6"/>
          <p:cNvSpPr/>
          <p:nvPr/>
        </p:nvSpPr>
        <p:spPr>
          <a:xfrm>
            <a:off x="3429000" y="2571293"/>
            <a:ext cx="2562149" cy="1714500"/>
          </a:xfrm>
          <a:prstGeom prst="roundRect">
            <a:avLst>
              <a:gd name="adj" fmla="val 5547"/>
            </a:avLst>
          </a:prstGeom>
          <a:solidFill>
            <a:srgbClr val="F4F6F8"/>
          </a:solidFill>
          <a:ln/>
        </p:spPr>
      </p:sp>
      <p:sp>
        <p:nvSpPr>
          <p:cNvPr id="9" name="Text 7"/>
          <p:cNvSpPr txBox="1"/>
          <p:nvPr/>
        </p:nvSpPr>
        <p:spPr>
          <a:xfrm>
            <a:off x="3562502" y="3257550"/>
            <a:ext cx="22951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HATTA-RAMADAN.PNG / UAE-NATIONAL-DAY.PNG</a:t>
            </a:r>
            <a:endParaRPr lang="en-US" sz="950" dirty="0"/>
          </a:p>
        </p:txBody>
      </p:sp>
      <p:sp>
        <p:nvSpPr>
          <p:cNvPr id="10" name="Text 8"/>
          <p:cNvSpPr txBox="1"/>
          <p:nvPr/>
        </p:nvSpPr>
        <p:spPr>
          <a:xfrm>
            <a:off x="3429000" y="4457700"/>
            <a:ext cx="2562149" cy="323698"/>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Eid al-Fitr</a:t>
            </a:r>
            <a:endParaRPr lang="en-US" sz="1400" dirty="0"/>
          </a:p>
        </p:txBody>
      </p:sp>
      <p:sp>
        <p:nvSpPr>
          <p:cNvPr id="11" name="Shape 9"/>
          <p:cNvSpPr/>
          <p:nvPr/>
        </p:nvSpPr>
        <p:spPr>
          <a:xfrm>
            <a:off x="6172200" y="2571293"/>
            <a:ext cx="2562149" cy="1714500"/>
          </a:xfrm>
          <a:prstGeom prst="roundRect">
            <a:avLst>
              <a:gd name="adj" fmla="val 5547"/>
            </a:avLst>
          </a:prstGeom>
          <a:solidFill>
            <a:srgbClr val="F4F6F8"/>
          </a:solidFill>
          <a:ln/>
        </p:spPr>
      </p:sp>
      <p:sp>
        <p:nvSpPr>
          <p:cNvPr id="12" name="Text 10"/>
          <p:cNvSpPr txBox="1"/>
          <p:nvPr/>
        </p:nvSpPr>
        <p:spPr>
          <a:xfrm>
            <a:off x="6305702" y="3257550"/>
            <a:ext cx="22951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HATTA-RAMADAN.PNG / UAE-NATIONAL-DAY.PNG</a:t>
            </a:r>
            <a:endParaRPr lang="en-US" sz="950" dirty="0"/>
          </a:p>
        </p:txBody>
      </p:sp>
      <p:sp>
        <p:nvSpPr>
          <p:cNvPr id="13" name="Text 11"/>
          <p:cNvSpPr txBox="1"/>
          <p:nvPr/>
        </p:nvSpPr>
        <p:spPr>
          <a:xfrm>
            <a:off x="6172200" y="4457700"/>
            <a:ext cx="2562149" cy="323698"/>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Eid al-Adha</a:t>
            </a:r>
            <a:endParaRPr lang="en-US" sz="1400" dirty="0"/>
          </a:p>
        </p:txBody>
      </p:sp>
      <p:sp>
        <p:nvSpPr>
          <p:cNvPr id="14" name="Shape 12"/>
          <p:cNvSpPr/>
          <p:nvPr/>
        </p:nvSpPr>
        <p:spPr>
          <a:xfrm>
            <a:off x="8915400" y="2571293"/>
            <a:ext cx="2562149" cy="1714500"/>
          </a:xfrm>
          <a:prstGeom prst="roundRect">
            <a:avLst>
              <a:gd name="adj" fmla="val 5547"/>
            </a:avLst>
          </a:prstGeom>
          <a:solidFill>
            <a:srgbClr val="F4F6F8"/>
          </a:solidFill>
          <a:ln/>
        </p:spPr>
      </p:sp>
      <p:sp>
        <p:nvSpPr>
          <p:cNvPr id="15" name="Text 13"/>
          <p:cNvSpPr txBox="1"/>
          <p:nvPr/>
        </p:nvSpPr>
        <p:spPr>
          <a:xfrm>
            <a:off x="9048902" y="3257550"/>
            <a:ext cx="22951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HATTA-RAMADAN.PNG / UAE-NATIONAL-DAY.PNG</a:t>
            </a:r>
            <a:endParaRPr lang="en-US" sz="950" dirty="0"/>
          </a:p>
        </p:txBody>
      </p:sp>
      <p:sp>
        <p:nvSpPr>
          <p:cNvPr id="16" name="Text 14"/>
          <p:cNvSpPr txBox="1"/>
          <p:nvPr/>
        </p:nvSpPr>
        <p:spPr>
          <a:xfrm>
            <a:off x="8915400" y="4457700"/>
            <a:ext cx="2562149" cy="323698"/>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Diwali</a:t>
            </a:r>
            <a:endParaRPr lang="en-US" sz="1400" dirty="0"/>
          </a:p>
        </p:txBody>
      </p:sp>
      <p:pic>
        <p:nvPicPr>
          <p:cNvPr id="17"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18" name="Text 15"/>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54D2FE"/>
                </a:solidFill>
                <a:latin typeface="Arial" pitchFamily="34" charset="0"/>
                <a:ea typeface="Arial" pitchFamily="34" charset="-122"/>
                <a:cs typeface="Arial" pitchFamily="34" charset="-120"/>
              </a:rPr>
              <a:t>FERRONATO KGS GROUP · LUGANO, 1906</a:t>
            </a:r>
            <a:endParaRPr lang="en-US" sz="950" dirty="0"/>
          </a:p>
        </p:txBody>
      </p:sp>
      <p:sp>
        <p:nvSpPr>
          <p:cNvPr id="3" name="Text 1"/>
          <p:cNvSpPr txBox="1"/>
          <p:nvPr/>
        </p:nvSpPr>
        <p:spPr>
          <a:xfrm>
            <a:off x="685800" y="800100"/>
            <a:ext cx="10820095" cy="1238098"/>
          </a:xfrm>
          <a:prstGeom prst="rect">
            <a:avLst/>
          </a:prstGeom>
          <a:noFill/>
          <a:ln/>
        </p:spPr>
        <p:txBody>
          <a:bodyPr wrap="square" lIns="0" tIns="0" rIns="0" bIns="0" rtlCol="0" anchor="t"/>
          <a:lstStyle/>
          <a:p>
            <a:pPr indent="0" marL="0">
              <a:lnSpc>
                <a:spcPts val="3600"/>
              </a:lnSpc>
              <a:buNone/>
            </a:pPr>
            <a:r>
              <a:rPr lang="en-US" sz="3000" b="1" dirty="0">
                <a:solidFill>
                  <a:srgbClr val="FFFFFF"/>
                </a:solidFill>
                <a:latin typeface="Arial" pitchFamily="34" charset="0"/>
                <a:ea typeface="Arial" pitchFamily="34" charset="-122"/>
                <a:cs typeface="Arial" pitchFamily="34" charset="-120"/>
              </a:rPr>
              <a:t>One group. Engineers on one side, luxury buyers on the other.</a:t>
            </a:r>
            <a:endParaRPr lang="en-US" sz="3000" dirty="0"/>
          </a:p>
        </p:txBody>
      </p:sp>
      <p:sp>
        <p:nvSpPr>
          <p:cNvPr id="4" name="Text 2"/>
          <p:cNvSpPr txBox="1"/>
          <p:nvPr/>
        </p:nvSpPr>
        <p:spPr>
          <a:xfrm>
            <a:off x="685800" y="2190902"/>
            <a:ext cx="8572500" cy="533095"/>
          </a:xfrm>
          <a:prstGeom prst="rect">
            <a:avLst/>
          </a:prstGeom>
          <a:noFill/>
          <a:ln/>
        </p:spPr>
        <p:txBody>
          <a:bodyPr wrap="square" lIns="0" tIns="0" rIns="0" bIns="0" rtlCol="0" anchor="t"/>
          <a:lstStyle/>
          <a:p>
            <a:pPr indent="0" marL="0">
              <a:lnSpc>
                <a:spcPts val="1950"/>
              </a:lnSpc>
              <a:buNone/>
            </a:pPr>
            <a:r>
              <a:rPr lang="en-US" sz="1300" dirty="0">
                <a:solidFill>
                  <a:srgbClr val="B9BEC5"/>
                </a:solidFill>
                <a:latin typeface="Arial" pitchFamily="34" charset="0"/>
                <a:ea typeface="Arial" pitchFamily="34" charset="-122"/>
                <a:cs typeface="Arial" pitchFamily="34" charset="-120"/>
              </a:rPr>
              <a:t>A leading manufacturer of flexible diamond abrasives and metallised fabrics, entering the lifestyle category on its own industrial technology.</a:t>
            </a:r>
            <a:endParaRPr lang="en-US" sz="1300" dirty="0"/>
          </a:p>
        </p:txBody>
      </p:sp>
      <p:sp>
        <p:nvSpPr>
          <p:cNvPr id="5" name="Text 3"/>
          <p:cNvSpPr txBox="1"/>
          <p:nvPr/>
        </p:nvSpPr>
        <p:spPr>
          <a:xfrm>
            <a:off x="685800" y="3047695"/>
            <a:ext cx="1943100" cy="437998"/>
          </a:xfrm>
          <a:prstGeom prst="rect">
            <a:avLst/>
          </a:prstGeom>
          <a:noFill/>
          <a:ln/>
        </p:spPr>
        <p:txBody>
          <a:bodyPr wrap="square" lIns="0" tIns="0" rIns="0" bIns="0" rtlCol="0" anchor="ctr"/>
          <a:lstStyle/>
          <a:p>
            <a:pPr indent="0" marL="0">
              <a:buNone/>
            </a:pPr>
            <a:r>
              <a:rPr lang="en-US" sz="2850" b="1" dirty="0">
                <a:solidFill>
                  <a:srgbClr val="FFFFFF"/>
                </a:solidFill>
                <a:latin typeface="Arial" pitchFamily="34" charset="0"/>
                <a:ea typeface="Arial" pitchFamily="34" charset="-122"/>
                <a:cs typeface="Arial" pitchFamily="34" charset="-120"/>
              </a:rPr>
              <a:t>1906</a:t>
            </a:r>
            <a:endParaRPr lang="en-US" sz="2850" dirty="0"/>
          </a:p>
        </p:txBody>
      </p:sp>
      <p:sp>
        <p:nvSpPr>
          <p:cNvPr id="6" name="Text 4"/>
          <p:cNvSpPr txBox="1"/>
          <p:nvPr/>
        </p:nvSpPr>
        <p:spPr>
          <a:xfrm>
            <a:off x="685800" y="3524098"/>
            <a:ext cx="1905610"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54D2FE"/>
                </a:solidFill>
                <a:latin typeface="Arial" pitchFamily="34" charset="0"/>
                <a:ea typeface="Arial" pitchFamily="34" charset="-122"/>
                <a:cs typeface="Arial" pitchFamily="34" charset="-120"/>
              </a:rPr>
              <a:t>FOUNDED, LUGANO</a:t>
            </a:r>
            <a:endParaRPr lang="en-US" sz="950" dirty="0"/>
          </a:p>
        </p:txBody>
      </p:sp>
      <p:sp>
        <p:nvSpPr>
          <p:cNvPr id="7" name="Text 5"/>
          <p:cNvSpPr txBox="1"/>
          <p:nvPr/>
        </p:nvSpPr>
        <p:spPr>
          <a:xfrm>
            <a:off x="2781605" y="3047695"/>
            <a:ext cx="1943100" cy="437998"/>
          </a:xfrm>
          <a:prstGeom prst="rect">
            <a:avLst/>
          </a:prstGeom>
          <a:noFill/>
          <a:ln/>
        </p:spPr>
        <p:txBody>
          <a:bodyPr wrap="square" lIns="0" tIns="0" rIns="0" bIns="0" rtlCol="0" anchor="ctr"/>
          <a:lstStyle/>
          <a:p>
            <a:pPr indent="0" marL="0">
              <a:buNone/>
            </a:pPr>
            <a:r>
              <a:rPr lang="en-US" sz="2850" b="1" dirty="0">
                <a:solidFill>
                  <a:srgbClr val="FFFFFF"/>
                </a:solidFill>
                <a:latin typeface="Arial" pitchFamily="34" charset="0"/>
                <a:ea typeface="Arial" pitchFamily="34" charset="-122"/>
                <a:cs typeface="Arial" pitchFamily="34" charset="-120"/>
              </a:rPr>
              <a:t>4th</a:t>
            </a:r>
            <a:endParaRPr lang="en-US" sz="2850" dirty="0"/>
          </a:p>
        </p:txBody>
      </p:sp>
      <p:sp>
        <p:nvSpPr>
          <p:cNvPr id="8" name="Text 6"/>
          <p:cNvSpPr txBox="1"/>
          <p:nvPr/>
        </p:nvSpPr>
        <p:spPr>
          <a:xfrm>
            <a:off x="2781605" y="3524098"/>
            <a:ext cx="1905610"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54D2FE"/>
                </a:solidFill>
                <a:latin typeface="Arial" pitchFamily="34" charset="0"/>
                <a:ea typeface="Arial" pitchFamily="34" charset="-122"/>
                <a:cs typeface="Arial" pitchFamily="34" charset="-120"/>
              </a:rPr>
              <a:t>GENERATION</a:t>
            </a:r>
            <a:endParaRPr lang="en-US" sz="950" dirty="0"/>
          </a:p>
        </p:txBody>
      </p:sp>
      <p:sp>
        <p:nvSpPr>
          <p:cNvPr id="9" name="Text 7"/>
          <p:cNvSpPr txBox="1"/>
          <p:nvPr/>
        </p:nvSpPr>
        <p:spPr>
          <a:xfrm>
            <a:off x="4877410" y="3047695"/>
            <a:ext cx="1943100" cy="437998"/>
          </a:xfrm>
          <a:prstGeom prst="rect">
            <a:avLst/>
          </a:prstGeom>
          <a:noFill/>
          <a:ln/>
        </p:spPr>
        <p:txBody>
          <a:bodyPr wrap="square" lIns="0" tIns="0" rIns="0" bIns="0" rtlCol="0" anchor="ctr"/>
          <a:lstStyle/>
          <a:p>
            <a:pPr indent="0" marL="0">
              <a:buNone/>
            </a:pPr>
            <a:r>
              <a:rPr lang="en-US" sz="2850" b="1" dirty="0">
                <a:solidFill>
                  <a:srgbClr val="FFFFFF"/>
                </a:solidFill>
                <a:latin typeface="Arial" pitchFamily="34" charset="0"/>
                <a:ea typeface="Arial" pitchFamily="34" charset="-122"/>
                <a:cs typeface="Arial" pitchFamily="34" charset="-120"/>
              </a:rPr>
              <a:t>16</a:t>
            </a:r>
            <a:endParaRPr lang="en-US" sz="2850" dirty="0"/>
          </a:p>
        </p:txBody>
      </p:sp>
      <p:sp>
        <p:nvSpPr>
          <p:cNvPr id="10" name="Text 8"/>
          <p:cNvSpPr txBox="1"/>
          <p:nvPr/>
        </p:nvSpPr>
        <p:spPr>
          <a:xfrm>
            <a:off x="4877410" y="3524098"/>
            <a:ext cx="1905610"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54D2FE"/>
                </a:solidFill>
                <a:latin typeface="Arial" pitchFamily="34" charset="0"/>
                <a:ea typeface="Arial" pitchFamily="34" charset="-122"/>
                <a:cs typeface="Arial" pitchFamily="34" charset="-120"/>
              </a:rPr>
              <a:t>COUNTRIES</a:t>
            </a:r>
            <a:endParaRPr lang="en-US" sz="950" dirty="0"/>
          </a:p>
        </p:txBody>
      </p:sp>
      <p:sp>
        <p:nvSpPr>
          <p:cNvPr id="11" name="Text 9"/>
          <p:cNvSpPr txBox="1"/>
          <p:nvPr/>
        </p:nvSpPr>
        <p:spPr>
          <a:xfrm>
            <a:off x="6973214" y="3047695"/>
            <a:ext cx="1943100" cy="437998"/>
          </a:xfrm>
          <a:prstGeom prst="rect">
            <a:avLst/>
          </a:prstGeom>
          <a:noFill/>
          <a:ln/>
        </p:spPr>
        <p:txBody>
          <a:bodyPr wrap="square" lIns="0" tIns="0" rIns="0" bIns="0" rtlCol="0" anchor="ctr"/>
          <a:lstStyle/>
          <a:p>
            <a:pPr indent="0" marL="0">
              <a:buNone/>
            </a:pPr>
            <a:r>
              <a:rPr lang="en-US" sz="2850" b="1" dirty="0">
                <a:solidFill>
                  <a:srgbClr val="FFFFFF"/>
                </a:solidFill>
                <a:latin typeface="Arial" pitchFamily="34" charset="0"/>
                <a:ea typeface="Arial" pitchFamily="34" charset="-122"/>
                <a:cs typeface="Arial" pitchFamily="34" charset="-120"/>
              </a:rPr>
              <a:t>100+</a:t>
            </a:r>
            <a:endParaRPr lang="en-US" sz="2850" dirty="0"/>
          </a:p>
        </p:txBody>
      </p:sp>
      <p:sp>
        <p:nvSpPr>
          <p:cNvPr id="12" name="Text 10"/>
          <p:cNvSpPr txBox="1"/>
          <p:nvPr/>
        </p:nvSpPr>
        <p:spPr>
          <a:xfrm>
            <a:off x="6973214" y="3524098"/>
            <a:ext cx="1905610"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54D2FE"/>
                </a:solidFill>
                <a:latin typeface="Arial" pitchFamily="34" charset="0"/>
                <a:ea typeface="Arial" pitchFamily="34" charset="-122"/>
                <a:cs typeface="Arial" pitchFamily="34" charset="-120"/>
              </a:rPr>
              <a:t>MARKETS SUPPLIED</a:t>
            </a:r>
            <a:endParaRPr lang="en-US" sz="950" dirty="0"/>
          </a:p>
        </p:txBody>
      </p:sp>
      <p:sp>
        <p:nvSpPr>
          <p:cNvPr id="13" name="Shape 11"/>
          <p:cNvSpPr/>
          <p:nvPr/>
        </p:nvSpPr>
        <p:spPr>
          <a:xfrm>
            <a:off x="685800" y="4476902"/>
            <a:ext cx="5257800" cy="1524305"/>
          </a:xfrm>
          <a:prstGeom prst="roundRect">
            <a:avLst>
              <a:gd name="adj" fmla="val 6239"/>
            </a:avLst>
          </a:prstGeom>
          <a:solidFill>
            <a:srgbClr val="111111"/>
          </a:solidFill>
          <a:ln/>
        </p:spPr>
      </p:sp>
      <p:sp>
        <p:nvSpPr>
          <p:cNvPr id="14" name="Text 12"/>
          <p:cNvSpPr txBox="1"/>
          <p:nvPr/>
        </p:nvSpPr>
        <p:spPr>
          <a:xfrm>
            <a:off x="819302" y="5068062"/>
            <a:ext cx="4990795"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EXHIBITION-STAND.PNG</a:t>
            </a:r>
            <a:endParaRPr lang="en-US" sz="950" dirty="0"/>
          </a:p>
        </p:txBody>
      </p:sp>
      <p:sp>
        <p:nvSpPr>
          <p:cNvPr id="15" name="Shape 13"/>
          <p:cNvSpPr/>
          <p:nvPr/>
        </p:nvSpPr>
        <p:spPr>
          <a:xfrm>
            <a:off x="6248095" y="4476902"/>
            <a:ext cx="5257800" cy="1524305"/>
          </a:xfrm>
          <a:prstGeom prst="roundRect">
            <a:avLst>
              <a:gd name="adj" fmla="val 6239"/>
            </a:avLst>
          </a:prstGeom>
          <a:solidFill>
            <a:srgbClr val="111111"/>
          </a:solidFill>
          <a:ln/>
        </p:spPr>
      </p:sp>
      <p:sp>
        <p:nvSpPr>
          <p:cNvPr id="16" name="Text 14"/>
          <p:cNvSpPr txBox="1"/>
          <p:nvPr/>
        </p:nvSpPr>
        <p:spPr>
          <a:xfrm>
            <a:off x="6381598" y="5068062"/>
            <a:ext cx="4990795"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FERRONATO-PRODUCT.PNG</a:t>
            </a:r>
            <a:endParaRPr lang="en-US" sz="950" dirty="0"/>
          </a:p>
        </p:txBody>
      </p:sp>
      <p:pic>
        <p:nvPicPr>
          <p:cNvPr id="17" name="Image 0" descr="assets/eov-wordmark-white.png">    </p:cNvPr>
          <p:cNvPicPr>
            <a:picLocks noChangeAspect="1"/>
          </p:cNvPicPr>
          <p:nvPr/>
        </p:nvPicPr>
        <p:blipFill>
          <a:blip r:embed="rId1"/>
          <a:stretch>
            <a:fillRect/>
          </a:stretch>
        </p:blipFill>
        <p:spPr>
          <a:xfrm>
            <a:off x="685800" y="6238951"/>
            <a:ext cx="571500" cy="190195"/>
          </a:xfrm>
          <a:prstGeom prst="rect">
            <a:avLst/>
          </a:prstGeom>
        </p:spPr>
      </p:pic>
      <p:sp>
        <p:nvSpPr>
          <p:cNvPr id="18" name="Text 15"/>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6E7379"/>
                </a:solidFill>
                <a:latin typeface="Arial" pitchFamily="34" charset="0"/>
                <a:ea typeface="Arial" pitchFamily="34" charset="-122"/>
                <a:cs typeface="Arial"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0" y="0"/>
            <a:ext cx="6248370" cy="6858000"/>
          </a:xfrm>
          <a:prstGeom prst="rect">
            <a:avLst/>
          </a:prstGeom>
          <a:solidFill>
            <a:srgbClr val="F4F6F8"/>
          </a:solidFill>
          <a:ln/>
        </p:spPr>
      </p:sp>
      <p:sp>
        <p:nvSpPr>
          <p:cNvPr id="3" name="Text 1"/>
          <p:cNvSpPr txBox="1"/>
          <p:nvPr/>
        </p:nvSpPr>
        <p:spPr>
          <a:xfrm>
            <a:off x="6228893" y="3238805"/>
            <a:ext cx="5676870" cy="381305"/>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FERRONATO-PRODUCT.PNG</a:t>
            </a:r>
            <a:endParaRPr lang="en-US" sz="950" dirty="0"/>
          </a:p>
        </p:txBody>
      </p:sp>
      <p:sp>
        <p:nvSpPr>
          <p:cNvPr id="4" name="Text 2"/>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KGS · METAFAB® · INDUSTRIAL B2B</a:t>
            </a:r>
            <a:endParaRPr lang="en-US" sz="950" dirty="0"/>
          </a:p>
        </p:txBody>
      </p:sp>
      <p:sp>
        <p:nvSpPr>
          <p:cNvPr id="5" name="Text 3"/>
          <p:cNvSpPr txBox="1"/>
          <p:nvPr/>
        </p:nvSpPr>
        <p:spPr>
          <a:xfrm>
            <a:off x="685800" y="800100"/>
            <a:ext cx="4762195" cy="1809598"/>
          </a:xfrm>
          <a:prstGeom prst="rect">
            <a:avLst/>
          </a:prstGeom>
          <a:noFill/>
          <a:ln/>
        </p:spPr>
        <p:txBody>
          <a:bodyPr wrap="square" lIns="0" tIns="0" rIns="0" bIns="0" rtlCol="0" anchor="t"/>
          <a:lstStyle/>
          <a:p>
            <a:pPr indent="0" marL="0">
              <a:lnSpc>
                <a:spcPts val="3080"/>
              </a:lnSpc>
              <a:buNone/>
            </a:pPr>
            <a:r>
              <a:rPr lang="en-US" sz="2550" b="1" dirty="0">
                <a:solidFill>
                  <a:srgbClr val="111111"/>
                </a:solidFill>
                <a:latin typeface="Arial" pitchFamily="34" charset="0"/>
                <a:ea typeface="Arial" pitchFamily="34" charset="-122"/>
                <a:cs typeface="Arial" pitchFamily="34" charset="-120"/>
              </a:rPr>
              <a:t>Marketing a material that shields naval vessels.</a:t>
            </a:r>
            <a:endParaRPr lang="en-US" sz="2550" dirty="0"/>
          </a:p>
        </p:txBody>
      </p:sp>
      <p:sp>
        <p:nvSpPr>
          <p:cNvPr id="6" name="Text 4"/>
          <p:cNvSpPr txBox="1"/>
          <p:nvPr/>
        </p:nvSpPr>
        <p:spPr>
          <a:xfrm>
            <a:off x="685800" y="2381098"/>
            <a:ext cx="4762195" cy="1047902"/>
          </a:xfrm>
          <a:prstGeom prst="rect">
            <a:avLst/>
          </a:prstGeom>
          <a:noFill/>
          <a:ln/>
        </p:spPr>
        <p:txBody>
          <a:bodyPr wrap="square" lIns="0" tIns="0" rIns="0" bIns="0" rtlCol="0" anchor="t"/>
          <a:lstStyle/>
          <a:p>
            <a:pPr indent="0" marL="0">
              <a:lnSpc>
                <a:spcPts val="1950"/>
              </a:lnSpc>
              <a:buNone/>
            </a:pPr>
            <a:r>
              <a:rPr lang="en-US" sz="1300" dirty="0">
                <a:solidFill>
                  <a:srgbClr val="5A6068"/>
                </a:solidFill>
                <a:latin typeface="Arial" pitchFamily="34" charset="0"/>
                <a:ea typeface="Arial" pitchFamily="34" charset="-122"/>
                <a:cs typeface="Arial" pitchFamily="34" charset="-120"/>
              </a:rPr>
              <a:t>Metallised fabric attenuating EMF, EMI and RF at material level. Sold to engineers working to specification, on cycles measured in quarters. Most agencies decline this brief.</a:t>
            </a:r>
            <a:endParaRPr lang="en-US" sz="1300" dirty="0"/>
          </a:p>
        </p:txBody>
      </p:sp>
      <p:sp>
        <p:nvSpPr>
          <p:cNvPr id="7" name="Text 5"/>
          <p:cNvSpPr txBox="1"/>
          <p:nvPr/>
        </p:nvSpPr>
        <p:spPr>
          <a:xfrm>
            <a:off x="685800" y="4000500"/>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5.6×</a:t>
            </a:r>
            <a:endParaRPr lang="en-US" sz="2850" dirty="0"/>
          </a:p>
        </p:txBody>
      </p:sp>
      <p:sp>
        <p:nvSpPr>
          <p:cNvPr id="8" name="Text 6"/>
          <p:cNvSpPr txBox="1"/>
          <p:nvPr/>
        </p:nvSpPr>
        <p:spPr>
          <a:xfrm>
            <a:off x="685800" y="4476902"/>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VISIBILITY</a:t>
            </a:r>
            <a:endParaRPr lang="en-US" sz="950" dirty="0"/>
          </a:p>
        </p:txBody>
      </p:sp>
      <p:sp>
        <p:nvSpPr>
          <p:cNvPr id="9" name="Text 7"/>
          <p:cNvSpPr txBox="1"/>
          <p:nvPr/>
        </p:nvSpPr>
        <p:spPr>
          <a:xfrm>
            <a:off x="2286000" y="4000500"/>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96</a:t>
            </a:r>
            <a:endParaRPr lang="en-US" sz="2850" dirty="0"/>
          </a:p>
        </p:txBody>
      </p:sp>
      <p:sp>
        <p:nvSpPr>
          <p:cNvPr id="10" name="Text 8"/>
          <p:cNvSpPr txBox="1"/>
          <p:nvPr/>
        </p:nvSpPr>
        <p:spPr>
          <a:xfrm>
            <a:off x="2286000" y="4476902"/>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KEYWORDS</a:t>
            </a:r>
            <a:endParaRPr lang="en-US" sz="950" dirty="0"/>
          </a:p>
        </p:txBody>
      </p:sp>
      <p:sp>
        <p:nvSpPr>
          <p:cNvPr id="11" name="Text 9"/>
          <p:cNvSpPr txBox="1"/>
          <p:nvPr/>
        </p:nvSpPr>
        <p:spPr>
          <a:xfrm>
            <a:off x="3886200" y="4000500"/>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40–90</a:t>
            </a:r>
            <a:endParaRPr lang="en-US" sz="2850" dirty="0"/>
          </a:p>
        </p:txBody>
      </p:sp>
      <p:sp>
        <p:nvSpPr>
          <p:cNvPr id="12" name="Text 10"/>
          <p:cNvSpPr txBox="1"/>
          <p:nvPr/>
        </p:nvSpPr>
        <p:spPr>
          <a:xfrm>
            <a:off x="3886200" y="4476902"/>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DB SHIELDING</a:t>
            </a:r>
            <a:endParaRPr lang="en-US" sz="950" dirty="0"/>
          </a:p>
        </p:txBody>
      </p:sp>
      <p:pic>
        <p:nvPicPr>
          <p:cNvPr id="13"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14" name="Text 11"/>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7239305" cy="6858000"/>
          </a:xfrm>
          <a:prstGeom prst="roundRect">
            <a:avLst>
              <a:gd name="adj" fmla="val 1387"/>
            </a:avLst>
          </a:prstGeom>
          <a:solidFill>
            <a:srgbClr val="111111"/>
          </a:solidFill>
          <a:ln/>
        </p:spPr>
      </p:sp>
      <p:sp>
        <p:nvSpPr>
          <p:cNvPr id="3" name="Text 1"/>
          <p:cNvSpPr txBox="1"/>
          <p:nvPr/>
        </p:nvSpPr>
        <p:spPr>
          <a:xfrm>
            <a:off x="133502" y="3258007"/>
            <a:ext cx="6972300"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[KGS APPLICATION]</a:t>
            </a:r>
            <a:endParaRPr lang="en-US" sz="950" dirty="0"/>
          </a:p>
        </p:txBody>
      </p:sp>
      <p:sp>
        <p:nvSpPr>
          <p:cNvPr id="4" name="Shape 2"/>
          <p:cNvSpPr/>
          <p:nvPr/>
        </p:nvSpPr>
        <p:spPr>
          <a:xfrm>
            <a:off x="7315200" y="0"/>
            <a:ext cx="4876770" cy="3391052"/>
          </a:xfrm>
          <a:prstGeom prst="roundRect">
            <a:avLst>
              <a:gd name="adj" fmla="val 2804"/>
            </a:avLst>
          </a:prstGeom>
          <a:solidFill>
            <a:srgbClr val="111111"/>
          </a:solidFill>
          <a:ln/>
        </p:spPr>
      </p:sp>
      <p:sp>
        <p:nvSpPr>
          <p:cNvPr id="5" name="Text 3"/>
          <p:cNvSpPr txBox="1"/>
          <p:nvPr/>
        </p:nvSpPr>
        <p:spPr>
          <a:xfrm>
            <a:off x="7448702" y="1524533"/>
            <a:ext cx="4609765"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[KGS WIRING]</a:t>
            </a:r>
            <a:endParaRPr lang="en-US" sz="950" dirty="0"/>
          </a:p>
        </p:txBody>
      </p:sp>
      <p:sp>
        <p:nvSpPr>
          <p:cNvPr id="6" name="Shape 4"/>
          <p:cNvSpPr/>
          <p:nvPr/>
        </p:nvSpPr>
        <p:spPr>
          <a:xfrm>
            <a:off x="7315200" y="3466948"/>
            <a:ext cx="4876770" cy="3391052"/>
          </a:xfrm>
          <a:prstGeom prst="roundRect">
            <a:avLst>
              <a:gd name="adj" fmla="val 2804"/>
            </a:avLst>
          </a:prstGeom>
          <a:solidFill>
            <a:srgbClr val="111111"/>
          </a:solidFill>
          <a:ln/>
        </p:spPr>
      </p:sp>
      <p:sp>
        <p:nvSpPr>
          <p:cNvPr id="7" name="Text 5"/>
          <p:cNvSpPr txBox="1"/>
          <p:nvPr/>
        </p:nvSpPr>
        <p:spPr>
          <a:xfrm>
            <a:off x="7448702" y="4991481"/>
            <a:ext cx="4609765"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[KGS MATERIAL]</a:t>
            </a:r>
            <a:endParaRPr lang="en-US" sz="950" dirty="0"/>
          </a:p>
        </p:txBody>
      </p:sp>
      <p:sp>
        <p:nvSpPr>
          <p:cNvPr id="8" name="Shape 6"/>
          <p:cNvSpPr/>
          <p:nvPr/>
        </p:nvSpPr>
        <p:spPr>
          <a:xfrm>
            <a:off x="0" y="4762195"/>
            <a:ext cx="7239305" cy="2095805"/>
          </a:xfrm>
          <a:prstGeom prst="rect">
            <a:avLst/>
          </a:prstGeom>
          <a:solidFill>
            <a:srgbClr val="000000">
              <a:alpha val="86000"/>
            </a:srgbClr>
          </a:solidFill>
          <a:ln/>
        </p:spPr>
      </p:sp>
      <p:sp>
        <p:nvSpPr>
          <p:cNvPr id="9" name="Text 7"/>
          <p:cNvSpPr txBox="1"/>
          <p:nvPr/>
        </p:nvSpPr>
        <p:spPr>
          <a:xfrm>
            <a:off x="533095" y="5219395"/>
            <a:ext cx="6191402" cy="190195"/>
          </a:xfrm>
          <a:prstGeom prst="rect">
            <a:avLst/>
          </a:prstGeom>
          <a:noFill/>
          <a:ln/>
        </p:spPr>
        <p:txBody>
          <a:bodyPr wrap="square" lIns="0" tIns="0" rIns="0" bIns="0" rtlCol="0" anchor="ctr"/>
          <a:lstStyle/>
          <a:p>
            <a:pPr indent="0" marL="0">
              <a:buNone/>
            </a:pPr>
            <a:r>
              <a:rPr lang="en-US" sz="950" b="1" spc="300" kern="0" dirty="0">
                <a:solidFill>
                  <a:srgbClr val="54D2FE"/>
                </a:solidFill>
                <a:latin typeface="Arial" pitchFamily="34" charset="0"/>
                <a:ea typeface="Arial" pitchFamily="34" charset="-122"/>
                <a:cs typeface="Arial" pitchFamily="34" charset="-120"/>
              </a:rPr>
              <a:t>KGS · METAFAB®</a:t>
            </a:r>
            <a:endParaRPr lang="en-US" sz="950" dirty="0"/>
          </a:p>
        </p:txBody>
      </p:sp>
      <p:sp>
        <p:nvSpPr>
          <p:cNvPr id="10" name="Text 8"/>
          <p:cNvSpPr txBox="1"/>
          <p:nvPr/>
        </p:nvSpPr>
        <p:spPr>
          <a:xfrm>
            <a:off x="533095" y="5543093"/>
            <a:ext cx="6191402" cy="914400"/>
          </a:xfrm>
          <a:prstGeom prst="rect">
            <a:avLst/>
          </a:prstGeom>
          <a:noFill/>
          <a:ln/>
        </p:spPr>
        <p:txBody>
          <a:bodyPr wrap="square" lIns="0" tIns="0" rIns="0" bIns="0" rtlCol="0" anchor="t"/>
          <a:lstStyle/>
          <a:p>
            <a:pPr indent="0" marL="0">
              <a:lnSpc>
                <a:spcPts val="2400"/>
              </a:lnSpc>
              <a:buNone/>
            </a:pPr>
            <a:r>
              <a:rPr lang="en-US" sz="1900" b="1" dirty="0">
                <a:solidFill>
                  <a:srgbClr val="FFFFFF"/>
                </a:solidFill>
                <a:latin typeface="Arial" pitchFamily="34" charset="0"/>
                <a:ea typeface="Arial" pitchFamily="34" charset="-122"/>
                <a:cs typeface="Arial" pitchFamily="34" charset="-120"/>
              </a:rPr>
              <a:t>Naval vessels. Aircraft wiring. Secure courtrooms.</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0" y="0"/>
            <a:ext cx="6248370" cy="6858000"/>
          </a:xfrm>
          <a:prstGeom prst="rect">
            <a:avLst/>
          </a:prstGeom>
          <a:solidFill>
            <a:srgbClr val="F4F6F8"/>
          </a:solidFill>
          <a:ln/>
        </p:spPr>
      </p:sp>
      <p:sp>
        <p:nvSpPr>
          <p:cNvPr id="3" name="Text 1"/>
          <p:cNvSpPr txBox="1"/>
          <p:nvPr/>
        </p:nvSpPr>
        <p:spPr>
          <a:xfrm>
            <a:off x="6228893" y="3238805"/>
            <a:ext cx="5676870" cy="381305"/>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FERRONATO-STORE.PNG</a:t>
            </a:r>
            <a:endParaRPr lang="en-US" sz="950" dirty="0"/>
          </a:p>
        </p:txBody>
      </p:sp>
      <p:sp>
        <p:nvSpPr>
          <p:cNvPr id="4" name="Text 2"/>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FERRONATO SWITZERLAND · SMART ACCESSORIES</a:t>
            </a:r>
            <a:endParaRPr lang="en-US" sz="950" dirty="0"/>
          </a:p>
        </p:txBody>
      </p:sp>
      <p:sp>
        <p:nvSpPr>
          <p:cNvPr id="5" name="Text 3"/>
          <p:cNvSpPr txBox="1"/>
          <p:nvPr/>
        </p:nvSpPr>
        <p:spPr>
          <a:xfrm>
            <a:off x="685800" y="800100"/>
            <a:ext cx="4762195" cy="1809598"/>
          </a:xfrm>
          <a:prstGeom prst="rect">
            <a:avLst/>
          </a:prstGeom>
          <a:noFill/>
          <a:ln/>
        </p:spPr>
        <p:txBody>
          <a:bodyPr wrap="square" lIns="0" tIns="0" rIns="0" bIns="0" rtlCol="0" anchor="t"/>
          <a:lstStyle/>
          <a:p>
            <a:pPr indent="0" marL="0">
              <a:lnSpc>
                <a:spcPts val="3080"/>
              </a:lnSpc>
              <a:buNone/>
            </a:pPr>
            <a:r>
              <a:rPr lang="en-US" sz="2550" b="1" dirty="0">
                <a:solidFill>
                  <a:srgbClr val="111111"/>
                </a:solidFill>
                <a:latin typeface="Arial" pitchFamily="34" charset="0"/>
                <a:ea typeface="Arial" pitchFamily="34" charset="-122"/>
                <a:cs typeface="Arial" pitchFamily="34" charset="-120"/>
              </a:rPr>
              <a:t>Privacy as a product, not a promise.</a:t>
            </a:r>
            <a:endParaRPr lang="en-US" sz="2550" dirty="0"/>
          </a:p>
        </p:txBody>
      </p:sp>
      <p:sp>
        <p:nvSpPr>
          <p:cNvPr id="6" name="Text 4"/>
          <p:cNvSpPr txBox="1"/>
          <p:nvPr/>
        </p:nvSpPr>
        <p:spPr>
          <a:xfrm>
            <a:off x="685800" y="2381098"/>
            <a:ext cx="4762195" cy="1047902"/>
          </a:xfrm>
          <a:prstGeom prst="rect">
            <a:avLst/>
          </a:prstGeom>
          <a:noFill/>
          <a:ln/>
        </p:spPr>
        <p:txBody>
          <a:bodyPr wrap="square" lIns="0" tIns="0" rIns="0" bIns="0" rtlCol="0" anchor="t"/>
          <a:lstStyle/>
          <a:p>
            <a:pPr indent="0" marL="0">
              <a:lnSpc>
                <a:spcPts val="1950"/>
              </a:lnSpc>
              <a:buNone/>
            </a:pPr>
            <a:r>
              <a:rPr lang="en-US" sz="1300" dirty="0">
                <a:solidFill>
                  <a:srgbClr val="5A6068"/>
                </a:solidFill>
                <a:latin typeface="Arial" pitchFamily="34" charset="0"/>
                <a:ea typeface="Arial" pitchFamily="34" charset="-122"/>
                <a:cs typeface="Arial" pitchFamily="34" charset="-120"/>
              </a:rPr>
              <a:t>Sleeves, pouches, totes and briefcases in metallised fabric. The benefit is physical, which is what made it provable. Global debut at the Swiss Pavilion, Expo 2020 Dubai.</a:t>
            </a:r>
            <a:endParaRPr lang="en-US" sz="1300" dirty="0"/>
          </a:p>
        </p:txBody>
      </p:sp>
      <p:sp>
        <p:nvSpPr>
          <p:cNvPr id="7" name="Text 5"/>
          <p:cNvSpPr txBox="1"/>
          <p:nvPr/>
        </p:nvSpPr>
        <p:spPr>
          <a:xfrm>
            <a:off x="685800" y="4000500"/>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300k+</a:t>
            </a:r>
            <a:endParaRPr lang="en-US" sz="2850" dirty="0"/>
          </a:p>
        </p:txBody>
      </p:sp>
      <p:sp>
        <p:nvSpPr>
          <p:cNvPr id="8" name="Text 6"/>
          <p:cNvSpPr txBox="1"/>
          <p:nvPr/>
        </p:nvSpPr>
        <p:spPr>
          <a:xfrm>
            <a:off x="685800" y="4476902"/>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PAVILION VISITORS</a:t>
            </a:r>
            <a:endParaRPr lang="en-US" sz="950" dirty="0"/>
          </a:p>
        </p:txBody>
      </p:sp>
      <p:sp>
        <p:nvSpPr>
          <p:cNvPr id="9" name="Text 7"/>
          <p:cNvSpPr txBox="1"/>
          <p:nvPr/>
        </p:nvSpPr>
        <p:spPr>
          <a:xfrm>
            <a:off x="2286000" y="4000500"/>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2023</a:t>
            </a:r>
            <a:endParaRPr lang="en-US" sz="2850" dirty="0"/>
          </a:p>
        </p:txBody>
      </p:sp>
      <p:sp>
        <p:nvSpPr>
          <p:cNvPr id="10" name="Text 8"/>
          <p:cNvSpPr txBox="1"/>
          <p:nvPr/>
        </p:nvSpPr>
        <p:spPr>
          <a:xfrm>
            <a:off x="2286000" y="4476902"/>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FIRST BOUTIQUE</a:t>
            </a:r>
            <a:endParaRPr lang="en-US" sz="950" dirty="0"/>
          </a:p>
        </p:txBody>
      </p:sp>
      <p:sp>
        <p:nvSpPr>
          <p:cNvPr id="11" name="Text 9"/>
          <p:cNvSpPr txBox="1"/>
          <p:nvPr/>
        </p:nvSpPr>
        <p:spPr>
          <a:xfrm>
            <a:off x="3886200" y="4000500"/>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4</a:t>
            </a:r>
            <a:endParaRPr lang="en-US" sz="2850" dirty="0"/>
          </a:p>
        </p:txBody>
      </p:sp>
      <p:sp>
        <p:nvSpPr>
          <p:cNvPr id="12" name="Text 10"/>
          <p:cNvSpPr txBox="1"/>
          <p:nvPr/>
        </p:nvSpPr>
        <p:spPr>
          <a:xfrm>
            <a:off x="3886200" y="4476902"/>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PRODUCT LINES</a:t>
            </a:r>
            <a:endParaRPr lang="en-US" sz="950" dirty="0"/>
          </a:p>
        </p:txBody>
      </p:sp>
      <p:pic>
        <p:nvPicPr>
          <p:cNvPr id="13"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14" name="Text 11"/>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7239305" cy="6858000"/>
          </a:xfrm>
          <a:prstGeom prst="roundRect">
            <a:avLst>
              <a:gd name="adj" fmla="val 1387"/>
            </a:avLst>
          </a:prstGeom>
          <a:solidFill>
            <a:srgbClr val="111111"/>
          </a:solidFill>
          <a:ln/>
        </p:spPr>
      </p:sp>
      <p:sp>
        <p:nvSpPr>
          <p:cNvPr id="3" name="Text 1"/>
          <p:cNvSpPr txBox="1"/>
          <p:nvPr/>
        </p:nvSpPr>
        <p:spPr>
          <a:xfrm>
            <a:off x="133502" y="3258007"/>
            <a:ext cx="6972300"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FERRONATO-STORE.PNG</a:t>
            </a:r>
            <a:endParaRPr lang="en-US" sz="950" dirty="0"/>
          </a:p>
        </p:txBody>
      </p:sp>
      <p:sp>
        <p:nvSpPr>
          <p:cNvPr id="4" name="Shape 2"/>
          <p:cNvSpPr/>
          <p:nvPr/>
        </p:nvSpPr>
        <p:spPr>
          <a:xfrm>
            <a:off x="7315200" y="0"/>
            <a:ext cx="4876770" cy="3391052"/>
          </a:xfrm>
          <a:prstGeom prst="roundRect">
            <a:avLst>
              <a:gd name="adj" fmla="val 2804"/>
            </a:avLst>
          </a:prstGeom>
          <a:solidFill>
            <a:srgbClr val="111111"/>
          </a:solidFill>
          <a:ln/>
        </p:spPr>
      </p:sp>
      <p:sp>
        <p:nvSpPr>
          <p:cNvPr id="5" name="Text 3"/>
          <p:cNvSpPr txBox="1"/>
          <p:nvPr/>
        </p:nvSpPr>
        <p:spPr>
          <a:xfrm>
            <a:off x="7448702" y="1524533"/>
            <a:ext cx="4609765"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FERRONATO-CAMPAIGN.PNG</a:t>
            </a:r>
            <a:endParaRPr lang="en-US" sz="950" dirty="0"/>
          </a:p>
        </p:txBody>
      </p:sp>
      <p:sp>
        <p:nvSpPr>
          <p:cNvPr id="6" name="Shape 4"/>
          <p:cNvSpPr/>
          <p:nvPr/>
        </p:nvSpPr>
        <p:spPr>
          <a:xfrm>
            <a:off x="7315200" y="3466948"/>
            <a:ext cx="4876770" cy="3391052"/>
          </a:xfrm>
          <a:prstGeom prst="roundRect">
            <a:avLst>
              <a:gd name="adj" fmla="val 2804"/>
            </a:avLst>
          </a:prstGeom>
          <a:solidFill>
            <a:srgbClr val="111111"/>
          </a:solidFill>
          <a:ln/>
        </p:spPr>
      </p:sp>
      <p:sp>
        <p:nvSpPr>
          <p:cNvPr id="7" name="Text 5"/>
          <p:cNvSpPr txBox="1"/>
          <p:nvPr/>
        </p:nvSpPr>
        <p:spPr>
          <a:xfrm>
            <a:off x="7448702" y="4991481"/>
            <a:ext cx="4609765"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FERRONATO-ATELIER.PNG</a:t>
            </a:r>
            <a:endParaRPr lang="en-US" sz="950" dirty="0"/>
          </a:p>
        </p:txBody>
      </p:sp>
      <p:sp>
        <p:nvSpPr>
          <p:cNvPr id="8" name="Shape 6"/>
          <p:cNvSpPr/>
          <p:nvPr/>
        </p:nvSpPr>
        <p:spPr>
          <a:xfrm>
            <a:off x="0" y="4762195"/>
            <a:ext cx="7239305" cy="2095805"/>
          </a:xfrm>
          <a:prstGeom prst="rect">
            <a:avLst/>
          </a:prstGeom>
          <a:solidFill>
            <a:srgbClr val="000000">
              <a:alpha val="86000"/>
            </a:srgbClr>
          </a:solidFill>
          <a:ln/>
        </p:spPr>
      </p:sp>
      <p:sp>
        <p:nvSpPr>
          <p:cNvPr id="9" name="Text 7"/>
          <p:cNvSpPr txBox="1"/>
          <p:nvPr/>
        </p:nvSpPr>
        <p:spPr>
          <a:xfrm>
            <a:off x="533095" y="5219395"/>
            <a:ext cx="6191402" cy="190195"/>
          </a:xfrm>
          <a:prstGeom prst="rect">
            <a:avLst/>
          </a:prstGeom>
          <a:noFill/>
          <a:ln/>
        </p:spPr>
        <p:txBody>
          <a:bodyPr wrap="square" lIns="0" tIns="0" rIns="0" bIns="0" rtlCol="0" anchor="ctr"/>
          <a:lstStyle/>
          <a:p>
            <a:pPr indent="0" marL="0">
              <a:buNone/>
            </a:pPr>
            <a:r>
              <a:rPr lang="en-US" sz="950" b="1" spc="300" kern="0" dirty="0">
                <a:solidFill>
                  <a:srgbClr val="54D2FE"/>
                </a:solidFill>
                <a:latin typeface="Arial" pitchFamily="34" charset="0"/>
                <a:ea typeface="Arial" pitchFamily="34" charset="-122"/>
                <a:cs typeface="Arial" pitchFamily="34" charset="-120"/>
              </a:rPr>
              <a:t>FERRONATO SWITZERLAND</a:t>
            </a:r>
            <a:endParaRPr lang="en-US" sz="950" dirty="0"/>
          </a:p>
        </p:txBody>
      </p:sp>
      <p:sp>
        <p:nvSpPr>
          <p:cNvPr id="10" name="Text 8"/>
          <p:cNvSpPr txBox="1"/>
          <p:nvPr/>
        </p:nvSpPr>
        <p:spPr>
          <a:xfrm>
            <a:off x="533095" y="5543093"/>
            <a:ext cx="6191402" cy="914400"/>
          </a:xfrm>
          <a:prstGeom prst="rect">
            <a:avLst/>
          </a:prstGeom>
          <a:noFill/>
          <a:ln/>
        </p:spPr>
        <p:txBody>
          <a:bodyPr wrap="square" lIns="0" tIns="0" rIns="0" bIns="0" rtlCol="0" anchor="t"/>
          <a:lstStyle/>
          <a:p>
            <a:pPr indent="0" marL="0">
              <a:lnSpc>
                <a:spcPts val="2400"/>
              </a:lnSpc>
              <a:buNone/>
            </a:pPr>
            <a:r>
              <a:rPr lang="en-US" sz="1900" b="1" dirty="0">
                <a:solidFill>
                  <a:srgbClr val="FFFFFF"/>
                </a:solidFill>
                <a:latin typeface="Arial" pitchFamily="34" charset="0"/>
                <a:ea typeface="Arial" pitchFamily="34" charset="-122"/>
                <a:cs typeface="Arial" pitchFamily="34" charset="-120"/>
              </a:rPr>
              <a:t>One brand system across retail, film and product.</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FERRONATO SWITZERLAND · CAMPAIGN</a:t>
            </a:r>
            <a:endParaRPr lang="en-US" sz="950" dirty="0"/>
          </a:p>
        </p:txBody>
      </p:sp>
      <p:sp>
        <p:nvSpPr>
          <p:cNvPr id="3" name="Text 1"/>
          <p:cNvSpPr txBox="1"/>
          <p:nvPr/>
        </p:nvSpPr>
        <p:spPr>
          <a:xfrm>
            <a:off x="685800" y="800100"/>
            <a:ext cx="10820095" cy="666598"/>
          </a:xfrm>
          <a:prstGeom prst="rect">
            <a:avLst/>
          </a:prstGeom>
          <a:noFill/>
          <a:ln/>
        </p:spPr>
        <p:txBody>
          <a:bodyPr wrap="square" lIns="0" tIns="0" rIns="0" bIns="0" rtlCol="0" anchor="t"/>
          <a:lstStyle/>
          <a:p>
            <a:pPr indent="0" marL="0">
              <a:lnSpc>
                <a:spcPts val="4050"/>
              </a:lnSpc>
              <a:buNone/>
            </a:pPr>
            <a:r>
              <a:rPr lang="en-US" sz="2850" b="1" dirty="0">
                <a:solidFill>
                  <a:srgbClr val="111111"/>
                </a:solidFill>
                <a:latin typeface="Arial" pitchFamily="34" charset="0"/>
                <a:ea typeface="Arial" pitchFamily="34" charset="-122"/>
                <a:cs typeface="Arial" pitchFamily="34" charset="-120"/>
              </a:rPr>
              <a:t>Three festive films, one idea.</a:t>
            </a:r>
            <a:endParaRPr lang="en-US" sz="2850" dirty="0"/>
          </a:p>
        </p:txBody>
      </p:sp>
      <p:sp>
        <p:nvSpPr>
          <p:cNvPr id="4" name="Text 2"/>
          <p:cNvSpPr txBox="1"/>
          <p:nvPr/>
        </p:nvSpPr>
        <p:spPr>
          <a:xfrm>
            <a:off x="685800" y="1714500"/>
            <a:ext cx="8572500" cy="381305"/>
          </a:xfrm>
          <a:prstGeom prst="rect">
            <a:avLst/>
          </a:prstGeom>
          <a:noFill/>
          <a:ln/>
        </p:spPr>
        <p:txBody>
          <a:bodyPr wrap="square" lIns="0" tIns="0" rIns="0" bIns="0" rtlCol="0" anchor="t"/>
          <a:lstStyle/>
          <a:p>
            <a:pPr indent="0" marL="0">
              <a:lnSpc>
                <a:spcPts val="1950"/>
              </a:lnSpc>
              <a:buNone/>
            </a:pPr>
            <a:r>
              <a:rPr lang="en-US" sz="1300" dirty="0">
                <a:solidFill>
                  <a:srgbClr val="5A6068"/>
                </a:solidFill>
                <a:latin typeface="Arial" pitchFamily="34" charset="0"/>
                <a:ea typeface="Arial" pitchFamily="34" charset="-122"/>
                <a:cs typeface="Arial" pitchFamily="34" charset="-120"/>
              </a:rPr>
              <a:t>Going untraceable, told through Santa.</a:t>
            </a:r>
            <a:endParaRPr lang="en-US" sz="1300" dirty="0"/>
          </a:p>
        </p:txBody>
      </p:sp>
      <p:sp>
        <p:nvSpPr>
          <p:cNvPr id="5" name="Shape 3"/>
          <p:cNvSpPr/>
          <p:nvPr/>
        </p:nvSpPr>
        <p:spPr>
          <a:xfrm>
            <a:off x="685800" y="2381098"/>
            <a:ext cx="3400654" cy="1904695"/>
          </a:xfrm>
          <a:prstGeom prst="roundRect">
            <a:avLst>
              <a:gd name="adj" fmla="val 4993"/>
            </a:avLst>
          </a:prstGeom>
          <a:solidFill>
            <a:srgbClr val="F4F6F8"/>
          </a:solidFill>
          <a:ln/>
        </p:spPr>
      </p:sp>
      <p:sp>
        <p:nvSpPr>
          <p:cNvPr id="6" name="Text 4"/>
          <p:cNvSpPr txBox="1"/>
          <p:nvPr/>
        </p:nvSpPr>
        <p:spPr>
          <a:xfrm>
            <a:off x="819302" y="3162452"/>
            <a:ext cx="3133649"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[FESTIVE FILM STILL]</a:t>
            </a:r>
            <a:endParaRPr lang="en-US" sz="950" dirty="0"/>
          </a:p>
        </p:txBody>
      </p:sp>
      <p:sp>
        <p:nvSpPr>
          <p:cNvPr id="7" name="Text 5"/>
          <p:cNvSpPr txBox="1"/>
          <p:nvPr/>
        </p:nvSpPr>
        <p:spPr>
          <a:xfrm>
            <a:off x="685800" y="4457700"/>
            <a:ext cx="3400654" cy="323698"/>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Gift of Privacy</a:t>
            </a:r>
            <a:endParaRPr lang="en-US" sz="1400" dirty="0"/>
          </a:p>
        </p:txBody>
      </p:sp>
      <p:sp>
        <p:nvSpPr>
          <p:cNvPr id="8" name="Shape 6"/>
          <p:cNvSpPr/>
          <p:nvPr/>
        </p:nvSpPr>
        <p:spPr>
          <a:xfrm>
            <a:off x="4362602" y="2381098"/>
            <a:ext cx="3400654" cy="1904695"/>
          </a:xfrm>
          <a:prstGeom prst="roundRect">
            <a:avLst>
              <a:gd name="adj" fmla="val 4993"/>
            </a:avLst>
          </a:prstGeom>
          <a:solidFill>
            <a:srgbClr val="F4F6F8"/>
          </a:solidFill>
          <a:ln/>
        </p:spPr>
      </p:sp>
      <p:sp>
        <p:nvSpPr>
          <p:cNvPr id="9" name="Text 7"/>
          <p:cNvSpPr txBox="1"/>
          <p:nvPr/>
        </p:nvSpPr>
        <p:spPr>
          <a:xfrm>
            <a:off x="4496105" y="3162452"/>
            <a:ext cx="3133649"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[FESTIVE FILM STILL]</a:t>
            </a:r>
            <a:endParaRPr lang="en-US" sz="950" dirty="0"/>
          </a:p>
        </p:txBody>
      </p:sp>
      <p:sp>
        <p:nvSpPr>
          <p:cNvPr id="10" name="Text 8"/>
          <p:cNvSpPr txBox="1"/>
          <p:nvPr/>
        </p:nvSpPr>
        <p:spPr>
          <a:xfrm>
            <a:off x="4362602" y="4457700"/>
            <a:ext cx="3400654" cy="323698"/>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Disconnect and Connect</a:t>
            </a:r>
            <a:endParaRPr lang="en-US" sz="1400" dirty="0"/>
          </a:p>
        </p:txBody>
      </p:sp>
      <p:sp>
        <p:nvSpPr>
          <p:cNvPr id="11" name="Shape 9"/>
          <p:cNvSpPr/>
          <p:nvPr/>
        </p:nvSpPr>
        <p:spPr>
          <a:xfrm>
            <a:off x="8039405" y="2381098"/>
            <a:ext cx="3400654" cy="1904695"/>
          </a:xfrm>
          <a:prstGeom prst="roundRect">
            <a:avLst>
              <a:gd name="adj" fmla="val 4993"/>
            </a:avLst>
          </a:prstGeom>
          <a:solidFill>
            <a:srgbClr val="F4F6F8"/>
          </a:solidFill>
          <a:ln/>
        </p:spPr>
      </p:sp>
      <p:sp>
        <p:nvSpPr>
          <p:cNvPr id="12" name="Text 10"/>
          <p:cNvSpPr txBox="1"/>
          <p:nvPr/>
        </p:nvSpPr>
        <p:spPr>
          <a:xfrm>
            <a:off x="8172907" y="3162452"/>
            <a:ext cx="3133649"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[FESTIVE FILM STILL]</a:t>
            </a:r>
            <a:endParaRPr lang="en-US" sz="950" dirty="0"/>
          </a:p>
        </p:txBody>
      </p:sp>
      <p:sp>
        <p:nvSpPr>
          <p:cNvPr id="13" name="Text 11"/>
          <p:cNvSpPr txBox="1"/>
          <p:nvPr/>
        </p:nvSpPr>
        <p:spPr>
          <a:xfrm>
            <a:off x="8039405" y="4457700"/>
            <a:ext cx="3400654" cy="323698"/>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Stay off-grid</a:t>
            </a:r>
            <a:endParaRPr lang="en-US" sz="1400" dirty="0"/>
          </a:p>
        </p:txBody>
      </p:sp>
      <p:pic>
        <p:nvPicPr>
          <p:cNvPr id="14"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15" name="Text 12"/>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54D2FE"/>
                </a:solidFill>
                <a:latin typeface="Arial" pitchFamily="34" charset="0"/>
                <a:ea typeface="Arial" pitchFamily="34" charset="-122"/>
                <a:cs typeface="Arial" pitchFamily="34" charset="-120"/>
              </a:rPr>
              <a:t>OPEC INTERNATIONAL SEMINAR · HOFBURG, VIENNA</a:t>
            </a:r>
            <a:endParaRPr lang="en-US" sz="950" dirty="0"/>
          </a:p>
        </p:txBody>
      </p:sp>
      <p:sp>
        <p:nvSpPr>
          <p:cNvPr id="3" name="Text 1"/>
          <p:cNvSpPr txBox="1"/>
          <p:nvPr/>
        </p:nvSpPr>
        <p:spPr>
          <a:xfrm>
            <a:off x="685800" y="800100"/>
            <a:ext cx="10820095" cy="1047902"/>
          </a:xfrm>
          <a:prstGeom prst="rect">
            <a:avLst/>
          </a:prstGeom>
          <a:noFill/>
          <a:ln/>
        </p:spPr>
        <p:txBody>
          <a:bodyPr wrap="square" lIns="0" tIns="0" rIns="0" bIns="0" rtlCol="0" anchor="t"/>
          <a:lstStyle/>
          <a:p>
            <a:pPr indent="0" marL="0">
              <a:lnSpc>
                <a:spcPts val="4050"/>
              </a:lnSpc>
              <a:buNone/>
            </a:pPr>
            <a:r>
              <a:rPr lang="en-US" sz="3400" b="1" dirty="0">
                <a:solidFill>
                  <a:srgbClr val="FFFFFF"/>
                </a:solidFill>
                <a:latin typeface="Arial" pitchFamily="34" charset="0"/>
                <a:ea typeface="Arial" pitchFamily="34" charset="-122"/>
                <a:cs typeface="Arial" pitchFamily="34" charset="-120"/>
              </a:rPr>
              <a:t>The room the UAE had to host.</a:t>
            </a:r>
            <a:endParaRPr lang="en-US" sz="3400" dirty="0"/>
          </a:p>
        </p:txBody>
      </p:sp>
      <p:sp>
        <p:nvSpPr>
          <p:cNvPr id="4" name="Text 2"/>
          <p:cNvSpPr txBox="1"/>
          <p:nvPr/>
        </p:nvSpPr>
        <p:spPr>
          <a:xfrm>
            <a:off x="685800" y="2048256"/>
            <a:ext cx="8762695" cy="761695"/>
          </a:xfrm>
          <a:prstGeom prst="rect">
            <a:avLst/>
          </a:prstGeom>
          <a:noFill/>
          <a:ln/>
        </p:spPr>
        <p:txBody>
          <a:bodyPr wrap="square" lIns="0" tIns="0" rIns="0" bIns="0" rtlCol="0" anchor="t"/>
          <a:lstStyle/>
          <a:p>
            <a:pPr indent="0" marL="0">
              <a:lnSpc>
                <a:spcPts val="1950"/>
              </a:lnSpc>
              <a:buNone/>
            </a:pPr>
            <a:r>
              <a:rPr lang="en-US" sz="1300" dirty="0">
                <a:solidFill>
                  <a:srgbClr val="B9BEC5"/>
                </a:solidFill>
                <a:latin typeface="Arial" pitchFamily="34" charset="0"/>
                <a:ea typeface="Arial" pitchFamily="34" charset="-122"/>
                <a:cs typeface="Arial" pitchFamily="34" charset="-120"/>
              </a:rPr>
              <a:t>The OPEC International Seminar gathers energy ministers, decision makers, diplomats and international media in Vienna. The UAE delegation is led by the Minister of Energy, with officials from ADNOC and Mubadala.</a:t>
            </a:r>
            <a:endParaRPr lang="en-US" sz="1300" dirty="0"/>
          </a:p>
        </p:txBody>
      </p:sp>
      <p:sp>
        <p:nvSpPr>
          <p:cNvPr id="5" name="Text 3"/>
          <p:cNvSpPr txBox="1"/>
          <p:nvPr/>
        </p:nvSpPr>
        <p:spPr>
          <a:xfrm>
            <a:off x="685800" y="3142793"/>
            <a:ext cx="2514600" cy="437998"/>
          </a:xfrm>
          <a:prstGeom prst="rect">
            <a:avLst/>
          </a:prstGeom>
          <a:noFill/>
          <a:ln/>
        </p:spPr>
        <p:txBody>
          <a:bodyPr wrap="square" lIns="0" tIns="0" rIns="0" bIns="0" rtlCol="0" anchor="ctr"/>
          <a:lstStyle/>
          <a:p>
            <a:pPr indent="0" marL="0">
              <a:buNone/>
            </a:pPr>
            <a:r>
              <a:rPr lang="en-US" sz="2850" b="1" dirty="0">
                <a:solidFill>
                  <a:srgbClr val="FFFFFF"/>
                </a:solidFill>
                <a:latin typeface="Arial" pitchFamily="34" charset="0"/>
                <a:ea typeface="Arial" pitchFamily="34" charset="-122"/>
                <a:cs typeface="Arial" pitchFamily="34" charset="-120"/>
              </a:rPr>
              <a:t>700+</a:t>
            </a:r>
            <a:endParaRPr lang="en-US" sz="2850" dirty="0"/>
          </a:p>
        </p:txBody>
      </p:sp>
      <p:sp>
        <p:nvSpPr>
          <p:cNvPr id="6" name="Text 4"/>
          <p:cNvSpPr txBox="1"/>
          <p:nvPr/>
        </p:nvSpPr>
        <p:spPr>
          <a:xfrm>
            <a:off x="685800" y="3619195"/>
            <a:ext cx="2477110"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54D2FE"/>
                </a:solidFill>
                <a:latin typeface="Arial" pitchFamily="34" charset="0"/>
                <a:ea typeface="Arial" pitchFamily="34" charset="-122"/>
                <a:cs typeface="Arial" pitchFamily="34" charset="-120"/>
              </a:rPr>
              <a:t>DELEGATES AT THE UAE DINNER</a:t>
            </a:r>
            <a:endParaRPr lang="en-US" sz="950" dirty="0"/>
          </a:p>
        </p:txBody>
      </p:sp>
      <p:sp>
        <p:nvSpPr>
          <p:cNvPr id="7" name="Text 5"/>
          <p:cNvSpPr txBox="1"/>
          <p:nvPr/>
        </p:nvSpPr>
        <p:spPr>
          <a:xfrm>
            <a:off x="3353105" y="3142793"/>
            <a:ext cx="2514600" cy="437998"/>
          </a:xfrm>
          <a:prstGeom prst="rect">
            <a:avLst/>
          </a:prstGeom>
          <a:noFill/>
          <a:ln/>
        </p:spPr>
        <p:txBody>
          <a:bodyPr wrap="square" lIns="0" tIns="0" rIns="0" bIns="0" rtlCol="0" anchor="ctr"/>
          <a:lstStyle/>
          <a:p>
            <a:pPr indent="0" marL="0">
              <a:buNone/>
            </a:pPr>
            <a:r>
              <a:rPr lang="en-US" sz="2850" b="1" dirty="0">
                <a:solidFill>
                  <a:srgbClr val="FFFFFF"/>
                </a:solidFill>
                <a:latin typeface="Arial" pitchFamily="34" charset="0"/>
                <a:ea typeface="Arial" pitchFamily="34" charset="-122"/>
                <a:cs typeface="Arial" pitchFamily="34" charset="-120"/>
              </a:rPr>
              <a:t>Hofburg</a:t>
            </a:r>
            <a:endParaRPr lang="en-US" sz="2850" dirty="0"/>
          </a:p>
        </p:txBody>
      </p:sp>
      <p:sp>
        <p:nvSpPr>
          <p:cNvPr id="8" name="Text 6"/>
          <p:cNvSpPr txBox="1"/>
          <p:nvPr/>
        </p:nvSpPr>
        <p:spPr>
          <a:xfrm>
            <a:off x="3353105" y="3619195"/>
            <a:ext cx="2477110"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54D2FE"/>
                </a:solidFill>
                <a:latin typeface="Arial" pitchFamily="34" charset="0"/>
                <a:ea typeface="Arial" pitchFamily="34" charset="-122"/>
                <a:cs typeface="Arial" pitchFamily="34" charset="-120"/>
              </a:rPr>
              <a:t>VIENNA</a:t>
            </a:r>
            <a:endParaRPr lang="en-US" sz="950" dirty="0"/>
          </a:p>
        </p:txBody>
      </p:sp>
      <p:sp>
        <p:nvSpPr>
          <p:cNvPr id="9" name="Text 7"/>
          <p:cNvSpPr txBox="1"/>
          <p:nvPr/>
        </p:nvSpPr>
        <p:spPr>
          <a:xfrm>
            <a:off x="6020410" y="3142793"/>
            <a:ext cx="2514600" cy="437998"/>
          </a:xfrm>
          <a:prstGeom prst="rect">
            <a:avLst/>
          </a:prstGeom>
          <a:noFill/>
          <a:ln/>
        </p:spPr>
        <p:txBody>
          <a:bodyPr wrap="square" lIns="0" tIns="0" rIns="0" bIns="0" rtlCol="0" anchor="ctr"/>
          <a:lstStyle/>
          <a:p>
            <a:pPr indent="0" marL="0">
              <a:buNone/>
            </a:pPr>
            <a:r>
              <a:rPr lang="en-US" sz="2850" b="1" dirty="0">
                <a:solidFill>
                  <a:srgbClr val="FFFFFF"/>
                </a:solidFill>
                <a:latin typeface="Arial" pitchFamily="34" charset="0"/>
                <a:ea typeface="Arial" pitchFamily="34" charset="-122"/>
                <a:cs typeface="Arial" pitchFamily="34" charset="-120"/>
              </a:rPr>
              <a:t>Ministerial</a:t>
            </a:r>
            <a:endParaRPr lang="en-US" sz="2850" dirty="0"/>
          </a:p>
        </p:txBody>
      </p:sp>
      <p:sp>
        <p:nvSpPr>
          <p:cNvPr id="10" name="Text 8"/>
          <p:cNvSpPr txBox="1"/>
          <p:nvPr/>
        </p:nvSpPr>
        <p:spPr>
          <a:xfrm>
            <a:off x="6020410" y="3619195"/>
            <a:ext cx="2477110"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54D2FE"/>
                </a:solidFill>
                <a:latin typeface="Arial" pitchFamily="34" charset="0"/>
                <a:ea typeface="Arial" pitchFamily="34" charset="-122"/>
                <a:cs typeface="Arial" pitchFamily="34" charset="-120"/>
              </a:rPr>
              <a:t>DELEGATION</a:t>
            </a:r>
            <a:endParaRPr lang="en-US" sz="950" dirty="0"/>
          </a:p>
        </p:txBody>
      </p:sp>
      <p:sp>
        <p:nvSpPr>
          <p:cNvPr id="11" name="Shape 9"/>
          <p:cNvSpPr/>
          <p:nvPr/>
        </p:nvSpPr>
        <p:spPr>
          <a:xfrm>
            <a:off x="685800" y="4476902"/>
            <a:ext cx="10820095" cy="1524305"/>
          </a:xfrm>
          <a:prstGeom prst="roundRect">
            <a:avLst>
              <a:gd name="adj" fmla="val 6239"/>
            </a:avLst>
          </a:prstGeom>
          <a:solidFill>
            <a:srgbClr val="111111"/>
          </a:solidFill>
          <a:ln/>
        </p:spPr>
      </p:sp>
      <p:sp>
        <p:nvSpPr>
          <p:cNvPr id="12" name="Text 10"/>
          <p:cNvSpPr txBox="1"/>
          <p:nvPr/>
        </p:nvSpPr>
        <p:spPr>
          <a:xfrm>
            <a:off x="819302" y="5068062"/>
            <a:ext cx="10553090"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EOV-OPEC-MINISTER.JPG</a:t>
            </a:r>
            <a:endParaRPr lang="en-US" sz="950" dirty="0"/>
          </a:p>
        </p:txBody>
      </p:sp>
      <p:pic>
        <p:nvPicPr>
          <p:cNvPr id="13" name="Image 0" descr="assets/eov-wordmark-white.png">    </p:cNvPr>
          <p:cNvPicPr>
            <a:picLocks noChangeAspect="1"/>
          </p:cNvPicPr>
          <p:nvPr/>
        </p:nvPicPr>
        <p:blipFill>
          <a:blip r:embed="rId1"/>
          <a:stretch>
            <a:fillRect/>
          </a:stretch>
        </p:blipFill>
        <p:spPr>
          <a:xfrm>
            <a:off x="685800" y="6238951"/>
            <a:ext cx="571500" cy="190195"/>
          </a:xfrm>
          <a:prstGeom prst="rect">
            <a:avLst/>
          </a:prstGeom>
        </p:spPr>
      </p:pic>
      <p:sp>
        <p:nvSpPr>
          <p:cNvPr id="14" name="Text 11"/>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6E7379"/>
                </a:solidFill>
                <a:latin typeface="Arial" pitchFamily="34" charset="0"/>
                <a:ea typeface="Arial" pitchFamily="34" charset="-122"/>
                <a:cs typeface="Arial"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0" y="0"/>
            <a:ext cx="6248370" cy="6858000"/>
          </a:xfrm>
          <a:prstGeom prst="rect">
            <a:avLst/>
          </a:prstGeom>
          <a:solidFill>
            <a:srgbClr val="F4F6F8"/>
          </a:solidFill>
          <a:ln/>
        </p:spPr>
      </p:sp>
      <p:sp>
        <p:nvSpPr>
          <p:cNvPr id="3" name="Text 1"/>
          <p:cNvSpPr txBox="1"/>
          <p:nvPr/>
        </p:nvSpPr>
        <p:spPr>
          <a:xfrm>
            <a:off x="6228893" y="3238805"/>
            <a:ext cx="5676870" cy="381305"/>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EOV-OPEC-VIENNA.JPG</a:t>
            </a:r>
            <a:endParaRPr lang="en-US" sz="950" dirty="0"/>
          </a:p>
        </p:txBody>
      </p:sp>
      <p:sp>
        <p:nvSpPr>
          <p:cNvPr id="4" name="Text 2"/>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OPEC · UAE NIGHT, VIENNA</a:t>
            </a:r>
            <a:endParaRPr lang="en-US" sz="950" dirty="0"/>
          </a:p>
        </p:txBody>
      </p:sp>
      <p:sp>
        <p:nvSpPr>
          <p:cNvPr id="5" name="Text 3"/>
          <p:cNvSpPr txBox="1"/>
          <p:nvPr/>
        </p:nvSpPr>
        <p:spPr>
          <a:xfrm>
            <a:off x="685800" y="800100"/>
            <a:ext cx="4762195" cy="1809598"/>
          </a:xfrm>
          <a:prstGeom prst="rect">
            <a:avLst/>
          </a:prstGeom>
          <a:noFill/>
          <a:ln/>
        </p:spPr>
        <p:txBody>
          <a:bodyPr wrap="square" lIns="0" tIns="0" rIns="0" bIns="0" rtlCol="0" anchor="t"/>
          <a:lstStyle/>
          <a:p>
            <a:pPr indent="0" marL="0">
              <a:lnSpc>
                <a:spcPts val="3080"/>
              </a:lnSpc>
              <a:buNone/>
            </a:pPr>
            <a:r>
              <a:rPr lang="en-US" sz="2850" b="1" dirty="0">
                <a:solidFill>
                  <a:srgbClr val="111111"/>
                </a:solidFill>
                <a:latin typeface="Arial" pitchFamily="34" charset="0"/>
                <a:ea typeface="Arial" pitchFamily="34" charset="-122"/>
                <a:cs typeface="Arial" pitchFamily="34" charset="-120"/>
              </a:rPr>
              <a:t>A national event, delivered in a foreign capital.</a:t>
            </a:r>
            <a:endParaRPr lang="en-US" sz="2850" dirty="0"/>
          </a:p>
        </p:txBody>
      </p:sp>
      <p:sp>
        <p:nvSpPr>
          <p:cNvPr id="6" name="Text 4"/>
          <p:cNvSpPr txBox="1"/>
          <p:nvPr/>
        </p:nvSpPr>
        <p:spPr>
          <a:xfrm>
            <a:off x="685800" y="2381098"/>
            <a:ext cx="4762195" cy="1047902"/>
          </a:xfrm>
          <a:prstGeom prst="rect">
            <a:avLst/>
          </a:prstGeom>
          <a:noFill/>
          <a:ln/>
        </p:spPr>
        <p:txBody>
          <a:bodyPr wrap="square" lIns="0" tIns="0" rIns="0" bIns="0" rtlCol="0" anchor="t"/>
          <a:lstStyle/>
          <a:p>
            <a:pPr indent="0" marL="0">
              <a:lnSpc>
                <a:spcPts val="1950"/>
              </a:lnSpc>
              <a:buNone/>
            </a:pPr>
            <a:r>
              <a:rPr lang="en-US" sz="1300" dirty="0">
                <a:solidFill>
                  <a:srgbClr val="5A6068"/>
                </a:solidFill>
                <a:latin typeface="Arial" pitchFamily="34" charset="0"/>
                <a:ea typeface="Arial" pitchFamily="34" charset="-122"/>
                <a:cs typeface="Arial" pitchFamily="34" charset="-120"/>
              </a:rPr>
              <a:t>Organised by EOV in partnership with H.E. Suhail Al Mazrouei, Minister of Energy. A fixed date in the OPEC calendar, in a city with none of a home market's suppliers or margins for error.</a:t>
            </a:r>
            <a:endParaRPr lang="en-US" sz="1300" dirty="0"/>
          </a:p>
        </p:txBody>
      </p:sp>
      <p:sp>
        <p:nvSpPr>
          <p:cNvPr id="7" name="Text 5"/>
          <p:cNvSpPr txBox="1"/>
          <p:nvPr/>
        </p:nvSpPr>
        <p:spPr>
          <a:xfrm>
            <a:off x="685800" y="4000500"/>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Vienna</a:t>
            </a:r>
            <a:endParaRPr lang="en-US" sz="2850" dirty="0"/>
          </a:p>
        </p:txBody>
      </p:sp>
      <p:sp>
        <p:nvSpPr>
          <p:cNvPr id="8" name="Text 6"/>
          <p:cNvSpPr txBox="1"/>
          <p:nvPr/>
        </p:nvSpPr>
        <p:spPr>
          <a:xfrm>
            <a:off x="685800" y="4476902"/>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FOREIGN CAPITAL</a:t>
            </a:r>
            <a:endParaRPr lang="en-US" sz="950" dirty="0"/>
          </a:p>
        </p:txBody>
      </p:sp>
      <p:sp>
        <p:nvSpPr>
          <p:cNvPr id="9" name="Text 7"/>
          <p:cNvSpPr txBox="1"/>
          <p:nvPr/>
        </p:nvSpPr>
        <p:spPr>
          <a:xfrm>
            <a:off x="2286000" y="4000500"/>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Fixed</a:t>
            </a:r>
            <a:endParaRPr lang="en-US" sz="2850" dirty="0"/>
          </a:p>
        </p:txBody>
      </p:sp>
      <p:sp>
        <p:nvSpPr>
          <p:cNvPr id="10" name="Text 8"/>
          <p:cNvSpPr txBox="1"/>
          <p:nvPr/>
        </p:nvSpPr>
        <p:spPr>
          <a:xfrm>
            <a:off x="2286000" y="4476902"/>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DATE</a:t>
            </a:r>
            <a:endParaRPr lang="en-US" sz="950" dirty="0"/>
          </a:p>
        </p:txBody>
      </p:sp>
      <p:sp>
        <p:nvSpPr>
          <p:cNvPr id="11" name="Text 9"/>
          <p:cNvSpPr txBox="1"/>
          <p:nvPr/>
        </p:nvSpPr>
        <p:spPr>
          <a:xfrm>
            <a:off x="3886200" y="4000500"/>
            <a:ext cx="1447495" cy="437998"/>
          </a:xfrm>
          <a:prstGeom prst="rect">
            <a:avLst/>
          </a:prstGeom>
          <a:noFill/>
          <a:ln/>
        </p:spPr>
        <p:txBody>
          <a:bodyPr wrap="square" lIns="0" tIns="0" rIns="0" bIns="0" rtlCol="0" anchor="ctr"/>
          <a:lstStyle/>
          <a:p>
            <a:pPr indent="0" marL="0">
              <a:buNone/>
            </a:pPr>
            <a:r>
              <a:rPr lang="en-US" sz="2850" b="1" dirty="0">
                <a:solidFill>
                  <a:srgbClr val="111111"/>
                </a:solidFill>
                <a:latin typeface="Arial" pitchFamily="34" charset="0"/>
                <a:ea typeface="Arial" pitchFamily="34" charset="-122"/>
                <a:cs typeface="Arial" pitchFamily="34" charset="-120"/>
              </a:rPr>
              <a:t>H.E.</a:t>
            </a:r>
            <a:endParaRPr lang="en-US" sz="2850" dirty="0"/>
          </a:p>
        </p:txBody>
      </p:sp>
      <p:sp>
        <p:nvSpPr>
          <p:cNvPr id="12" name="Text 10"/>
          <p:cNvSpPr txBox="1"/>
          <p:nvPr/>
        </p:nvSpPr>
        <p:spPr>
          <a:xfrm>
            <a:off x="3886200" y="4476902"/>
            <a:ext cx="1410005" cy="381305"/>
          </a:xfrm>
          <a:prstGeom prst="rect">
            <a:avLst/>
          </a:prstGeom>
          <a:noFill/>
          <a:ln/>
        </p:spPr>
        <p:txBody>
          <a:bodyPr wrap="square" lIns="0" tIns="0" rIns="0" bIns="0" rtlCol="0" anchor="t"/>
          <a:lstStyle/>
          <a:p>
            <a:pPr indent="0" marL="0">
              <a:lnSpc>
                <a:spcPts val="1200"/>
              </a:lnSpc>
              <a:buNone/>
            </a:pPr>
            <a:r>
              <a:rPr lang="en-US" sz="950" b="1" spc="220" kern="0" dirty="0">
                <a:solidFill>
                  <a:srgbClr val="8A8F98"/>
                </a:solidFill>
                <a:latin typeface="Arial" pitchFamily="34" charset="0"/>
                <a:ea typeface="Arial" pitchFamily="34" charset="-122"/>
                <a:cs typeface="Arial" pitchFamily="34" charset="-120"/>
              </a:rPr>
              <a:t>MINISTERIAL PARTNER</a:t>
            </a:r>
            <a:endParaRPr lang="en-US" sz="950" dirty="0"/>
          </a:p>
        </p:txBody>
      </p:sp>
      <p:pic>
        <p:nvPicPr>
          <p:cNvPr id="13"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14" name="Text 11"/>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7239305" cy="6858000"/>
          </a:xfrm>
          <a:prstGeom prst="roundRect">
            <a:avLst>
              <a:gd name="adj" fmla="val 1387"/>
            </a:avLst>
          </a:prstGeom>
          <a:solidFill>
            <a:srgbClr val="111111"/>
          </a:solidFill>
          <a:ln/>
        </p:spPr>
      </p:sp>
      <p:sp>
        <p:nvSpPr>
          <p:cNvPr id="3" name="Text 1"/>
          <p:cNvSpPr txBox="1"/>
          <p:nvPr/>
        </p:nvSpPr>
        <p:spPr>
          <a:xfrm>
            <a:off x="133502" y="3258007"/>
            <a:ext cx="6972300"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EOV-OPEC-VIENNA.JPG</a:t>
            </a:r>
            <a:endParaRPr lang="en-US" sz="950" dirty="0"/>
          </a:p>
        </p:txBody>
      </p:sp>
      <p:sp>
        <p:nvSpPr>
          <p:cNvPr id="4" name="Shape 2"/>
          <p:cNvSpPr/>
          <p:nvPr/>
        </p:nvSpPr>
        <p:spPr>
          <a:xfrm>
            <a:off x="7315200" y="0"/>
            <a:ext cx="4876770" cy="3391052"/>
          </a:xfrm>
          <a:prstGeom prst="roundRect">
            <a:avLst>
              <a:gd name="adj" fmla="val 2804"/>
            </a:avLst>
          </a:prstGeom>
          <a:solidFill>
            <a:srgbClr val="111111"/>
          </a:solidFill>
          <a:ln/>
        </p:spPr>
      </p:sp>
      <p:sp>
        <p:nvSpPr>
          <p:cNvPr id="5" name="Text 3"/>
          <p:cNvSpPr txBox="1"/>
          <p:nvPr/>
        </p:nvSpPr>
        <p:spPr>
          <a:xfrm>
            <a:off x="7448702" y="1524533"/>
            <a:ext cx="4609765"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[VIENNA ROOM]</a:t>
            </a:r>
            <a:endParaRPr lang="en-US" sz="950" dirty="0"/>
          </a:p>
        </p:txBody>
      </p:sp>
      <p:sp>
        <p:nvSpPr>
          <p:cNvPr id="6" name="Shape 4"/>
          <p:cNvSpPr/>
          <p:nvPr/>
        </p:nvSpPr>
        <p:spPr>
          <a:xfrm>
            <a:off x="7315200" y="3466948"/>
            <a:ext cx="4876770" cy="3391052"/>
          </a:xfrm>
          <a:prstGeom prst="roundRect">
            <a:avLst>
              <a:gd name="adj" fmla="val 2804"/>
            </a:avLst>
          </a:prstGeom>
          <a:solidFill>
            <a:srgbClr val="111111"/>
          </a:solidFill>
          <a:ln/>
        </p:spPr>
      </p:sp>
      <p:sp>
        <p:nvSpPr>
          <p:cNvPr id="7" name="Text 5"/>
          <p:cNvSpPr txBox="1"/>
          <p:nvPr/>
        </p:nvSpPr>
        <p:spPr>
          <a:xfrm>
            <a:off x="7448702" y="4991481"/>
            <a:ext cx="4609765"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EOV-OPEC-MINISTER.JPG</a:t>
            </a:r>
            <a:endParaRPr lang="en-US" sz="950" dirty="0"/>
          </a:p>
        </p:txBody>
      </p:sp>
      <p:sp>
        <p:nvSpPr>
          <p:cNvPr id="8" name="Shape 6"/>
          <p:cNvSpPr/>
          <p:nvPr/>
        </p:nvSpPr>
        <p:spPr>
          <a:xfrm>
            <a:off x="0" y="4762195"/>
            <a:ext cx="7239305" cy="2095805"/>
          </a:xfrm>
          <a:prstGeom prst="rect">
            <a:avLst/>
          </a:prstGeom>
          <a:solidFill>
            <a:srgbClr val="000000">
              <a:alpha val="86000"/>
            </a:srgbClr>
          </a:solidFill>
          <a:ln/>
        </p:spPr>
      </p:sp>
      <p:sp>
        <p:nvSpPr>
          <p:cNvPr id="9" name="Text 7"/>
          <p:cNvSpPr txBox="1"/>
          <p:nvPr/>
        </p:nvSpPr>
        <p:spPr>
          <a:xfrm>
            <a:off x="533095" y="5219395"/>
            <a:ext cx="6191402" cy="190195"/>
          </a:xfrm>
          <a:prstGeom prst="rect">
            <a:avLst/>
          </a:prstGeom>
          <a:noFill/>
          <a:ln/>
        </p:spPr>
        <p:txBody>
          <a:bodyPr wrap="square" lIns="0" tIns="0" rIns="0" bIns="0" rtlCol="0" anchor="ctr"/>
          <a:lstStyle/>
          <a:p>
            <a:pPr indent="0" marL="0">
              <a:buNone/>
            </a:pPr>
            <a:r>
              <a:rPr lang="en-US" sz="950" b="1" spc="300" kern="0" dirty="0">
                <a:solidFill>
                  <a:srgbClr val="54D2FE"/>
                </a:solidFill>
                <a:latin typeface="Arial" pitchFamily="34" charset="0"/>
                <a:ea typeface="Arial" pitchFamily="34" charset="-122"/>
                <a:cs typeface="Arial" pitchFamily="34" charset="-120"/>
              </a:rPr>
              <a:t>OPEC · UAE NIGHT, VIENNA</a:t>
            </a:r>
            <a:endParaRPr lang="en-US" sz="950" dirty="0"/>
          </a:p>
        </p:txBody>
      </p:sp>
      <p:sp>
        <p:nvSpPr>
          <p:cNvPr id="10" name="Text 8"/>
          <p:cNvSpPr txBox="1"/>
          <p:nvPr/>
        </p:nvSpPr>
        <p:spPr>
          <a:xfrm>
            <a:off x="533095" y="5543093"/>
            <a:ext cx="6191402" cy="914400"/>
          </a:xfrm>
          <a:prstGeom prst="rect">
            <a:avLst/>
          </a:prstGeom>
          <a:noFill/>
          <a:ln/>
        </p:spPr>
        <p:txBody>
          <a:bodyPr wrap="square" lIns="0" tIns="0" rIns="0" bIns="0" rtlCol="0" anchor="t"/>
          <a:lstStyle/>
          <a:p>
            <a:pPr indent="0" marL="0">
              <a:lnSpc>
                <a:spcPts val="2400"/>
              </a:lnSpc>
              <a:buNone/>
            </a:pPr>
            <a:r>
              <a:rPr lang="en-US" sz="1900" b="1" dirty="0">
                <a:solidFill>
                  <a:srgbClr val="FFFFFF"/>
                </a:solidFill>
                <a:latin typeface="Arial" pitchFamily="34" charset="0"/>
                <a:ea typeface="Arial" pitchFamily="34" charset="-122"/>
                <a:cs typeface="Arial" pitchFamily="34" charset="-120"/>
              </a:rPr>
              <a:t>Nine photographs and a film exist. None have been in a deck.</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INSTITUTIONAL EVENTS</a:t>
            </a:r>
            <a:endParaRPr lang="en-US" sz="950" dirty="0"/>
          </a:p>
        </p:txBody>
      </p:sp>
      <p:sp>
        <p:nvSpPr>
          <p:cNvPr id="3" name="Text 1"/>
          <p:cNvSpPr txBox="1"/>
          <p:nvPr/>
        </p:nvSpPr>
        <p:spPr>
          <a:xfrm>
            <a:off x="685800" y="800100"/>
            <a:ext cx="10820095" cy="666598"/>
          </a:xfrm>
          <a:prstGeom prst="rect">
            <a:avLst/>
          </a:prstGeom>
          <a:noFill/>
          <a:ln/>
        </p:spPr>
        <p:txBody>
          <a:bodyPr wrap="square" lIns="0" tIns="0" rIns="0" bIns="0" rtlCol="0" anchor="t"/>
          <a:lstStyle/>
          <a:p>
            <a:pPr indent="0" marL="0">
              <a:lnSpc>
                <a:spcPts val="4050"/>
              </a:lnSpc>
              <a:buNone/>
            </a:pPr>
            <a:r>
              <a:rPr lang="en-US" sz="2850" b="1" dirty="0">
                <a:solidFill>
                  <a:srgbClr val="111111"/>
                </a:solidFill>
                <a:latin typeface="Arial" pitchFamily="34" charset="0"/>
                <a:ea typeface="Arial" pitchFamily="34" charset="-122"/>
                <a:cs typeface="Arial" pitchFamily="34" charset="-120"/>
              </a:rPr>
              <a:t>Not once. A standing capability.</a:t>
            </a:r>
            <a:endParaRPr lang="en-US" sz="2850" dirty="0"/>
          </a:p>
        </p:txBody>
      </p:sp>
      <p:sp>
        <p:nvSpPr>
          <p:cNvPr id="4" name="Text 2"/>
          <p:cNvSpPr txBox="1"/>
          <p:nvPr/>
        </p:nvSpPr>
        <p:spPr>
          <a:xfrm>
            <a:off x="685800" y="1714500"/>
            <a:ext cx="9525305" cy="533095"/>
          </a:xfrm>
          <a:prstGeom prst="rect">
            <a:avLst/>
          </a:prstGeom>
          <a:noFill/>
          <a:ln/>
        </p:spPr>
        <p:txBody>
          <a:bodyPr wrap="square" lIns="0" tIns="0" rIns="0" bIns="0" rtlCol="0" anchor="t"/>
          <a:lstStyle/>
          <a:p>
            <a:pPr indent="0" marL="0">
              <a:lnSpc>
                <a:spcPts val="1950"/>
              </a:lnSpc>
              <a:buNone/>
            </a:pPr>
            <a:r>
              <a:rPr lang="en-US" sz="1300" dirty="0">
                <a:solidFill>
                  <a:srgbClr val="5A6068"/>
                </a:solidFill>
                <a:latin typeface="Arial" pitchFamily="34" charset="0"/>
                <a:ea typeface="Arial" pitchFamily="34" charset="-122"/>
                <a:cs typeface="Arial" pitchFamily="34" charset="-120"/>
              </a:rPr>
              <a:t>The website records OPEC events in the plural, alongside the Arab SMIS Summit. Institutional event delivery is a strand of the practice rather than a single engagement.</a:t>
            </a:r>
            <a:endParaRPr lang="en-US" sz="1300" dirty="0"/>
          </a:p>
        </p:txBody>
      </p:sp>
      <p:sp>
        <p:nvSpPr>
          <p:cNvPr id="5" name="Shape 3"/>
          <p:cNvSpPr/>
          <p:nvPr/>
        </p:nvSpPr>
        <p:spPr>
          <a:xfrm>
            <a:off x="685800" y="2523744"/>
            <a:ext cx="3400654" cy="1809598"/>
          </a:xfrm>
          <a:prstGeom prst="roundRect">
            <a:avLst>
              <a:gd name="adj" fmla="val 5255"/>
            </a:avLst>
          </a:prstGeom>
          <a:solidFill>
            <a:srgbClr val="F4F6F8"/>
          </a:solidFill>
          <a:ln/>
        </p:spPr>
      </p:sp>
      <p:sp>
        <p:nvSpPr>
          <p:cNvPr id="6" name="Text 4"/>
          <p:cNvSpPr txBox="1"/>
          <p:nvPr/>
        </p:nvSpPr>
        <p:spPr>
          <a:xfrm>
            <a:off x="819302" y="3257550"/>
            <a:ext cx="3133649"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EVENT PHOTOGRAPHY</a:t>
            </a:r>
            <a:endParaRPr lang="en-US" sz="950" dirty="0"/>
          </a:p>
        </p:txBody>
      </p:sp>
      <p:sp>
        <p:nvSpPr>
          <p:cNvPr id="7" name="Text 5"/>
          <p:cNvSpPr txBox="1"/>
          <p:nvPr/>
        </p:nvSpPr>
        <p:spPr>
          <a:xfrm>
            <a:off x="685800" y="4496105"/>
            <a:ext cx="3400654" cy="304495"/>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OPEC · UAE Night</a:t>
            </a:r>
            <a:endParaRPr lang="en-US" sz="1400" dirty="0"/>
          </a:p>
        </p:txBody>
      </p:sp>
      <p:sp>
        <p:nvSpPr>
          <p:cNvPr id="8" name="Text 6"/>
          <p:cNvSpPr txBox="1"/>
          <p:nvPr/>
        </p:nvSpPr>
        <p:spPr>
          <a:xfrm>
            <a:off x="685800" y="4819802"/>
            <a:ext cx="3400654" cy="267005"/>
          </a:xfrm>
          <a:prstGeom prst="rect">
            <a:avLst/>
          </a:prstGeom>
          <a:noFill/>
          <a:ln/>
        </p:spPr>
        <p:txBody>
          <a:bodyPr wrap="square" lIns="0" tIns="0" rIns="0" bIns="0" rtlCol="0" anchor="ctr"/>
          <a:lstStyle/>
          <a:p>
            <a:pPr indent="0" marL="0">
              <a:buNone/>
            </a:pPr>
            <a:r>
              <a:rPr lang="en-US" sz="1150" dirty="0">
                <a:solidFill>
                  <a:srgbClr val="5A6068"/>
                </a:solidFill>
                <a:latin typeface="Arial" pitchFamily="34" charset="0"/>
                <a:ea typeface="Arial" pitchFamily="34" charset="-122"/>
                <a:cs typeface="Arial" pitchFamily="34" charset="-120"/>
              </a:rPr>
              <a:t>Vienna</a:t>
            </a:r>
            <a:endParaRPr lang="en-US" sz="1150" dirty="0"/>
          </a:p>
        </p:txBody>
      </p:sp>
      <p:sp>
        <p:nvSpPr>
          <p:cNvPr id="9" name="Shape 7"/>
          <p:cNvSpPr/>
          <p:nvPr/>
        </p:nvSpPr>
        <p:spPr>
          <a:xfrm>
            <a:off x="4362602" y="2523744"/>
            <a:ext cx="3400654" cy="1809598"/>
          </a:xfrm>
          <a:prstGeom prst="roundRect">
            <a:avLst>
              <a:gd name="adj" fmla="val 5255"/>
            </a:avLst>
          </a:prstGeom>
          <a:solidFill>
            <a:srgbClr val="F4F6F8"/>
          </a:solidFill>
          <a:ln/>
        </p:spPr>
      </p:sp>
      <p:sp>
        <p:nvSpPr>
          <p:cNvPr id="10" name="Text 8"/>
          <p:cNvSpPr txBox="1"/>
          <p:nvPr/>
        </p:nvSpPr>
        <p:spPr>
          <a:xfrm>
            <a:off x="4496105" y="3257550"/>
            <a:ext cx="3133649"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EVENT PHOTOGRAPHY</a:t>
            </a:r>
            <a:endParaRPr lang="en-US" sz="950" dirty="0"/>
          </a:p>
        </p:txBody>
      </p:sp>
      <p:sp>
        <p:nvSpPr>
          <p:cNvPr id="11" name="Text 9"/>
          <p:cNvSpPr txBox="1"/>
          <p:nvPr/>
        </p:nvSpPr>
        <p:spPr>
          <a:xfrm>
            <a:off x="4362602" y="4496105"/>
            <a:ext cx="3400654" cy="304495"/>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OPEC events</a:t>
            </a:r>
            <a:endParaRPr lang="en-US" sz="1400" dirty="0"/>
          </a:p>
        </p:txBody>
      </p:sp>
      <p:sp>
        <p:nvSpPr>
          <p:cNvPr id="12" name="Text 10"/>
          <p:cNvSpPr txBox="1"/>
          <p:nvPr/>
        </p:nvSpPr>
        <p:spPr>
          <a:xfrm>
            <a:off x="4362602" y="4819802"/>
            <a:ext cx="3400654" cy="267005"/>
          </a:xfrm>
          <a:prstGeom prst="rect">
            <a:avLst/>
          </a:prstGeom>
          <a:noFill/>
          <a:ln/>
        </p:spPr>
        <p:txBody>
          <a:bodyPr wrap="square" lIns="0" tIns="0" rIns="0" bIns="0" rtlCol="0" anchor="ctr"/>
          <a:lstStyle/>
          <a:p>
            <a:pPr indent="0" marL="0">
              <a:buNone/>
            </a:pPr>
            <a:r>
              <a:rPr lang="en-US" sz="1150" dirty="0">
                <a:solidFill>
                  <a:srgbClr val="5A6068"/>
                </a:solidFill>
                <a:latin typeface="Arial" pitchFamily="34" charset="0"/>
                <a:ea typeface="Arial" pitchFamily="34" charset="-122"/>
                <a:cs typeface="Arial" pitchFamily="34" charset="-120"/>
              </a:rPr>
              <a:t>Multiple editions [CONFIRM]</a:t>
            </a:r>
            <a:endParaRPr lang="en-US" sz="1150" dirty="0"/>
          </a:p>
        </p:txBody>
      </p:sp>
      <p:sp>
        <p:nvSpPr>
          <p:cNvPr id="13" name="Shape 11"/>
          <p:cNvSpPr/>
          <p:nvPr/>
        </p:nvSpPr>
        <p:spPr>
          <a:xfrm>
            <a:off x="8039405" y="2523744"/>
            <a:ext cx="3400654" cy="1809598"/>
          </a:xfrm>
          <a:prstGeom prst="roundRect">
            <a:avLst>
              <a:gd name="adj" fmla="val 5255"/>
            </a:avLst>
          </a:prstGeom>
          <a:solidFill>
            <a:srgbClr val="F4F6F8"/>
          </a:solidFill>
          <a:ln/>
        </p:spPr>
      </p:sp>
      <p:sp>
        <p:nvSpPr>
          <p:cNvPr id="14" name="Text 12"/>
          <p:cNvSpPr txBox="1"/>
          <p:nvPr/>
        </p:nvSpPr>
        <p:spPr>
          <a:xfrm>
            <a:off x="8172907" y="3257550"/>
            <a:ext cx="3133649"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EVENT PHOTOGRAPHY</a:t>
            </a:r>
            <a:endParaRPr lang="en-US" sz="950" dirty="0"/>
          </a:p>
        </p:txBody>
      </p:sp>
      <p:sp>
        <p:nvSpPr>
          <p:cNvPr id="15" name="Text 13"/>
          <p:cNvSpPr txBox="1"/>
          <p:nvPr/>
        </p:nvSpPr>
        <p:spPr>
          <a:xfrm>
            <a:off x="8039405" y="4496105"/>
            <a:ext cx="3400654" cy="304495"/>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Arab SMIS Summit</a:t>
            </a:r>
            <a:endParaRPr lang="en-US" sz="1400" dirty="0"/>
          </a:p>
        </p:txBody>
      </p:sp>
      <p:sp>
        <p:nvSpPr>
          <p:cNvPr id="16" name="Text 14"/>
          <p:cNvSpPr txBox="1"/>
          <p:nvPr/>
        </p:nvSpPr>
        <p:spPr>
          <a:xfrm>
            <a:off x="8039405" y="4819802"/>
            <a:ext cx="3400654" cy="267005"/>
          </a:xfrm>
          <a:prstGeom prst="rect">
            <a:avLst/>
          </a:prstGeom>
          <a:noFill/>
          <a:ln/>
        </p:spPr>
        <p:txBody>
          <a:bodyPr wrap="square" lIns="0" tIns="0" rIns="0" bIns="0" rtlCol="0" anchor="ctr"/>
          <a:lstStyle/>
          <a:p>
            <a:pPr indent="0" marL="0">
              <a:buNone/>
            </a:pPr>
            <a:r>
              <a:rPr lang="en-US" sz="1150" dirty="0">
                <a:solidFill>
                  <a:srgbClr val="5A6068"/>
                </a:solidFill>
                <a:latin typeface="Arial" pitchFamily="34" charset="0"/>
                <a:ea typeface="Arial" pitchFamily="34" charset="-122"/>
                <a:cs typeface="Arial" pitchFamily="34" charset="-120"/>
              </a:rPr>
              <a:t>Institutional</a:t>
            </a:r>
            <a:endParaRPr lang="en-US" sz="1150" dirty="0"/>
          </a:p>
        </p:txBody>
      </p:sp>
      <p:pic>
        <p:nvPicPr>
          <p:cNvPr id="17"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18" name="Text 15"/>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6096305" cy="6858000"/>
          </a:xfrm>
          <a:prstGeom prst="roundRect">
            <a:avLst>
              <a:gd name="adj" fmla="val 1560"/>
            </a:avLst>
          </a:prstGeom>
          <a:solidFill>
            <a:srgbClr val="111111"/>
          </a:solidFill>
          <a:ln/>
        </p:spPr>
      </p:sp>
      <p:sp>
        <p:nvSpPr>
          <p:cNvPr id="3" name="Text 1"/>
          <p:cNvSpPr txBox="1"/>
          <p:nvPr/>
        </p:nvSpPr>
        <p:spPr>
          <a:xfrm>
            <a:off x="133502" y="3258007"/>
            <a:ext cx="5829300" cy="342900"/>
          </a:xfrm>
          <a:prstGeom prst="rect">
            <a:avLst/>
          </a:prstGeom>
          <a:noFill/>
          <a:ln/>
        </p:spPr>
        <p:txBody>
          <a:bodyPr wrap="square" rtlCol="0" anchor="ctr"/>
          <a:lstStyle/>
          <a:p>
            <a:pPr algn="ctr" indent="0" marL="0">
              <a:buNone/>
            </a:pPr>
            <a:r>
              <a:rPr lang="en-US" sz="950" b="1" spc="240" kern="0" dirty="0">
                <a:solidFill>
                  <a:srgbClr val="6E7379"/>
                </a:solidFill>
                <a:latin typeface="Arial" pitchFamily="34" charset="0"/>
                <a:ea typeface="Arial" pitchFamily="34" charset="-122"/>
                <a:cs typeface="Arial" pitchFamily="34" charset="-120"/>
              </a:rPr>
              <a:t>VIENNA FILM · OR EOV-OPEC-MINISTER.JPG</a:t>
            </a:r>
            <a:endParaRPr lang="en-US" sz="950" dirty="0"/>
          </a:p>
        </p:txBody>
      </p:sp>
      <p:sp>
        <p:nvSpPr>
          <p:cNvPr id="4" name="Text 2"/>
          <p:cNvSpPr txBox="1"/>
          <p:nvPr/>
        </p:nvSpPr>
        <p:spPr>
          <a:xfrm>
            <a:off x="6667805" y="2190902"/>
            <a:ext cx="4762195" cy="476402"/>
          </a:xfrm>
          <a:prstGeom prst="rect">
            <a:avLst/>
          </a:prstGeom>
          <a:noFill/>
          <a:ln/>
        </p:spPr>
        <p:txBody>
          <a:bodyPr wrap="square" lIns="0" tIns="0" rIns="0" bIns="0" rtlCol="0" anchor="ctr"/>
          <a:lstStyle/>
          <a:p>
            <a:pPr indent="0" marL="0">
              <a:lnSpc>
                <a:spcPts val="1650"/>
              </a:lnSpc>
              <a:buNone/>
            </a:pPr>
            <a:r>
              <a:rPr lang="en-US" sz="1150" dirty="0">
                <a:solidFill>
                  <a:srgbClr val="6E7379"/>
                </a:solidFill>
                <a:latin typeface="Arial" pitchFamily="34" charset="0"/>
                <a:ea typeface="Arial" pitchFamily="34" charset="-122"/>
                <a:cs typeface="Arial" pitchFamily="34" charset="-120"/>
              </a:rPr>
              <a:t>A fixed date · a foreign city · a country represented</a:t>
            </a:r>
            <a:endParaRPr lang="en-US" sz="1150" dirty="0"/>
          </a:p>
        </p:txBody>
      </p:sp>
      <p:sp>
        <p:nvSpPr>
          <p:cNvPr id="5" name="Text 3"/>
          <p:cNvSpPr txBox="1"/>
          <p:nvPr/>
        </p:nvSpPr>
        <p:spPr>
          <a:xfrm>
            <a:off x="6667805" y="2857500"/>
            <a:ext cx="4667098" cy="2286000"/>
          </a:xfrm>
          <a:prstGeom prst="rect">
            <a:avLst/>
          </a:prstGeom>
          <a:noFill/>
          <a:ln/>
        </p:spPr>
        <p:txBody>
          <a:bodyPr wrap="square" lIns="0" tIns="0" rIns="0" bIns="0" rtlCol="0" anchor="t"/>
          <a:lstStyle/>
          <a:p>
            <a:pPr indent="0" marL="0">
              <a:lnSpc>
                <a:spcPts val="3750"/>
              </a:lnSpc>
              <a:buNone/>
            </a:pPr>
            <a:r>
              <a:rPr lang="en-US" sz="3000" b="1" dirty="0">
                <a:solidFill>
                  <a:srgbClr val="FFFFFF"/>
                </a:solidFill>
                <a:latin typeface="Arial" pitchFamily="34" charset="0"/>
                <a:ea typeface="Arial" pitchFamily="34" charset="-122"/>
                <a:cs typeface="Arial" pitchFamily="34" charset="-120"/>
              </a:rPr>
              <a:t>Nothing about that brief allowed a second attempt.</a:t>
            </a:r>
            <a:endParaRPr lang="en-US" sz="3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SELECTED PROJECTS</a:t>
            </a:r>
            <a:endParaRPr lang="en-US" sz="950" dirty="0"/>
          </a:p>
        </p:txBody>
      </p:sp>
      <p:sp>
        <p:nvSpPr>
          <p:cNvPr id="3" name="Text 1"/>
          <p:cNvSpPr txBox="1"/>
          <p:nvPr/>
        </p:nvSpPr>
        <p:spPr>
          <a:xfrm>
            <a:off x="685800" y="800100"/>
            <a:ext cx="10820095" cy="666598"/>
          </a:xfrm>
          <a:prstGeom prst="rect">
            <a:avLst/>
          </a:prstGeom>
          <a:noFill/>
          <a:ln/>
        </p:spPr>
        <p:txBody>
          <a:bodyPr wrap="square" lIns="0" tIns="0" rIns="0" bIns="0" rtlCol="0" anchor="t"/>
          <a:lstStyle/>
          <a:p>
            <a:pPr indent="0" marL="0">
              <a:lnSpc>
                <a:spcPts val="4050"/>
              </a:lnSpc>
              <a:buNone/>
            </a:pPr>
            <a:r>
              <a:rPr lang="en-US" sz="2850" b="1" dirty="0">
                <a:solidFill>
                  <a:srgbClr val="111111"/>
                </a:solidFill>
                <a:latin typeface="Arial" pitchFamily="34" charset="0"/>
                <a:ea typeface="Arial" pitchFamily="34" charset="-122"/>
                <a:cs typeface="Arial" pitchFamily="34" charset="-120"/>
              </a:rPr>
              <a:t>Further work across government, industry and retail.</a:t>
            </a:r>
            <a:endParaRPr lang="en-US" sz="2850" dirty="0"/>
          </a:p>
        </p:txBody>
      </p:sp>
      <p:sp>
        <p:nvSpPr>
          <p:cNvPr id="4" name="Shape 2"/>
          <p:cNvSpPr/>
          <p:nvPr/>
        </p:nvSpPr>
        <p:spPr>
          <a:xfrm>
            <a:off x="685800" y="2048256"/>
            <a:ext cx="1990649" cy="1333195"/>
          </a:xfrm>
          <a:prstGeom prst="roundRect">
            <a:avLst>
              <a:gd name="adj" fmla="val 7133"/>
            </a:avLst>
          </a:prstGeom>
          <a:solidFill>
            <a:srgbClr val="F4F6F8"/>
          </a:solidFill>
          <a:ln/>
        </p:spPr>
      </p:sp>
      <p:sp>
        <p:nvSpPr>
          <p:cNvPr id="5" name="Text 3"/>
          <p:cNvSpPr txBox="1"/>
          <p:nvPr/>
        </p:nvSpPr>
        <p:spPr>
          <a:xfrm>
            <a:off x="819302" y="2543861"/>
            <a:ext cx="17236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[PROJECT IMAGE]</a:t>
            </a:r>
            <a:endParaRPr lang="en-US" sz="950" dirty="0"/>
          </a:p>
        </p:txBody>
      </p:sp>
      <p:sp>
        <p:nvSpPr>
          <p:cNvPr id="6" name="Text 4"/>
          <p:cNvSpPr txBox="1"/>
          <p:nvPr/>
        </p:nvSpPr>
        <p:spPr>
          <a:xfrm>
            <a:off x="685800" y="3476549"/>
            <a:ext cx="1990649" cy="285293"/>
          </a:xfrm>
          <a:prstGeom prst="rect">
            <a:avLst/>
          </a:prstGeom>
          <a:noFill/>
          <a:ln/>
        </p:spPr>
        <p:txBody>
          <a:bodyPr wrap="square" lIns="0" tIns="0" rIns="0" bIns="0" rtlCol="0" anchor="ctr"/>
          <a:lstStyle/>
          <a:p>
            <a:pPr indent="0" marL="0">
              <a:buNone/>
            </a:pPr>
            <a:r>
              <a:rPr lang="en-US" sz="1150" b="1" dirty="0">
                <a:solidFill>
                  <a:srgbClr val="111111"/>
                </a:solidFill>
                <a:latin typeface="Arial" pitchFamily="34" charset="0"/>
                <a:ea typeface="Arial" pitchFamily="34" charset="-122"/>
                <a:cs typeface="Arial" pitchFamily="34" charset="-120"/>
              </a:rPr>
              <a:t>Arab SMIS Summit</a:t>
            </a:r>
            <a:endParaRPr lang="en-US" sz="1150" dirty="0"/>
          </a:p>
        </p:txBody>
      </p:sp>
      <p:sp>
        <p:nvSpPr>
          <p:cNvPr id="7" name="Shape 5"/>
          <p:cNvSpPr/>
          <p:nvPr/>
        </p:nvSpPr>
        <p:spPr>
          <a:xfrm>
            <a:off x="2895905" y="2048256"/>
            <a:ext cx="1990649" cy="1333195"/>
          </a:xfrm>
          <a:prstGeom prst="roundRect">
            <a:avLst>
              <a:gd name="adj" fmla="val 7133"/>
            </a:avLst>
          </a:prstGeom>
          <a:solidFill>
            <a:srgbClr val="F4F6F8"/>
          </a:solidFill>
          <a:ln/>
        </p:spPr>
      </p:sp>
      <p:sp>
        <p:nvSpPr>
          <p:cNvPr id="8" name="Text 6"/>
          <p:cNvSpPr txBox="1"/>
          <p:nvPr/>
        </p:nvSpPr>
        <p:spPr>
          <a:xfrm>
            <a:off x="3029407" y="2543861"/>
            <a:ext cx="17236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[PROJECT IMAGE]</a:t>
            </a:r>
            <a:endParaRPr lang="en-US" sz="950" dirty="0"/>
          </a:p>
        </p:txBody>
      </p:sp>
      <p:sp>
        <p:nvSpPr>
          <p:cNvPr id="9" name="Text 7"/>
          <p:cNvSpPr txBox="1"/>
          <p:nvPr/>
        </p:nvSpPr>
        <p:spPr>
          <a:xfrm>
            <a:off x="2895905" y="3476549"/>
            <a:ext cx="1990649" cy="285293"/>
          </a:xfrm>
          <a:prstGeom prst="rect">
            <a:avLst/>
          </a:prstGeom>
          <a:noFill/>
          <a:ln/>
        </p:spPr>
        <p:txBody>
          <a:bodyPr wrap="square" lIns="0" tIns="0" rIns="0" bIns="0" rtlCol="0" anchor="ctr"/>
          <a:lstStyle/>
          <a:p>
            <a:pPr indent="0" marL="0">
              <a:buNone/>
            </a:pPr>
            <a:r>
              <a:rPr lang="en-US" sz="1150" b="1" dirty="0">
                <a:solidFill>
                  <a:srgbClr val="111111"/>
                </a:solidFill>
                <a:latin typeface="Arial" pitchFamily="34" charset="0"/>
                <a:ea typeface="Arial" pitchFamily="34" charset="-122"/>
                <a:cs typeface="Arial" pitchFamily="34" charset="-120"/>
              </a:rPr>
              <a:t>DEWA</a:t>
            </a:r>
            <a:endParaRPr lang="en-US" sz="1150" dirty="0"/>
          </a:p>
        </p:txBody>
      </p:sp>
      <p:sp>
        <p:nvSpPr>
          <p:cNvPr id="10" name="Shape 8"/>
          <p:cNvSpPr/>
          <p:nvPr/>
        </p:nvSpPr>
        <p:spPr>
          <a:xfrm>
            <a:off x="5106010" y="2048256"/>
            <a:ext cx="1990649" cy="1333195"/>
          </a:xfrm>
          <a:prstGeom prst="roundRect">
            <a:avLst>
              <a:gd name="adj" fmla="val 7133"/>
            </a:avLst>
          </a:prstGeom>
          <a:solidFill>
            <a:srgbClr val="F4F6F8"/>
          </a:solidFill>
          <a:ln/>
        </p:spPr>
      </p:sp>
      <p:sp>
        <p:nvSpPr>
          <p:cNvPr id="11" name="Text 9"/>
          <p:cNvSpPr txBox="1"/>
          <p:nvPr/>
        </p:nvSpPr>
        <p:spPr>
          <a:xfrm>
            <a:off x="5239512" y="2543861"/>
            <a:ext cx="17236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[PROJECT IMAGE]</a:t>
            </a:r>
            <a:endParaRPr lang="en-US" sz="950" dirty="0"/>
          </a:p>
        </p:txBody>
      </p:sp>
      <p:sp>
        <p:nvSpPr>
          <p:cNvPr id="12" name="Text 10"/>
          <p:cNvSpPr txBox="1"/>
          <p:nvPr/>
        </p:nvSpPr>
        <p:spPr>
          <a:xfrm>
            <a:off x="5106010" y="3476549"/>
            <a:ext cx="1990649" cy="285293"/>
          </a:xfrm>
          <a:prstGeom prst="rect">
            <a:avLst/>
          </a:prstGeom>
          <a:noFill/>
          <a:ln/>
        </p:spPr>
        <p:txBody>
          <a:bodyPr wrap="square" lIns="0" tIns="0" rIns="0" bIns="0" rtlCol="0" anchor="ctr"/>
          <a:lstStyle/>
          <a:p>
            <a:pPr indent="0" marL="0">
              <a:buNone/>
            </a:pPr>
            <a:r>
              <a:rPr lang="en-US" sz="1150" b="1" dirty="0">
                <a:solidFill>
                  <a:srgbClr val="111111"/>
                </a:solidFill>
                <a:latin typeface="Arial" pitchFamily="34" charset="0"/>
                <a:ea typeface="Arial" pitchFamily="34" charset="-122"/>
                <a:cs typeface="Arial" pitchFamily="34" charset="-120"/>
              </a:rPr>
              <a:t>FCA</a:t>
            </a:r>
            <a:endParaRPr lang="en-US" sz="1150" dirty="0"/>
          </a:p>
        </p:txBody>
      </p:sp>
      <p:sp>
        <p:nvSpPr>
          <p:cNvPr id="13" name="Shape 11"/>
          <p:cNvSpPr/>
          <p:nvPr/>
        </p:nvSpPr>
        <p:spPr>
          <a:xfrm>
            <a:off x="7316114" y="2048256"/>
            <a:ext cx="1990649" cy="1333195"/>
          </a:xfrm>
          <a:prstGeom prst="roundRect">
            <a:avLst>
              <a:gd name="adj" fmla="val 7133"/>
            </a:avLst>
          </a:prstGeom>
          <a:solidFill>
            <a:srgbClr val="F4F6F8"/>
          </a:solidFill>
          <a:ln/>
        </p:spPr>
      </p:sp>
      <p:sp>
        <p:nvSpPr>
          <p:cNvPr id="14" name="Text 12"/>
          <p:cNvSpPr txBox="1"/>
          <p:nvPr/>
        </p:nvSpPr>
        <p:spPr>
          <a:xfrm>
            <a:off x="7449617" y="2543861"/>
            <a:ext cx="17236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[PROJECT IMAGE]</a:t>
            </a:r>
            <a:endParaRPr lang="en-US" sz="950" dirty="0"/>
          </a:p>
        </p:txBody>
      </p:sp>
      <p:sp>
        <p:nvSpPr>
          <p:cNvPr id="15" name="Text 13"/>
          <p:cNvSpPr txBox="1"/>
          <p:nvPr/>
        </p:nvSpPr>
        <p:spPr>
          <a:xfrm>
            <a:off x="7316114" y="3476549"/>
            <a:ext cx="1990649" cy="285293"/>
          </a:xfrm>
          <a:prstGeom prst="rect">
            <a:avLst/>
          </a:prstGeom>
          <a:noFill/>
          <a:ln/>
        </p:spPr>
        <p:txBody>
          <a:bodyPr wrap="square" lIns="0" tIns="0" rIns="0" bIns="0" rtlCol="0" anchor="ctr"/>
          <a:lstStyle/>
          <a:p>
            <a:pPr indent="0" marL="0">
              <a:buNone/>
            </a:pPr>
            <a:r>
              <a:rPr lang="en-US" sz="1150" b="1" dirty="0">
                <a:solidFill>
                  <a:srgbClr val="111111"/>
                </a:solidFill>
                <a:latin typeface="Arial" pitchFamily="34" charset="0"/>
                <a:ea typeface="Arial" pitchFamily="34" charset="-122"/>
                <a:cs typeface="Arial" pitchFamily="34" charset="-120"/>
              </a:rPr>
              <a:t>Ministry of Economy</a:t>
            </a:r>
            <a:endParaRPr lang="en-US" sz="1150" dirty="0"/>
          </a:p>
        </p:txBody>
      </p:sp>
      <p:sp>
        <p:nvSpPr>
          <p:cNvPr id="16" name="Shape 14"/>
          <p:cNvSpPr/>
          <p:nvPr/>
        </p:nvSpPr>
        <p:spPr>
          <a:xfrm>
            <a:off x="9526219" y="2048256"/>
            <a:ext cx="1990649" cy="1333195"/>
          </a:xfrm>
          <a:prstGeom prst="roundRect">
            <a:avLst>
              <a:gd name="adj" fmla="val 7133"/>
            </a:avLst>
          </a:prstGeom>
          <a:solidFill>
            <a:srgbClr val="F4F6F8"/>
          </a:solidFill>
          <a:ln/>
        </p:spPr>
      </p:sp>
      <p:sp>
        <p:nvSpPr>
          <p:cNvPr id="17" name="Text 15"/>
          <p:cNvSpPr txBox="1"/>
          <p:nvPr/>
        </p:nvSpPr>
        <p:spPr>
          <a:xfrm>
            <a:off x="9659722" y="2543861"/>
            <a:ext cx="17236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[PROJECT IMAGE]</a:t>
            </a:r>
            <a:endParaRPr lang="en-US" sz="950" dirty="0"/>
          </a:p>
        </p:txBody>
      </p:sp>
      <p:sp>
        <p:nvSpPr>
          <p:cNvPr id="18" name="Text 16"/>
          <p:cNvSpPr txBox="1"/>
          <p:nvPr/>
        </p:nvSpPr>
        <p:spPr>
          <a:xfrm>
            <a:off x="9526219" y="3476549"/>
            <a:ext cx="1990649" cy="285293"/>
          </a:xfrm>
          <a:prstGeom prst="rect">
            <a:avLst/>
          </a:prstGeom>
          <a:noFill/>
          <a:ln/>
        </p:spPr>
        <p:txBody>
          <a:bodyPr wrap="square" lIns="0" tIns="0" rIns="0" bIns="0" rtlCol="0" anchor="ctr"/>
          <a:lstStyle/>
          <a:p>
            <a:pPr indent="0" marL="0">
              <a:buNone/>
            </a:pPr>
            <a:r>
              <a:rPr lang="en-US" sz="1150" b="1" dirty="0">
                <a:solidFill>
                  <a:srgbClr val="111111"/>
                </a:solidFill>
                <a:latin typeface="Arial" pitchFamily="34" charset="0"/>
                <a:ea typeface="Arial" pitchFamily="34" charset="-122"/>
                <a:cs typeface="Arial" pitchFamily="34" charset="-120"/>
              </a:rPr>
              <a:t>GITEX 2015</a:t>
            </a:r>
            <a:endParaRPr lang="en-US" sz="1150" dirty="0"/>
          </a:p>
        </p:txBody>
      </p:sp>
      <p:sp>
        <p:nvSpPr>
          <p:cNvPr id="19" name="Shape 17"/>
          <p:cNvSpPr/>
          <p:nvPr/>
        </p:nvSpPr>
        <p:spPr>
          <a:xfrm>
            <a:off x="685800" y="3952951"/>
            <a:ext cx="1990649" cy="1333195"/>
          </a:xfrm>
          <a:prstGeom prst="roundRect">
            <a:avLst>
              <a:gd name="adj" fmla="val 7133"/>
            </a:avLst>
          </a:prstGeom>
          <a:solidFill>
            <a:srgbClr val="F4F6F8"/>
          </a:solidFill>
          <a:ln/>
        </p:spPr>
      </p:sp>
      <p:sp>
        <p:nvSpPr>
          <p:cNvPr id="20" name="Text 18"/>
          <p:cNvSpPr txBox="1"/>
          <p:nvPr/>
        </p:nvSpPr>
        <p:spPr>
          <a:xfrm>
            <a:off x="819302" y="4448556"/>
            <a:ext cx="17236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[PROJECT IMAGE]</a:t>
            </a:r>
            <a:endParaRPr lang="en-US" sz="950" dirty="0"/>
          </a:p>
        </p:txBody>
      </p:sp>
      <p:sp>
        <p:nvSpPr>
          <p:cNvPr id="21" name="Text 19"/>
          <p:cNvSpPr txBox="1"/>
          <p:nvPr/>
        </p:nvSpPr>
        <p:spPr>
          <a:xfrm>
            <a:off x="685800" y="5381244"/>
            <a:ext cx="1990649" cy="285293"/>
          </a:xfrm>
          <a:prstGeom prst="rect">
            <a:avLst/>
          </a:prstGeom>
          <a:noFill/>
          <a:ln/>
        </p:spPr>
        <p:txBody>
          <a:bodyPr wrap="square" lIns="0" tIns="0" rIns="0" bIns="0" rtlCol="0" anchor="ctr"/>
          <a:lstStyle/>
          <a:p>
            <a:pPr indent="0" marL="0">
              <a:buNone/>
            </a:pPr>
            <a:r>
              <a:rPr lang="en-US" sz="1150" b="1" dirty="0">
                <a:solidFill>
                  <a:srgbClr val="111111"/>
                </a:solidFill>
                <a:latin typeface="Arial" pitchFamily="34" charset="0"/>
                <a:ea typeface="Arial" pitchFamily="34" charset="-122"/>
                <a:cs typeface="Arial" pitchFamily="34" charset="-120"/>
              </a:rPr>
              <a:t>SME Programme</a:t>
            </a:r>
            <a:endParaRPr lang="en-US" sz="1150" dirty="0"/>
          </a:p>
        </p:txBody>
      </p:sp>
      <p:sp>
        <p:nvSpPr>
          <p:cNvPr id="22" name="Shape 20"/>
          <p:cNvSpPr/>
          <p:nvPr/>
        </p:nvSpPr>
        <p:spPr>
          <a:xfrm>
            <a:off x="2895905" y="3952951"/>
            <a:ext cx="1990649" cy="1333195"/>
          </a:xfrm>
          <a:prstGeom prst="roundRect">
            <a:avLst>
              <a:gd name="adj" fmla="val 7133"/>
            </a:avLst>
          </a:prstGeom>
          <a:solidFill>
            <a:srgbClr val="F4F6F8"/>
          </a:solidFill>
          <a:ln/>
        </p:spPr>
      </p:sp>
      <p:sp>
        <p:nvSpPr>
          <p:cNvPr id="23" name="Text 21"/>
          <p:cNvSpPr txBox="1"/>
          <p:nvPr/>
        </p:nvSpPr>
        <p:spPr>
          <a:xfrm>
            <a:off x="3029407" y="4448556"/>
            <a:ext cx="17236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[PROJECT IMAGE]</a:t>
            </a:r>
            <a:endParaRPr lang="en-US" sz="950" dirty="0"/>
          </a:p>
        </p:txBody>
      </p:sp>
      <p:sp>
        <p:nvSpPr>
          <p:cNvPr id="24" name="Text 22"/>
          <p:cNvSpPr txBox="1"/>
          <p:nvPr/>
        </p:nvSpPr>
        <p:spPr>
          <a:xfrm>
            <a:off x="2895905" y="5381244"/>
            <a:ext cx="1990649" cy="285293"/>
          </a:xfrm>
          <a:prstGeom prst="rect">
            <a:avLst/>
          </a:prstGeom>
          <a:noFill/>
          <a:ln/>
        </p:spPr>
        <p:txBody>
          <a:bodyPr wrap="square" lIns="0" tIns="0" rIns="0" bIns="0" rtlCol="0" anchor="ctr"/>
          <a:lstStyle/>
          <a:p>
            <a:pPr indent="0" marL="0">
              <a:buNone/>
            </a:pPr>
            <a:r>
              <a:rPr lang="en-US" sz="1150" b="1" dirty="0">
                <a:solidFill>
                  <a:srgbClr val="111111"/>
                </a:solidFill>
                <a:latin typeface="Arial" pitchFamily="34" charset="0"/>
                <a:ea typeface="Arial" pitchFamily="34" charset="-122"/>
                <a:cs typeface="Arial" pitchFamily="34" charset="-120"/>
              </a:rPr>
              <a:t>Montajat</a:t>
            </a:r>
            <a:endParaRPr lang="en-US" sz="1150" dirty="0"/>
          </a:p>
        </p:txBody>
      </p:sp>
      <p:sp>
        <p:nvSpPr>
          <p:cNvPr id="25" name="Shape 23"/>
          <p:cNvSpPr/>
          <p:nvPr/>
        </p:nvSpPr>
        <p:spPr>
          <a:xfrm>
            <a:off x="5106010" y="3952951"/>
            <a:ext cx="1990649" cy="1333195"/>
          </a:xfrm>
          <a:prstGeom prst="roundRect">
            <a:avLst>
              <a:gd name="adj" fmla="val 7133"/>
            </a:avLst>
          </a:prstGeom>
          <a:solidFill>
            <a:srgbClr val="F4F6F8"/>
          </a:solidFill>
          <a:ln/>
        </p:spPr>
      </p:sp>
      <p:sp>
        <p:nvSpPr>
          <p:cNvPr id="26" name="Text 24"/>
          <p:cNvSpPr txBox="1"/>
          <p:nvPr/>
        </p:nvSpPr>
        <p:spPr>
          <a:xfrm>
            <a:off x="5239512" y="4448556"/>
            <a:ext cx="17236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[PROJECT IMAGE]</a:t>
            </a:r>
            <a:endParaRPr lang="en-US" sz="950" dirty="0"/>
          </a:p>
        </p:txBody>
      </p:sp>
      <p:sp>
        <p:nvSpPr>
          <p:cNvPr id="27" name="Text 25"/>
          <p:cNvSpPr txBox="1"/>
          <p:nvPr/>
        </p:nvSpPr>
        <p:spPr>
          <a:xfrm>
            <a:off x="5106010" y="5381244"/>
            <a:ext cx="1990649" cy="285293"/>
          </a:xfrm>
          <a:prstGeom prst="rect">
            <a:avLst/>
          </a:prstGeom>
          <a:noFill/>
          <a:ln/>
        </p:spPr>
        <p:txBody>
          <a:bodyPr wrap="square" lIns="0" tIns="0" rIns="0" bIns="0" rtlCol="0" anchor="ctr"/>
          <a:lstStyle/>
          <a:p>
            <a:pPr indent="0" marL="0">
              <a:buNone/>
            </a:pPr>
            <a:r>
              <a:rPr lang="en-US" sz="1150" b="1" dirty="0">
                <a:solidFill>
                  <a:srgbClr val="111111"/>
                </a:solidFill>
                <a:latin typeface="Arial" pitchFamily="34" charset="0"/>
                <a:ea typeface="Arial" pitchFamily="34" charset="-122"/>
                <a:cs typeface="Arial" pitchFamily="34" charset="-120"/>
              </a:rPr>
              <a:t>Dubai Challenge</a:t>
            </a:r>
            <a:endParaRPr lang="en-US" sz="1150" dirty="0"/>
          </a:p>
        </p:txBody>
      </p:sp>
      <p:sp>
        <p:nvSpPr>
          <p:cNvPr id="28" name="Shape 26"/>
          <p:cNvSpPr/>
          <p:nvPr/>
        </p:nvSpPr>
        <p:spPr>
          <a:xfrm>
            <a:off x="7316114" y="3952951"/>
            <a:ext cx="1990649" cy="1333195"/>
          </a:xfrm>
          <a:prstGeom prst="roundRect">
            <a:avLst>
              <a:gd name="adj" fmla="val 7133"/>
            </a:avLst>
          </a:prstGeom>
          <a:solidFill>
            <a:srgbClr val="F4F6F8"/>
          </a:solidFill>
          <a:ln/>
        </p:spPr>
      </p:sp>
      <p:sp>
        <p:nvSpPr>
          <p:cNvPr id="29" name="Text 27"/>
          <p:cNvSpPr txBox="1"/>
          <p:nvPr/>
        </p:nvSpPr>
        <p:spPr>
          <a:xfrm>
            <a:off x="7449617" y="4448556"/>
            <a:ext cx="17236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[PROJECT IMAGE]</a:t>
            </a:r>
            <a:endParaRPr lang="en-US" sz="950" dirty="0"/>
          </a:p>
        </p:txBody>
      </p:sp>
      <p:sp>
        <p:nvSpPr>
          <p:cNvPr id="30" name="Text 28"/>
          <p:cNvSpPr txBox="1"/>
          <p:nvPr/>
        </p:nvSpPr>
        <p:spPr>
          <a:xfrm>
            <a:off x="7316114" y="5381244"/>
            <a:ext cx="1990649" cy="285293"/>
          </a:xfrm>
          <a:prstGeom prst="rect">
            <a:avLst/>
          </a:prstGeom>
          <a:noFill/>
          <a:ln/>
        </p:spPr>
        <p:txBody>
          <a:bodyPr wrap="square" lIns="0" tIns="0" rIns="0" bIns="0" rtlCol="0" anchor="ctr"/>
          <a:lstStyle/>
          <a:p>
            <a:pPr indent="0" marL="0">
              <a:buNone/>
            </a:pPr>
            <a:r>
              <a:rPr lang="en-US" sz="1150" b="1" dirty="0">
                <a:solidFill>
                  <a:srgbClr val="111111"/>
                </a:solidFill>
                <a:latin typeface="Arial" pitchFamily="34" charset="0"/>
                <a:ea typeface="Arial" pitchFamily="34" charset="-122"/>
                <a:cs typeface="Arial" pitchFamily="34" charset="-120"/>
              </a:rPr>
              <a:t>SND</a:t>
            </a:r>
            <a:endParaRPr lang="en-US" sz="1150" dirty="0"/>
          </a:p>
        </p:txBody>
      </p:sp>
      <p:sp>
        <p:nvSpPr>
          <p:cNvPr id="31" name="Shape 29"/>
          <p:cNvSpPr/>
          <p:nvPr/>
        </p:nvSpPr>
        <p:spPr>
          <a:xfrm>
            <a:off x="9526219" y="3952951"/>
            <a:ext cx="1990649" cy="1333195"/>
          </a:xfrm>
          <a:prstGeom prst="roundRect">
            <a:avLst>
              <a:gd name="adj" fmla="val 7133"/>
            </a:avLst>
          </a:prstGeom>
          <a:solidFill>
            <a:srgbClr val="F4F6F8"/>
          </a:solidFill>
          <a:ln/>
        </p:spPr>
      </p:sp>
      <p:sp>
        <p:nvSpPr>
          <p:cNvPr id="32" name="Text 30"/>
          <p:cNvSpPr txBox="1"/>
          <p:nvPr/>
        </p:nvSpPr>
        <p:spPr>
          <a:xfrm>
            <a:off x="9659722" y="4448556"/>
            <a:ext cx="17236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[PROJECT IMAGE]</a:t>
            </a:r>
            <a:endParaRPr lang="en-US" sz="950" dirty="0"/>
          </a:p>
        </p:txBody>
      </p:sp>
      <p:sp>
        <p:nvSpPr>
          <p:cNvPr id="33" name="Text 31"/>
          <p:cNvSpPr txBox="1"/>
          <p:nvPr/>
        </p:nvSpPr>
        <p:spPr>
          <a:xfrm>
            <a:off x="9526219" y="5381244"/>
            <a:ext cx="1990649" cy="285293"/>
          </a:xfrm>
          <a:prstGeom prst="rect">
            <a:avLst/>
          </a:prstGeom>
          <a:noFill/>
          <a:ln/>
        </p:spPr>
        <p:txBody>
          <a:bodyPr wrap="square" lIns="0" tIns="0" rIns="0" bIns="0" rtlCol="0" anchor="ctr"/>
          <a:lstStyle/>
          <a:p>
            <a:pPr indent="0" marL="0">
              <a:buNone/>
            </a:pPr>
            <a:r>
              <a:rPr lang="en-US" sz="1150" b="1" dirty="0">
                <a:solidFill>
                  <a:srgbClr val="111111"/>
                </a:solidFill>
                <a:latin typeface="Arial" pitchFamily="34" charset="0"/>
                <a:ea typeface="Arial" pitchFamily="34" charset="-122"/>
                <a:cs typeface="Arial" pitchFamily="34" charset="-120"/>
              </a:rPr>
              <a:t>ILF</a:t>
            </a:r>
            <a:endParaRPr lang="en-US" sz="1150" dirty="0"/>
          </a:p>
        </p:txBody>
      </p:sp>
      <p:pic>
        <p:nvPicPr>
          <p:cNvPr id="34"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35" name="Text 32"/>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2667305"/>
            <a:ext cx="10820095" cy="856793"/>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How the work runs.</a:t>
            </a:r>
            <a:endParaRPr lang="en-US" sz="4200" dirty="0"/>
          </a:p>
        </p:txBody>
      </p:sp>
      <p:sp>
        <p:nvSpPr>
          <p:cNvPr id="3" name="Text 1"/>
          <p:cNvSpPr txBox="1"/>
          <p:nvPr/>
        </p:nvSpPr>
        <p:spPr>
          <a:xfrm>
            <a:off x="685800" y="3714293"/>
            <a:ext cx="10820095" cy="228600"/>
          </a:xfrm>
          <a:prstGeom prst="rect">
            <a:avLst/>
          </a:prstGeom>
          <a:noFill/>
          <a:ln/>
        </p:spPr>
        <p:txBody>
          <a:bodyPr wrap="square" lIns="0" tIns="0" rIns="0" bIns="0" rtlCol="0" anchor="ctr"/>
          <a:lstStyle/>
          <a:p>
            <a:pPr indent="0" marL="0">
              <a:buNone/>
            </a:pPr>
            <a:r>
              <a:rPr lang="en-US" sz="950" b="1" spc="300" kern="0" dirty="0">
                <a:solidFill>
                  <a:srgbClr val="54D2FE"/>
                </a:solidFill>
                <a:latin typeface="Arial" pitchFamily="34" charset="0"/>
                <a:ea typeface="Arial" pitchFamily="34" charset="-122"/>
                <a:cs typeface="Arial" pitchFamily="34" charset="-120"/>
              </a:rPr>
              <a:t>THE FIRM · THE METHOD · THE FIRST STEP</a:t>
            </a:r>
            <a:endParaRPr lang="en-US" sz="950" dirty="0"/>
          </a:p>
        </p:txBody>
      </p:sp>
      <p:pic>
        <p:nvPicPr>
          <p:cNvPr id="4" name="Image 0" descr="assets/eov-wordmark-white.png">    </p:cNvPr>
          <p:cNvPicPr>
            <a:picLocks noChangeAspect="1"/>
          </p:cNvPicPr>
          <p:nvPr/>
        </p:nvPicPr>
        <p:blipFill>
          <a:blip r:embed="rId1"/>
          <a:stretch>
            <a:fillRect/>
          </a:stretch>
        </p:blipFill>
        <p:spPr>
          <a:xfrm>
            <a:off x="685800" y="6238951"/>
            <a:ext cx="571500" cy="190195"/>
          </a:xfrm>
          <a:prstGeom prst="rect">
            <a:avLst/>
          </a:prstGeom>
        </p:spPr>
      </p:pic>
      <p:sp>
        <p:nvSpPr>
          <p:cNvPr id="5" name="Text 2"/>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6E7379"/>
                </a:solidFill>
                <a:latin typeface="Arial" pitchFamily="34" charset="0"/>
                <a:ea typeface="Arial" pitchFamily="34" charset="-122"/>
                <a:cs typeface="Arial"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WHAT EOV DOES</a:t>
            </a:r>
            <a:endParaRPr lang="en-US" sz="950" dirty="0"/>
          </a:p>
        </p:txBody>
      </p:sp>
      <p:sp>
        <p:nvSpPr>
          <p:cNvPr id="3" name="Text 1"/>
          <p:cNvSpPr txBox="1"/>
          <p:nvPr/>
        </p:nvSpPr>
        <p:spPr>
          <a:xfrm>
            <a:off x="685800" y="800100"/>
            <a:ext cx="10820095" cy="666598"/>
          </a:xfrm>
          <a:prstGeom prst="rect">
            <a:avLst/>
          </a:prstGeom>
          <a:noFill/>
          <a:ln/>
        </p:spPr>
        <p:txBody>
          <a:bodyPr wrap="square" lIns="0" tIns="0" rIns="0" bIns="0" rtlCol="0" anchor="t"/>
          <a:lstStyle/>
          <a:p>
            <a:pPr indent="0" marL="0">
              <a:lnSpc>
                <a:spcPts val="4050"/>
              </a:lnSpc>
              <a:buNone/>
            </a:pPr>
            <a:r>
              <a:rPr lang="en-US" sz="2850" b="1" dirty="0">
                <a:solidFill>
                  <a:srgbClr val="111111"/>
                </a:solidFill>
                <a:latin typeface="Arial" pitchFamily="34" charset="0"/>
                <a:ea typeface="Arial" pitchFamily="34" charset="-122"/>
                <a:cs typeface="Arial" pitchFamily="34" charset="-120"/>
              </a:rPr>
              <a:t>Six disciplines, one brief, one team.</a:t>
            </a:r>
            <a:endParaRPr lang="en-US" sz="2850" dirty="0"/>
          </a:p>
        </p:txBody>
      </p:sp>
      <p:sp>
        <p:nvSpPr>
          <p:cNvPr id="4" name="Shape 2"/>
          <p:cNvSpPr/>
          <p:nvPr/>
        </p:nvSpPr>
        <p:spPr>
          <a:xfrm>
            <a:off x="685800" y="2048256"/>
            <a:ext cx="5257800" cy="3142793"/>
          </a:xfrm>
          <a:prstGeom prst="roundRect">
            <a:avLst>
              <a:gd name="adj" fmla="val 3026"/>
            </a:avLst>
          </a:prstGeom>
          <a:solidFill>
            <a:srgbClr val="F4F6F8"/>
          </a:solidFill>
          <a:ln/>
        </p:spPr>
      </p:sp>
      <p:sp>
        <p:nvSpPr>
          <p:cNvPr id="5" name="Text 3"/>
          <p:cNvSpPr txBox="1"/>
          <p:nvPr/>
        </p:nvSpPr>
        <p:spPr>
          <a:xfrm>
            <a:off x="990295" y="2333549"/>
            <a:ext cx="4667098" cy="190195"/>
          </a:xfrm>
          <a:prstGeom prst="rect">
            <a:avLst/>
          </a:prstGeom>
          <a:noFill/>
          <a:ln/>
        </p:spPr>
        <p:txBody>
          <a:bodyPr wrap="square" lIns="0" tIns="0" rIns="0" bIns="0" rtlCol="0" anchor="ctr"/>
          <a:lstStyle/>
          <a:p>
            <a:pPr indent="0" marL="0">
              <a:buNone/>
            </a:pPr>
            <a:r>
              <a:rPr lang="en-US" sz="950" b="1" spc="260" kern="0" dirty="0">
                <a:solidFill>
                  <a:srgbClr val="8A8F98"/>
                </a:solidFill>
                <a:latin typeface="Arial" pitchFamily="34" charset="0"/>
                <a:ea typeface="Arial" pitchFamily="34" charset="-122"/>
                <a:cs typeface="Arial" pitchFamily="34" charset="-120"/>
              </a:rPr>
              <a:t>IN-HOUSE</a:t>
            </a:r>
            <a:endParaRPr lang="en-US" sz="950" dirty="0"/>
          </a:p>
        </p:txBody>
      </p:sp>
      <p:sp>
        <p:nvSpPr>
          <p:cNvPr id="6" name="Text 4"/>
          <p:cNvSpPr txBox="1"/>
          <p:nvPr/>
        </p:nvSpPr>
        <p:spPr>
          <a:xfrm>
            <a:off x="990295" y="2809951"/>
            <a:ext cx="4667098" cy="323698"/>
          </a:xfrm>
          <a:prstGeom prst="rect">
            <a:avLst/>
          </a:prstGeom>
          <a:noFill/>
          <a:ln/>
        </p:spPr>
        <p:txBody>
          <a:bodyPr wrap="square" lIns="0" tIns="0" rIns="0" bIns="0" rtlCol="0" anchor="t"/>
          <a:lstStyle/>
          <a:p>
            <a:pPr indent="0" marL="0">
              <a:buNone/>
            </a:pPr>
            <a:r>
              <a:rPr lang="en-US" sz="1250" dirty="0">
                <a:solidFill>
                  <a:srgbClr val="111111"/>
                </a:solidFill>
                <a:latin typeface="Arial" pitchFamily="34" charset="0"/>
                <a:ea typeface="Arial" pitchFamily="34" charset="-122"/>
                <a:cs typeface="Arial" pitchFamily="34" charset="-120"/>
              </a:rPr>
              <a:t>Strategy and research</a:t>
            </a:r>
            <a:endParaRPr lang="en-US" sz="1250" dirty="0"/>
          </a:p>
        </p:txBody>
      </p:sp>
      <p:sp>
        <p:nvSpPr>
          <p:cNvPr id="7" name="Text 5"/>
          <p:cNvSpPr txBox="1"/>
          <p:nvPr/>
        </p:nvSpPr>
        <p:spPr>
          <a:xfrm>
            <a:off x="990295" y="3209544"/>
            <a:ext cx="4667098" cy="323698"/>
          </a:xfrm>
          <a:prstGeom prst="rect">
            <a:avLst/>
          </a:prstGeom>
          <a:noFill/>
          <a:ln/>
        </p:spPr>
        <p:txBody>
          <a:bodyPr wrap="square" lIns="0" tIns="0" rIns="0" bIns="0" rtlCol="0" anchor="t"/>
          <a:lstStyle/>
          <a:p>
            <a:pPr indent="0" marL="0">
              <a:buNone/>
            </a:pPr>
            <a:r>
              <a:rPr lang="en-US" sz="1250" dirty="0">
                <a:solidFill>
                  <a:srgbClr val="111111"/>
                </a:solidFill>
                <a:latin typeface="Arial" pitchFamily="34" charset="0"/>
                <a:ea typeface="Arial" pitchFamily="34" charset="-122"/>
                <a:cs typeface="Arial" pitchFamily="34" charset="-120"/>
              </a:rPr>
              <a:t>Brand and creative</a:t>
            </a:r>
            <a:endParaRPr lang="en-US" sz="1250" dirty="0"/>
          </a:p>
        </p:txBody>
      </p:sp>
      <p:sp>
        <p:nvSpPr>
          <p:cNvPr id="8" name="Text 6"/>
          <p:cNvSpPr txBox="1"/>
          <p:nvPr/>
        </p:nvSpPr>
        <p:spPr>
          <a:xfrm>
            <a:off x="990295" y="3609137"/>
            <a:ext cx="4667098" cy="323698"/>
          </a:xfrm>
          <a:prstGeom prst="rect">
            <a:avLst/>
          </a:prstGeom>
          <a:noFill/>
          <a:ln/>
        </p:spPr>
        <p:txBody>
          <a:bodyPr wrap="square" lIns="0" tIns="0" rIns="0" bIns="0" rtlCol="0" anchor="t"/>
          <a:lstStyle/>
          <a:p>
            <a:pPr indent="0" marL="0">
              <a:buNone/>
            </a:pPr>
            <a:r>
              <a:rPr lang="en-US" sz="1250" dirty="0">
                <a:solidFill>
                  <a:srgbClr val="111111"/>
                </a:solidFill>
                <a:latin typeface="Arial" pitchFamily="34" charset="0"/>
                <a:ea typeface="Arial" pitchFamily="34" charset="-122"/>
                <a:cs typeface="Arial" pitchFamily="34" charset="-120"/>
              </a:rPr>
              <a:t>Digital and ecommerce</a:t>
            </a:r>
            <a:endParaRPr lang="en-US" sz="1250" dirty="0"/>
          </a:p>
        </p:txBody>
      </p:sp>
      <p:sp>
        <p:nvSpPr>
          <p:cNvPr id="9" name="Text 7"/>
          <p:cNvSpPr txBox="1"/>
          <p:nvPr/>
        </p:nvSpPr>
        <p:spPr>
          <a:xfrm>
            <a:off x="990295" y="4008730"/>
            <a:ext cx="4667098" cy="323698"/>
          </a:xfrm>
          <a:prstGeom prst="rect">
            <a:avLst/>
          </a:prstGeom>
          <a:noFill/>
          <a:ln/>
        </p:spPr>
        <p:txBody>
          <a:bodyPr wrap="square" lIns="0" tIns="0" rIns="0" bIns="0" rtlCol="0" anchor="t"/>
          <a:lstStyle/>
          <a:p>
            <a:pPr indent="0" marL="0">
              <a:buNone/>
            </a:pPr>
            <a:r>
              <a:rPr lang="en-US" sz="1250" dirty="0">
                <a:solidFill>
                  <a:srgbClr val="111111"/>
                </a:solidFill>
                <a:latin typeface="Arial" pitchFamily="34" charset="0"/>
                <a:ea typeface="Arial" pitchFamily="34" charset="-122"/>
                <a:cs typeface="Arial" pitchFamily="34" charset="-120"/>
              </a:rPr>
              <a:t>Communications and PR</a:t>
            </a:r>
            <a:endParaRPr lang="en-US" sz="1250" dirty="0"/>
          </a:p>
        </p:txBody>
      </p:sp>
      <p:sp>
        <p:nvSpPr>
          <p:cNvPr id="10" name="Text 8"/>
          <p:cNvSpPr txBox="1"/>
          <p:nvPr/>
        </p:nvSpPr>
        <p:spPr>
          <a:xfrm>
            <a:off x="990295" y="4408322"/>
            <a:ext cx="4667098" cy="323698"/>
          </a:xfrm>
          <a:prstGeom prst="rect">
            <a:avLst/>
          </a:prstGeom>
          <a:noFill/>
          <a:ln/>
        </p:spPr>
        <p:txBody>
          <a:bodyPr wrap="square" lIns="0" tIns="0" rIns="0" bIns="0" rtlCol="0" anchor="t"/>
          <a:lstStyle/>
          <a:p>
            <a:pPr indent="0" marL="0">
              <a:buNone/>
            </a:pPr>
            <a:r>
              <a:rPr lang="en-US" sz="1250" dirty="0">
                <a:solidFill>
                  <a:srgbClr val="111111"/>
                </a:solidFill>
                <a:latin typeface="Arial" pitchFamily="34" charset="0"/>
                <a:ea typeface="Arial" pitchFamily="34" charset="-122"/>
                <a:cs typeface="Arial" pitchFamily="34" charset="-120"/>
              </a:rPr>
              <a:t>Media planning and buying</a:t>
            </a:r>
            <a:endParaRPr lang="en-US" sz="1250" dirty="0"/>
          </a:p>
        </p:txBody>
      </p:sp>
      <p:sp>
        <p:nvSpPr>
          <p:cNvPr id="11" name="Text 9"/>
          <p:cNvSpPr txBox="1"/>
          <p:nvPr/>
        </p:nvSpPr>
        <p:spPr>
          <a:xfrm>
            <a:off x="990295" y="4807915"/>
            <a:ext cx="4667098" cy="323698"/>
          </a:xfrm>
          <a:prstGeom prst="rect">
            <a:avLst/>
          </a:prstGeom>
          <a:noFill/>
          <a:ln/>
        </p:spPr>
        <p:txBody>
          <a:bodyPr wrap="square" lIns="0" tIns="0" rIns="0" bIns="0" rtlCol="0" anchor="t"/>
          <a:lstStyle/>
          <a:p>
            <a:pPr indent="0" marL="0">
              <a:buNone/>
            </a:pPr>
            <a:r>
              <a:rPr lang="en-US" sz="1250" dirty="0">
                <a:solidFill>
                  <a:srgbClr val="111111"/>
                </a:solidFill>
                <a:latin typeface="Arial" pitchFamily="34" charset="0"/>
                <a:ea typeface="Arial" pitchFamily="34" charset="-122"/>
                <a:cs typeface="Arial" pitchFamily="34" charset="-120"/>
              </a:rPr>
              <a:t>Production and events</a:t>
            </a:r>
            <a:endParaRPr lang="en-US" sz="1250" dirty="0"/>
          </a:p>
        </p:txBody>
      </p:sp>
      <p:sp>
        <p:nvSpPr>
          <p:cNvPr id="12" name="Shape 10"/>
          <p:cNvSpPr/>
          <p:nvPr/>
        </p:nvSpPr>
        <p:spPr>
          <a:xfrm>
            <a:off x="6248095" y="2048256"/>
            <a:ext cx="5257800" cy="3142793"/>
          </a:xfrm>
          <a:prstGeom prst="roundRect">
            <a:avLst>
              <a:gd name="adj" fmla="val 3026"/>
            </a:avLst>
          </a:prstGeom>
          <a:solidFill>
            <a:srgbClr val="111111"/>
          </a:solidFill>
          <a:ln/>
        </p:spPr>
      </p:sp>
      <p:sp>
        <p:nvSpPr>
          <p:cNvPr id="13" name="Text 11"/>
          <p:cNvSpPr txBox="1"/>
          <p:nvPr/>
        </p:nvSpPr>
        <p:spPr>
          <a:xfrm>
            <a:off x="6552590" y="2333549"/>
            <a:ext cx="4667098" cy="190195"/>
          </a:xfrm>
          <a:prstGeom prst="rect">
            <a:avLst/>
          </a:prstGeom>
          <a:noFill/>
          <a:ln/>
        </p:spPr>
        <p:txBody>
          <a:bodyPr wrap="square" lIns="0" tIns="0" rIns="0" bIns="0" rtlCol="0" anchor="ctr"/>
          <a:lstStyle/>
          <a:p>
            <a:pPr indent="0" marL="0">
              <a:buNone/>
            </a:pPr>
            <a:r>
              <a:rPr lang="en-US" sz="950" b="1" spc="260" kern="0" dirty="0">
                <a:solidFill>
                  <a:srgbClr val="54D2FE"/>
                </a:solidFill>
                <a:latin typeface="Arial" pitchFamily="34" charset="0"/>
                <a:ea typeface="Arial" pitchFamily="34" charset="-122"/>
                <a:cs typeface="Arial" pitchFamily="34" charset="-120"/>
              </a:rPr>
              <a:t>PARTNERED</a:t>
            </a:r>
            <a:endParaRPr lang="en-US" sz="950" dirty="0"/>
          </a:p>
        </p:txBody>
      </p:sp>
      <p:sp>
        <p:nvSpPr>
          <p:cNvPr id="14" name="Text 12"/>
          <p:cNvSpPr txBox="1"/>
          <p:nvPr/>
        </p:nvSpPr>
        <p:spPr>
          <a:xfrm>
            <a:off x="6552590" y="2809951"/>
            <a:ext cx="4667098" cy="323698"/>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[CONFIRM WHICH]</a:t>
            </a:r>
            <a:endParaRPr lang="en-US" sz="1250" dirty="0"/>
          </a:p>
        </p:txBody>
      </p:sp>
      <p:sp>
        <p:nvSpPr>
          <p:cNvPr id="15" name="Text 13"/>
          <p:cNvSpPr txBox="1"/>
          <p:nvPr/>
        </p:nvSpPr>
        <p:spPr>
          <a:xfrm>
            <a:off x="6552590" y="3209544"/>
            <a:ext cx="4667098" cy="323698"/>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Named partners disclosed on every engagement.</a:t>
            </a:r>
            <a:endParaRPr lang="en-US" sz="1250" dirty="0"/>
          </a:p>
        </p:txBody>
      </p:sp>
      <p:pic>
        <p:nvPicPr>
          <p:cNvPr id="16"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17" name="Text 14"/>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HOW EOV WORKS</a:t>
            </a:r>
            <a:endParaRPr lang="en-US" sz="950" dirty="0"/>
          </a:p>
        </p:txBody>
      </p:sp>
      <p:sp>
        <p:nvSpPr>
          <p:cNvPr id="3" name="Text 1"/>
          <p:cNvSpPr txBox="1"/>
          <p:nvPr/>
        </p:nvSpPr>
        <p:spPr>
          <a:xfrm>
            <a:off x="685800" y="800100"/>
            <a:ext cx="10820095" cy="666598"/>
          </a:xfrm>
          <a:prstGeom prst="rect">
            <a:avLst/>
          </a:prstGeom>
          <a:noFill/>
          <a:ln/>
        </p:spPr>
        <p:txBody>
          <a:bodyPr wrap="square" lIns="0" tIns="0" rIns="0" bIns="0" rtlCol="0" anchor="t"/>
          <a:lstStyle/>
          <a:p>
            <a:pPr indent="0" marL="0">
              <a:lnSpc>
                <a:spcPts val="4050"/>
              </a:lnSpc>
              <a:buNone/>
            </a:pPr>
            <a:r>
              <a:rPr lang="en-US" sz="2850" b="1" dirty="0">
                <a:solidFill>
                  <a:srgbClr val="111111"/>
                </a:solidFill>
                <a:latin typeface="Arial" pitchFamily="34" charset="0"/>
                <a:ea typeface="Arial" pitchFamily="34" charset="-122"/>
                <a:cs typeface="Arial" pitchFamily="34" charset="-120"/>
              </a:rPr>
              <a:t>Three things settled before anything goes live.</a:t>
            </a:r>
            <a:endParaRPr lang="en-US" sz="2850" dirty="0"/>
          </a:p>
        </p:txBody>
      </p:sp>
      <p:sp>
        <p:nvSpPr>
          <p:cNvPr id="4" name="Shape 2"/>
          <p:cNvSpPr/>
          <p:nvPr/>
        </p:nvSpPr>
        <p:spPr>
          <a:xfrm>
            <a:off x="685800" y="2095805"/>
            <a:ext cx="10820095" cy="914400"/>
          </a:xfrm>
          <a:prstGeom prst="roundRect">
            <a:avLst>
              <a:gd name="adj" fmla="val 10400"/>
            </a:avLst>
          </a:prstGeom>
          <a:solidFill>
            <a:srgbClr val="F4F6F8"/>
          </a:solidFill>
          <a:ln/>
        </p:spPr>
      </p:sp>
      <p:sp>
        <p:nvSpPr>
          <p:cNvPr id="5" name="Text 3"/>
          <p:cNvSpPr txBox="1"/>
          <p:nvPr/>
        </p:nvSpPr>
        <p:spPr>
          <a:xfrm>
            <a:off x="952805" y="2095805"/>
            <a:ext cx="571500" cy="914400"/>
          </a:xfrm>
          <a:prstGeom prst="rect">
            <a:avLst/>
          </a:prstGeom>
          <a:noFill/>
          <a:ln/>
        </p:spPr>
        <p:txBody>
          <a:bodyPr wrap="square" rtlCol="0" anchor="ctr"/>
          <a:lstStyle/>
          <a:p>
            <a:pPr indent="0" marL="0">
              <a:buNone/>
            </a:pPr>
            <a:r>
              <a:rPr lang="en-US" sz="1900" b="1" dirty="0">
                <a:solidFill>
                  <a:srgbClr val="8A8F98"/>
                </a:solidFill>
                <a:latin typeface="Arial" pitchFamily="34" charset="0"/>
                <a:ea typeface="Arial" pitchFamily="34" charset="-122"/>
                <a:cs typeface="Arial" pitchFamily="34" charset="-120"/>
              </a:rPr>
              <a:t>01</a:t>
            </a:r>
            <a:endParaRPr lang="en-US" sz="1900" dirty="0"/>
          </a:p>
        </p:txBody>
      </p:sp>
      <p:sp>
        <p:nvSpPr>
          <p:cNvPr id="6" name="Text 4"/>
          <p:cNvSpPr txBox="1"/>
          <p:nvPr/>
        </p:nvSpPr>
        <p:spPr>
          <a:xfrm>
            <a:off x="1676095" y="2305202"/>
            <a:ext cx="4000500" cy="285293"/>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Success defined before spend</a:t>
            </a:r>
            <a:endParaRPr lang="en-US" sz="1400" dirty="0"/>
          </a:p>
        </p:txBody>
      </p:sp>
      <p:sp>
        <p:nvSpPr>
          <p:cNvPr id="7" name="Text 5"/>
          <p:cNvSpPr txBox="1"/>
          <p:nvPr/>
        </p:nvSpPr>
        <p:spPr>
          <a:xfrm>
            <a:off x="5829300" y="2324405"/>
            <a:ext cx="5333695" cy="533095"/>
          </a:xfrm>
          <a:prstGeom prst="rect">
            <a:avLst/>
          </a:prstGeom>
          <a:noFill/>
          <a:ln/>
        </p:spPr>
        <p:txBody>
          <a:bodyPr wrap="square" lIns="0" tIns="0" rIns="0" bIns="0" rtlCol="0" anchor="t"/>
          <a:lstStyle/>
          <a:p>
            <a:pPr indent="0" marL="0">
              <a:lnSpc>
                <a:spcPts val="1580"/>
              </a:lnSpc>
              <a:buNone/>
            </a:pPr>
            <a:r>
              <a:rPr lang="en-US" sz="1150" dirty="0">
                <a:solidFill>
                  <a:srgbClr val="5A6068"/>
                </a:solidFill>
                <a:latin typeface="Arial" pitchFamily="34" charset="0"/>
                <a:ea typeface="Arial" pitchFamily="34" charset="-122"/>
                <a:cs typeface="Arial" pitchFamily="34" charset="-120"/>
              </a:rPr>
              <a:t>The objective, the audience and the measure are agreed and written down first.</a:t>
            </a:r>
            <a:endParaRPr lang="en-US" sz="1150" dirty="0"/>
          </a:p>
        </p:txBody>
      </p:sp>
      <p:sp>
        <p:nvSpPr>
          <p:cNvPr id="8" name="Shape 6"/>
          <p:cNvSpPr/>
          <p:nvPr/>
        </p:nvSpPr>
        <p:spPr>
          <a:xfrm>
            <a:off x="685800" y="3162910"/>
            <a:ext cx="10820095" cy="914400"/>
          </a:xfrm>
          <a:prstGeom prst="roundRect">
            <a:avLst>
              <a:gd name="adj" fmla="val 10400"/>
            </a:avLst>
          </a:prstGeom>
          <a:solidFill>
            <a:srgbClr val="F4F6F8"/>
          </a:solidFill>
          <a:ln/>
        </p:spPr>
      </p:sp>
      <p:sp>
        <p:nvSpPr>
          <p:cNvPr id="9" name="Text 7"/>
          <p:cNvSpPr txBox="1"/>
          <p:nvPr/>
        </p:nvSpPr>
        <p:spPr>
          <a:xfrm>
            <a:off x="952805" y="3162910"/>
            <a:ext cx="571500" cy="914400"/>
          </a:xfrm>
          <a:prstGeom prst="rect">
            <a:avLst/>
          </a:prstGeom>
          <a:noFill/>
          <a:ln/>
        </p:spPr>
        <p:txBody>
          <a:bodyPr wrap="square" rtlCol="0" anchor="ctr"/>
          <a:lstStyle/>
          <a:p>
            <a:pPr indent="0" marL="0">
              <a:buNone/>
            </a:pPr>
            <a:r>
              <a:rPr lang="en-US" sz="1900" b="1" dirty="0">
                <a:solidFill>
                  <a:srgbClr val="8A8F98"/>
                </a:solidFill>
                <a:latin typeface="Arial" pitchFamily="34" charset="0"/>
                <a:ea typeface="Arial" pitchFamily="34" charset="-122"/>
                <a:cs typeface="Arial" pitchFamily="34" charset="-120"/>
              </a:rPr>
              <a:t>02</a:t>
            </a:r>
            <a:endParaRPr lang="en-US" sz="1900" dirty="0"/>
          </a:p>
        </p:txBody>
      </p:sp>
      <p:sp>
        <p:nvSpPr>
          <p:cNvPr id="10" name="Text 8"/>
          <p:cNvSpPr txBox="1"/>
          <p:nvPr/>
        </p:nvSpPr>
        <p:spPr>
          <a:xfrm>
            <a:off x="1676095" y="3372307"/>
            <a:ext cx="4000500" cy="285293"/>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Measurement built before launch</a:t>
            </a:r>
            <a:endParaRPr lang="en-US" sz="1400" dirty="0"/>
          </a:p>
        </p:txBody>
      </p:sp>
      <p:sp>
        <p:nvSpPr>
          <p:cNvPr id="11" name="Text 9"/>
          <p:cNvSpPr txBox="1"/>
          <p:nvPr/>
        </p:nvSpPr>
        <p:spPr>
          <a:xfrm>
            <a:off x="5829300" y="3391510"/>
            <a:ext cx="5333695" cy="533095"/>
          </a:xfrm>
          <a:prstGeom prst="rect">
            <a:avLst/>
          </a:prstGeom>
          <a:noFill/>
          <a:ln/>
        </p:spPr>
        <p:txBody>
          <a:bodyPr wrap="square" lIns="0" tIns="0" rIns="0" bIns="0" rtlCol="0" anchor="t"/>
          <a:lstStyle/>
          <a:p>
            <a:pPr indent="0" marL="0">
              <a:lnSpc>
                <a:spcPts val="1580"/>
              </a:lnSpc>
              <a:buNone/>
            </a:pPr>
            <a:r>
              <a:rPr lang="en-US" sz="1150" dirty="0">
                <a:solidFill>
                  <a:srgbClr val="5A6068"/>
                </a:solidFill>
                <a:latin typeface="Arial" pitchFamily="34" charset="0"/>
                <a:ea typeface="Arial" pitchFamily="34" charset="-122"/>
                <a:cs typeface="Arial" pitchFamily="34" charset="-120"/>
              </a:rPr>
              <a:t>Tracking and reporting are built and tested before the first impression is bought.</a:t>
            </a:r>
            <a:endParaRPr lang="en-US" sz="1150" dirty="0"/>
          </a:p>
        </p:txBody>
      </p:sp>
      <p:sp>
        <p:nvSpPr>
          <p:cNvPr id="12" name="Shape 10"/>
          <p:cNvSpPr/>
          <p:nvPr/>
        </p:nvSpPr>
        <p:spPr>
          <a:xfrm>
            <a:off x="685800" y="4230014"/>
            <a:ext cx="10820095" cy="914400"/>
          </a:xfrm>
          <a:prstGeom prst="roundRect">
            <a:avLst>
              <a:gd name="adj" fmla="val 10400"/>
            </a:avLst>
          </a:prstGeom>
          <a:solidFill>
            <a:srgbClr val="F4F6F8"/>
          </a:solidFill>
          <a:ln/>
        </p:spPr>
      </p:sp>
      <p:sp>
        <p:nvSpPr>
          <p:cNvPr id="13" name="Text 11"/>
          <p:cNvSpPr txBox="1"/>
          <p:nvPr/>
        </p:nvSpPr>
        <p:spPr>
          <a:xfrm>
            <a:off x="952805" y="4230014"/>
            <a:ext cx="571500" cy="914400"/>
          </a:xfrm>
          <a:prstGeom prst="rect">
            <a:avLst/>
          </a:prstGeom>
          <a:noFill/>
          <a:ln/>
        </p:spPr>
        <p:txBody>
          <a:bodyPr wrap="square" rtlCol="0" anchor="ctr"/>
          <a:lstStyle/>
          <a:p>
            <a:pPr indent="0" marL="0">
              <a:buNone/>
            </a:pPr>
            <a:r>
              <a:rPr lang="en-US" sz="1900" b="1" dirty="0">
                <a:solidFill>
                  <a:srgbClr val="8A8F98"/>
                </a:solidFill>
                <a:latin typeface="Arial" pitchFamily="34" charset="0"/>
                <a:ea typeface="Arial" pitchFamily="34" charset="-122"/>
                <a:cs typeface="Arial" pitchFamily="34" charset="-120"/>
              </a:rPr>
              <a:t>03</a:t>
            </a:r>
            <a:endParaRPr lang="en-US" sz="1900" dirty="0"/>
          </a:p>
        </p:txBody>
      </p:sp>
      <p:sp>
        <p:nvSpPr>
          <p:cNvPr id="14" name="Text 12"/>
          <p:cNvSpPr txBox="1"/>
          <p:nvPr/>
        </p:nvSpPr>
        <p:spPr>
          <a:xfrm>
            <a:off x="1676095" y="4439412"/>
            <a:ext cx="4000500" cy="285293"/>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Accounts built in the client's name</a:t>
            </a:r>
            <a:endParaRPr lang="en-US" sz="1400" dirty="0"/>
          </a:p>
        </p:txBody>
      </p:sp>
      <p:sp>
        <p:nvSpPr>
          <p:cNvPr id="15" name="Text 13"/>
          <p:cNvSpPr txBox="1"/>
          <p:nvPr/>
        </p:nvSpPr>
        <p:spPr>
          <a:xfrm>
            <a:off x="5829300" y="4458614"/>
            <a:ext cx="5333695" cy="533095"/>
          </a:xfrm>
          <a:prstGeom prst="rect">
            <a:avLst/>
          </a:prstGeom>
          <a:noFill/>
          <a:ln/>
        </p:spPr>
        <p:txBody>
          <a:bodyPr wrap="square" lIns="0" tIns="0" rIns="0" bIns="0" rtlCol="0" anchor="t"/>
          <a:lstStyle/>
          <a:p>
            <a:pPr indent="0" marL="0">
              <a:lnSpc>
                <a:spcPts val="1580"/>
              </a:lnSpc>
              <a:buNone/>
            </a:pPr>
            <a:r>
              <a:rPr lang="en-US" sz="1150" dirty="0">
                <a:solidFill>
                  <a:srgbClr val="5A6068"/>
                </a:solidFill>
                <a:latin typeface="Arial" pitchFamily="34" charset="0"/>
                <a:ea typeface="Arial" pitchFamily="34" charset="-122"/>
                <a:cs typeface="Arial" pitchFamily="34" charset="-120"/>
              </a:rPr>
              <a:t>Platforms, advertising accounts, analytics and CRM are created under the client's entity.</a:t>
            </a:r>
            <a:endParaRPr lang="en-US" sz="1150" dirty="0"/>
          </a:p>
        </p:txBody>
      </p:sp>
      <p:pic>
        <p:nvPicPr>
          <p:cNvPr id="16"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17" name="Text 14"/>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HOW AN ENGAGEMENT RUNS</a:t>
            </a:r>
            <a:endParaRPr lang="en-US" sz="950" dirty="0"/>
          </a:p>
        </p:txBody>
      </p:sp>
      <p:sp>
        <p:nvSpPr>
          <p:cNvPr id="3" name="Text 1"/>
          <p:cNvSpPr txBox="1"/>
          <p:nvPr/>
        </p:nvSpPr>
        <p:spPr>
          <a:xfrm>
            <a:off x="685800" y="800100"/>
            <a:ext cx="10820095" cy="666598"/>
          </a:xfrm>
          <a:prstGeom prst="rect">
            <a:avLst/>
          </a:prstGeom>
          <a:noFill/>
          <a:ln/>
        </p:spPr>
        <p:txBody>
          <a:bodyPr wrap="square" lIns="0" tIns="0" rIns="0" bIns="0" rtlCol="0" anchor="t"/>
          <a:lstStyle/>
          <a:p>
            <a:pPr indent="0" marL="0">
              <a:lnSpc>
                <a:spcPts val="4050"/>
              </a:lnSpc>
              <a:buNone/>
            </a:pPr>
            <a:r>
              <a:rPr lang="en-US" sz="2850" b="1" dirty="0">
                <a:solidFill>
                  <a:srgbClr val="111111"/>
                </a:solidFill>
                <a:latin typeface="Arial" pitchFamily="34" charset="0"/>
                <a:ea typeface="Arial" pitchFamily="34" charset="-122"/>
                <a:cs typeface="Arial" pitchFamily="34" charset="-120"/>
              </a:rPr>
              <a:t>One contract, one team, one point of accountability.</a:t>
            </a:r>
            <a:endParaRPr lang="en-US" sz="2850" dirty="0"/>
          </a:p>
        </p:txBody>
      </p:sp>
      <p:sp>
        <p:nvSpPr>
          <p:cNvPr id="4" name="Shape 2"/>
          <p:cNvSpPr/>
          <p:nvPr/>
        </p:nvSpPr>
        <p:spPr>
          <a:xfrm>
            <a:off x="685800" y="2048256"/>
            <a:ext cx="3400654" cy="2857500"/>
          </a:xfrm>
          <a:prstGeom prst="roundRect">
            <a:avLst>
              <a:gd name="adj" fmla="val 3328"/>
            </a:avLst>
          </a:prstGeom>
          <a:solidFill>
            <a:srgbClr val="F4F6F8"/>
          </a:solidFill>
          <a:ln/>
        </p:spPr>
      </p:sp>
      <p:sp>
        <p:nvSpPr>
          <p:cNvPr id="5" name="Text 3"/>
          <p:cNvSpPr txBox="1"/>
          <p:nvPr/>
        </p:nvSpPr>
        <p:spPr>
          <a:xfrm>
            <a:off x="952805" y="2333549"/>
            <a:ext cx="761695" cy="381305"/>
          </a:xfrm>
          <a:prstGeom prst="rect">
            <a:avLst/>
          </a:prstGeom>
          <a:noFill/>
          <a:ln/>
        </p:spPr>
        <p:txBody>
          <a:bodyPr wrap="square" lIns="0" tIns="0" rIns="0" bIns="0" rtlCol="0" anchor="ctr"/>
          <a:lstStyle/>
          <a:p>
            <a:pPr indent="0" marL="0">
              <a:buNone/>
            </a:pPr>
            <a:r>
              <a:rPr lang="en-US" sz="1400" b="1" dirty="0">
                <a:solidFill>
                  <a:srgbClr val="8A8F98"/>
                </a:solidFill>
                <a:latin typeface="Arial" pitchFamily="34" charset="0"/>
                <a:ea typeface="Arial" pitchFamily="34" charset="-122"/>
                <a:cs typeface="Arial" pitchFamily="34" charset="-120"/>
              </a:rPr>
              <a:t>01</a:t>
            </a:r>
            <a:endParaRPr lang="en-US" sz="1400" dirty="0"/>
          </a:p>
        </p:txBody>
      </p:sp>
      <p:sp>
        <p:nvSpPr>
          <p:cNvPr id="6" name="Text 4"/>
          <p:cNvSpPr txBox="1"/>
          <p:nvPr/>
        </p:nvSpPr>
        <p:spPr>
          <a:xfrm>
            <a:off x="952805" y="2857500"/>
            <a:ext cx="2857500" cy="34290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Definition</a:t>
            </a:r>
            <a:endParaRPr lang="en-US" sz="1900" dirty="0"/>
          </a:p>
        </p:txBody>
      </p:sp>
      <p:sp>
        <p:nvSpPr>
          <p:cNvPr id="7" name="Text 5"/>
          <p:cNvSpPr txBox="1"/>
          <p:nvPr/>
        </p:nvSpPr>
        <p:spPr>
          <a:xfrm>
            <a:off x="952805" y="3333902"/>
            <a:ext cx="2857500" cy="1333195"/>
          </a:xfrm>
          <a:prstGeom prst="rect">
            <a:avLst/>
          </a:prstGeom>
          <a:noFill/>
          <a:ln/>
        </p:spPr>
        <p:txBody>
          <a:bodyPr wrap="square" lIns="0" tIns="0" rIns="0" bIns="0" rtlCol="0" anchor="t"/>
          <a:lstStyle/>
          <a:p>
            <a:pPr indent="0" marL="0">
              <a:lnSpc>
                <a:spcPts val="1580"/>
              </a:lnSpc>
              <a:buNone/>
            </a:pPr>
            <a:r>
              <a:rPr lang="en-US" sz="1150" dirty="0">
                <a:solidFill>
                  <a:srgbClr val="5A6068"/>
                </a:solidFill>
                <a:latin typeface="Arial" pitchFamily="34" charset="0"/>
                <a:ea typeface="Arial" pitchFamily="34" charset="-122"/>
                <a:cs typeface="Arial" pitchFamily="34" charset="-120"/>
              </a:rPr>
              <a:t>A short paid stage. Objective, audience and the measure of success, agreed and written down.</a:t>
            </a:r>
            <a:endParaRPr lang="en-US" sz="1150" dirty="0"/>
          </a:p>
        </p:txBody>
      </p:sp>
      <p:sp>
        <p:nvSpPr>
          <p:cNvPr id="8" name="Shape 6"/>
          <p:cNvSpPr/>
          <p:nvPr/>
        </p:nvSpPr>
        <p:spPr>
          <a:xfrm>
            <a:off x="4362602" y="2048256"/>
            <a:ext cx="3400654" cy="2857500"/>
          </a:xfrm>
          <a:prstGeom prst="roundRect">
            <a:avLst>
              <a:gd name="adj" fmla="val 3328"/>
            </a:avLst>
          </a:prstGeom>
          <a:solidFill>
            <a:srgbClr val="F4F6F8"/>
          </a:solidFill>
          <a:ln/>
        </p:spPr>
      </p:sp>
      <p:sp>
        <p:nvSpPr>
          <p:cNvPr id="9" name="Text 7"/>
          <p:cNvSpPr txBox="1"/>
          <p:nvPr/>
        </p:nvSpPr>
        <p:spPr>
          <a:xfrm>
            <a:off x="4629607" y="2333549"/>
            <a:ext cx="761695" cy="381305"/>
          </a:xfrm>
          <a:prstGeom prst="rect">
            <a:avLst/>
          </a:prstGeom>
          <a:noFill/>
          <a:ln/>
        </p:spPr>
        <p:txBody>
          <a:bodyPr wrap="square" lIns="0" tIns="0" rIns="0" bIns="0" rtlCol="0" anchor="ctr"/>
          <a:lstStyle/>
          <a:p>
            <a:pPr indent="0" marL="0">
              <a:buNone/>
            </a:pPr>
            <a:r>
              <a:rPr lang="en-US" sz="1400" b="1" dirty="0">
                <a:solidFill>
                  <a:srgbClr val="8A8F98"/>
                </a:solidFill>
                <a:latin typeface="Arial" pitchFamily="34" charset="0"/>
                <a:ea typeface="Arial" pitchFamily="34" charset="-122"/>
                <a:cs typeface="Arial" pitchFamily="34" charset="-120"/>
              </a:rPr>
              <a:t>02</a:t>
            </a:r>
            <a:endParaRPr lang="en-US" sz="1400" dirty="0"/>
          </a:p>
        </p:txBody>
      </p:sp>
      <p:sp>
        <p:nvSpPr>
          <p:cNvPr id="10" name="Text 8"/>
          <p:cNvSpPr txBox="1"/>
          <p:nvPr/>
        </p:nvSpPr>
        <p:spPr>
          <a:xfrm>
            <a:off x="4629607" y="2857500"/>
            <a:ext cx="2857500" cy="34290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Build</a:t>
            </a:r>
            <a:endParaRPr lang="en-US" sz="1900" dirty="0"/>
          </a:p>
        </p:txBody>
      </p:sp>
      <p:sp>
        <p:nvSpPr>
          <p:cNvPr id="11" name="Text 9"/>
          <p:cNvSpPr txBox="1"/>
          <p:nvPr/>
        </p:nvSpPr>
        <p:spPr>
          <a:xfrm>
            <a:off x="4629607" y="3333902"/>
            <a:ext cx="2857500" cy="1333195"/>
          </a:xfrm>
          <a:prstGeom prst="rect">
            <a:avLst/>
          </a:prstGeom>
          <a:noFill/>
          <a:ln/>
        </p:spPr>
        <p:txBody>
          <a:bodyPr wrap="square" lIns="0" tIns="0" rIns="0" bIns="0" rtlCol="0" anchor="t"/>
          <a:lstStyle/>
          <a:p>
            <a:pPr indent="0" marL="0">
              <a:lnSpc>
                <a:spcPts val="1580"/>
              </a:lnSpc>
              <a:buNone/>
            </a:pPr>
            <a:r>
              <a:rPr lang="en-US" sz="1150" dirty="0">
                <a:solidFill>
                  <a:srgbClr val="5A6068"/>
                </a:solidFill>
                <a:latin typeface="Arial" pitchFamily="34" charset="0"/>
                <a:ea typeface="Arial" pitchFamily="34" charset="-122"/>
                <a:cs typeface="Arial" pitchFamily="34" charset="-120"/>
              </a:rPr>
              <a:t>Platforms, measurement and creative built against that definition, in the client's name.</a:t>
            </a:r>
            <a:endParaRPr lang="en-US" sz="1150" dirty="0"/>
          </a:p>
        </p:txBody>
      </p:sp>
      <p:sp>
        <p:nvSpPr>
          <p:cNvPr id="12" name="Shape 10"/>
          <p:cNvSpPr/>
          <p:nvPr/>
        </p:nvSpPr>
        <p:spPr>
          <a:xfrm>
            <a:off x="8039405" y="2048256"/>
            <a:ext cx="3400654" cy="2857500"/>
          </a:xfrm>
          <a:prstGeom prst="roundRect">
            <a:avLst>
              <a:gd name="adj" fmla="val 3328"/>
            </a:avLst>
          </a:prstGeom>
          <a:solidFill>
            <a:srgbClr val="F4F6F8"/>
          </a:solidFill>
          <a:ln/>
        </p:spPr>
      </p:sp>
      <p:sp>
        <p:nvSpPr>
          <p:cNvPr id="13" name="Text 11"/>
          <p:cNvSpPr txBox="1"/>
          <p:nvPr/>
        </p:nvSpPr>
        <p:spPr>
          <a:xfrm>
            <a:off x="8306410" y="2333549"/>
            <a:ext cx="761695" cy="381305"/>
          </a:xfrm>
          <a:prstGeom prst="rect">
            <a:avLst/>
          </a:prstGeom>
          <a:noFill/>
          <a:ln/>
        </p:spPr>
        <p:txBody>
          <a:bodyPr wrap="square" lIns="0" tIns="0" rIns="0" bIns="0" rtlCol="0" anchor="ctr"/>
          <a:lstStyle/>
          <a:p>
            <a:pPr indent="0" marL="0">
              <a:buNone/>
            </a:pPr>
            <a:r>
              <a:rPr lang="en-US" sz="1400" b="1" dirty="0">
                <a:solidFill>
                  <a:srgbClr val="8A8F98"/>
                </a:solidFill>
                <a:latin typeface="Arial" pitchFamily="34" charset="0"/>
                <a:ea typeface="Arial" pitchFamily="34" charset="-122"/>
                <a:cs typeface="Arial" pitchFamily="34" charset="-120"/>
              </a:rPr>
              <a:t>03</a:t>
            </a:r>
            <a:endParaRPr lang="en-US" sz="1400" dirty="0"/>
          </a:p>
        </p:txBody>
      </p:sp>
      <p:sp>
        <p:nvSpPr>
          <p:cNvPr id="14" name="Text 12"/>
          <p:cNvSpPr txBox="1"/>
          <p:nvPr/>
        </p:nvSpPr>
        <p:spPr>
          <a:xfrm>
            <a:off x="8306410" y="2857500"/>
            <a:ext cx="2857500" cy="34290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Run</a:t>
            </a:r>
            <a:endParaRPr lang="en-US" sz="1900" dirty="0"/>
          </a:p>
        </p:txBody>
      </p:sp>
      <p:sp>
        <p:nvSpPr>
          <p:cNvPr id="15" name="Text 13"/>
          <p:cNvSpPr txBox="1"/>
          <p:nvPr/>
        </p:nvSpPr>
        <p:spPr>
          <a:xfrm>
            <a:off x="8306410" y="3333902"/>
            <a:ext cx="2857500" cy="1333195"/>
          </a:xfrm>
          <a:prstGeom prst="rect">
            <a:avLst/>
          </a:prstGeom>
          <a:noFill/>
          <a:ln/>
        </p:spPr>
        <p:txBody>
          <a:bodyPr wrap="square" lIns="0" tIns="0" rIns="0" bIns="0" rtlCol="0" anchor="t"/>
          <a:lstStyle/>
          <a:p>
            <a:pPr indent="0" marL="0">
              <a:lnSpc>
                <a:spcPts val="1580"/>
              </a:lnSpc>
              <a:buNone/>
            </a:pPr>
            <a:r>
              <a:rPr lang="en-US" sz="1150" dirty="0">
                <a:solidFill>
                  <a:srgbClr val="5A6068"/>
                </a:solidFill>
                <a:latin typeface="Arial" pitchFamily="34" charset="0"/>
                <a:ea typeface="Arial" pitchFamily="34" charset="-122"/>
                <a:cs typeface="Arial" pitchFamily="34" charset="-120"/>
              </a:rPr>
              <a:t>Delivery and reporting on a fixed cadence, with one senior contact throughout.</a:t>
            </a:r>
            <a:endParaRPr lang="en-US" sz="1150" dirty="0"/>
          </a:p>
        </p:txBody>
      </p:sp>
      <p:pic>
        <p:nvPicPr>
          <p:cNvPr id="16"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17" name="Text 14"/>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THE TEAM</a:t>
            </a:r>
            <a:endParaRPr lang="en-US" sz="950" dirty="0"/>
          </a:p>
        </p:txBody>
      </p:sp>
      <p:sp>
        <p:nvSpPr>
          <p:cNvPr id="3" name="Text 1"/>
          <p:cNvSpPr txBox="1"/>
          <p:nvPr/>
        </p:nvSpPr>
        <p:spPr>
          <a:xfrm>
            <a:off x="685800" y="800100"/>
            <a:ext cx="10820095" cy="666598"/>
          </a:xfrm>
          <a:prstGeom prst="rect">
            <a:avLst/>
          </a:prstGeom>
          <a:noFill/>
          <a:ln/>
        </p:spPr>
        <p:txBody>
          <a:bodyPr wrap="square" lIns="0" tIns="0" rIns="0" bIns="0" rtlCol="0" anchor="t"/>
          <a:lstStyle/>
          <a:p>
            <a:pPr indent="0" marL="0">
              <a:lnSpc>
                <a:spcPts val="4050"/>
              </a:lnSpc>
              <a:buNone/>
            </a:pPr>
            <a:r>
              <a:rPr lang="en-US" sz="2850" b="1" dirty="0">
                <a:solidFill>
                  <a:srgbClr val="111111"/>
                </a:solidFill>
                <a:latin typeface="Arial" pitchFamily="34" charset="0"/>
                <a:ea typeface="Arial" pitchFamily="34" charset="-122"/>
                <a:cs typeface="Arial" pitchFamily="34" charset="-120"/>
              </a:rPr>
              <a:t>The people on the account.</a:t>
            </a:r>
            <a:endParaRPr lang="en-US" sz="2850" dirty="0"/>
          </a:p>
        </p:txBody>
      </p:sp>
      <p:sp>
        <p:nvSpPr>
          <p:cNvPr id="4" name="Shape 2"/>
          <p:cNvSpPr/>
          <p:nvPr/>
        </p:nvSpPr>
        <p:spPr>
          <a:xfrm>
            <a:off x="685800" y="2048256"/>
            <a:ext cx="2562149" cy="2667305"/>
          </a:xfrm>
          <a:prstGeom prst="roundRect">
            <a:avLst>
              <a:gd name="adj" fmla="val 3712"/>
            </a:avLst>
          </a:prstGeom>
          <a:solidFill>
            <a:srgbClr val="F4F6F8"/>
          </a:solidFill>
          <a:ln/>
        </p:spPr>
      </p:sp>
      <p:sp>
        <p:nvSpPr>
          <p:cNvPr id="5" name="Text 3"/>
          <p:cNvSpPr txBox="1"/>
          <p:nvPr/>
        </p:nvSpPr>
        <p:spPr>
          <a:xfrm>
            <a:off x="819302" y="3210916"/>
            <a:ext cx="22951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MOHAMED-YOUSIF.PNG / [PORTRAIT]</a:t>
            </a:r>
            <a:endParaRPr lang="en-US" sz="950" dirty="0"/>
          </a:p>
        </p:txBody>
      </p:sp>
      <p:sp>
        <p:nvSpPr>
          <p:cNvPr id="6" name="Text 4"/>
          <p:cNvSpPr txBox="1"/>
          <p:nvPr/>
        </p:nvSpPr>
        <p:spPr>
          <a:xfrm>
            <a:off x="685800" y="4857293"/>
            <a:ext cx="2562149" cy="285293"/>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[NAME]</a:t>
            </a:r>
            <a:endParaRPr lang="en-US" sz="1400" dirty="0"/>
          </a:p>
        </p:txBody>
      </p:sp>
      <p:sp>
        <p:nvSpPr>
          <p:cNvPr id="7" name="Text 5"/>
          <p:cNvSpPr txBox="1"/>
          <p:nvPr/>
        </p:nvSpPr>
        <p:spPr>
          <a:xfrm>
            <a:off x="685800" y="5181905"/>
            <a:ext cx="2562149" cy="267005"/>
          </a:xfrm>
          <a:prstGeom prst="rect">
            <a:avLst/>
          </a:prstGeom>
          <a:noFill/>
          <a:ln/>
        </p:spPr>
        <p:txBody>
          <a:bodyPr wrap="square" lIns="0" tIns="0" rIns="0" bIns="0" rtlCol="0" anchor="ctr"/>
          <a:lstStyle/>
          <a:p>
            <a:pPr indent="0" marL="0">
              <a:buNone/>
            </a:pPr>
            <a:r>
              <a:rPr lang="en-US" sz="1150" dirty="0">
                <a:solidFill>
                  <a:srgbClr val="5A6068"/>
                </a:solidFill>
                <a:latin typeface="Arial" pitchFamily="34" charset="0"/>
                <a:ea typeface="Arial" pitchFamily="34" charset="-122"/>
                <a:cs typeface="Arial" pitchFamily="34" charset="-120"/>
              </a:rPr>
              <a:t>[Role]</a:t>
            </a:r>
            <a:endParaRPr lang="en-US" sz="1150" dirty="0"/>
          </a:p>
        </p:txBody>
      </p:sp>
      <p:sp>
        <p:nvSpPr>
          <p:cNvPr id="8" name="Shape 6"/>
          <p:cNvSpPr/>
          <p:nvPr/>
        </p:nvSpPr>
        <p:spPr>
          <a:xfrm>
            <a:off x="3467405" y="2048256"/>
            <a:ext cx="2562149" cy="2667305"/>
          </a:xfrm>
          <a:prstGeom prst="roundRect">
            <a:avLst>
              <a:gd name="adj" fmla="val 3712"/>
            </a:avLst>
          </a:prstGeom>
          <a:solidFill>
            <a:srgbClr val="F4F6F8"/>
          </a:solidFill>
          <a:ln/>
        </p:spPr>
      </p:sp>
      <p:sp>
        <p:nvSpPr>
          <p:cNvPr id="9" name="Text 7"/>
          <p:cNvSpPr txBox="1"/>
          <p:nvPr/>
        </p:nvSpPr>
        <p:spPr>
          <a:xfrm>
            <a:off x="3600907" y="3210916"/>
            <a:ext cx="22951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MOHAMED-YOUSIF.PNG / [PORTRAIT]</a:t>
            </a:r>
            <a:endParaRPr lang="en-US" sz="950" dirty="0"/>
          </a:p>
        </p:txBody>
      </p:sp>
      <p:sp>
        <p:nvSpPr>
          <p:cNvPr id="10" name="Text 8"/>
          <p:cNvSpPr txBox="1"/>
          <p:nvPr/>
        </p:nvSpPr>
        <p:spPr>
          <a:xfrm>
            <a:off x="3467405" y="4857293"/>
            <a:ext cx="2562149" cy="285293"/>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[NAME]</a:t>
            </a:r>
            <a:endParaRPr lang="en-US" sz="1400" dirty="0"/>
          </a:p>
        </p:txBody>
      </p:sp>
      <p:sp>
        <p:nvSpPr>
          <p:cNvPr id="11" name="Text 9"/>
          <p:cNvSpPr txBox="1"/>
          <p:nvPr/>
        </p:nvSpPr>
        <p:spPr>
          <a:xfrm>
            <a:off x="3467405" y="5181905"/>
            <a:ext cx="2562149" cy="267005"/>
          </a:xfrm>
          <a:prstGeom prst="rect">
            <a:avLst/>
          </a:prstGeom>
          <a:noFill/>
          <a:ln/>
        </p:spPr>
        <p:txBody>
          <a:bodyPr wrap="square" lIns="0" tIns="0" rIns="0" bIns="0" rtlCol="0" anchor="ctr"/>
          <a:lstStyle/>
          <a:p>
            <a:pPr indent="0" marL="0">
              <a:buNone/>
            </a:pPr>
            <a:r>
              <a:rPr lang="en-US" sz="1150" dirty="0">
                <a:solidFill>
                  <a:srgbClr val="5A6068"/>
                </a:solidFill>
                <a:latin typeface="Arial" pitchFamily="34" charset="0"/>
                <a:ea typeface="Arial" pitchFamily="34" charset="-122"/>
                <a:cs typeface="Arial" pitchFamily="34" charset="-120"/>
              </a:rPr>
              <a:t>[Role]</a:t>
            </a:r>
            <a:endParaRPr lang="en-US" sz="1150" dirty="0"/>
          </a:p>
        </p:txBody>
      </p:sp>
      <p:sp>
        <p:nvSpPr>
          <p:cNvPr id="12" name="Shape 10"/>
          <p:cNvSpPr/>
          <p:nvPr/>
        </p:nvSpPr>
        <p:spPr>
          <a:xfrm>
            <a:off x="6249010" y="2048256"/>
            <a:ext cx="2562149" cy="2667305"/>
          </a:xfrm>
          <a:prstGeom prst="roundRect">
            <a:avLst>
              <a:gd name="adj" fmla="val 3712"/>
            </a:avLst>
          </a:prstGeom>
          <a:solidFill>
            <a:srgbClr val="F4F6F8"/>
          </a:solidFill>
          <a:ln/>
        </p:spPr>
      </p:sp>
      <p:sp>
        <p:nvSpPr>
          <p:cNvPr id="13" name="Text 11"/>
          <p:cNvSpPr txBox="1"/>
          <p:nvPr/>
        </p:nvSpPr>
        <p:spPr>
          <a:xfrm>
            <a:off x="6382512" y="3210916"/>
            <a:ext cx="22951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MOHAMED-YOUSIF.PNG / [PORTRAIT]</a:t>
            </a:r>
            <a:endParaRPr lang="en-US" sz="950" dirty="0"/>
          </a:p>
        </p:txBody>
      </p:sp>
      <p:sp>
        <p:nvSpPr>
          <p:cNvPr id="14" name="Text 12"/>
          <p:cNvSpPr txBox="1"/>
          <p:nvPr/>
        </p:nvSpPr>
        <p:spPr>
          <a:xfrm>
            <a:off x="6249010" y="4857293"/>
            <a:ext cx="2562149" cy="285293"/>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[NAME]</a:t>
            </a:r>
            <a:endParaRPr lang="en-US" sz="1400" dirty="0"/>
          </a:p>
        </p:txBody>
      </p:sp>
      <p:sp>
        <p:nvSpPr>
          <p:cNvPr id="15" name="Text 13"/>
          <p:cNvSpPr txBox="1"/>
          <p:nvPr/>
        </p:nvSpPr>
        <p:spPr>
          <a:xfrm>
            <a:off x="6249010" y="5181905"/>
            <a:ext cx="2562149" cy="267005"/>
          </a:xfrm>
          <a:prstGeom prst="rect">
            <a:avLst/>
          </a:prstGeom>
          <a:noFill/>
          <a:ln/>
        </p:spPr>
        <p:txBody>
          <a:bodyPr wrap="square" lIns="0" tIns="0" rIns="0" bIns="0" rtlCol="0" anchor="ctr"/>
          <a:lstStyle/>
          <a:p>
            <a:pPr indent="0" marL="0">
              <a:buNone/>
            </a:pPr>
            <a:r>
              <a:rPr lang="en-US" sz="1150" dirty="0">
                <a:solidFill>
                  <a:srgbClr val="5A6068"/>
                </a:solidFill>
                <a:latin typeface="Arial" pitchFamily="34" charset="0"/>
                <a:ea typeface="Arial" pitchFamily="34" charset="-122"/>
                <a:cs typeface="Arial" pitchFamily="34" charset="-120"/>
              </a:rPr>
              <a:t>[Role]</a:t>
            </a:r>
            <a:endParaRPr lang="en-US" sz="1150" dirty="0"/>
          </a:p>
        </p:txBody>
      </p:sp>
      <p:sp>
        <p:nvSpPr>
          <p:cNvPr id="16" name="Shape 14"/>
          <p:cNvSpPr/>
          <p:nvPr/>
        </p:nvSpPr>
        <p:spPr>
          <a:xfrm>
            <a:off x="9030614" y="2048256"/>
            <a:ext cx="2562149" cy="2667305"/>
          </a:xfrm>
          <a:prstGeom prst="roundRect">
            <a:avLst>
              <a:gd name="adj" fmla="val 3712"/>
            </a:avLst>
          </a:prstGeom>
          <a:solidFill>
            <a:srgbClr val="F4F6F8"/>
          </a:solidFill>
          <a:ln/>
        </p:spPr>
      </p:sp>
      <p:sp>
        <p:nvSpPr>
          <p:cNvPr id="17" name="Text 15"/>
          <p:cNvSpPr txBox="1"/>
          <p:nvPr/>
        </p:nvSpPr>
        <p:spPr>
          <a:xfrm>
            <a:off x="9164117" y="3210916"/>
            <a:ext cx="2295144" cy="342900"/>
          </a:xfrm>
          <a:prstGeom prst="rect">
            <a:avLst/>
          </a:prstGeom>
          <a:noFill/>
          <a:ln/>
        </p:spPr>
        <p:txBody>
          <a:bodyPr wrap="square" rtlCol="0" anchor="ctr"/>
          <a:lstStyle/>
          <a:p>
            <a:pPr algn="ctr" indent="0" marL="0">
              <a:buNone/>
            </a:pPr>
            <a:r>
              <a:rPr lang="en-US" sz="950" b="1" spc="240" kern="0" dirty="0">
                <a:solidFill>
                  <a:srgbClr val="8A8F98"/>
                </a:solidFill>
                <a:latin typeface="Arial" pitchFamily="34" charset="0"/>
                <a:ea typeface="Arial" pitchFamily="34" charset="-122"/>
                <a:cs typeface="Arial" pitchFamily="34" charset="-120"/>
              </a:rPr>
              <a:t>MOHAMED-YOUSIF.PNG / [PORTRAIT]</a:t>
            </a:r>
            <a:endParaRPr lang="en-US" sz="950" dirty="0"/>
          </a:p>
        </p:txBody>
      </p:sp>
      <p:sp>
        <p:nvSpPr>
          <p:cNvPr id="18" name="Text 16"/>
          <p:cNvSpPr txBox="1"/>
          <p:nvPr/>
        </p:nvSpPr>
        <p:spPr>
          <a:xfrm>
            <a:off x="9030614" y="4857293"/>
            <a:ext cx="2562149" cy="285293"/>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[NAME]</a:t>
            </a:r>
            <a:endParaRPr lang="en-US" sz="1400" dirty="0"/>
          </a:p>
        </p:txBody>
      </p:sp>
      <p:sp>
        <p:nvSpPr>
          <p:cNvPr id="19" name="Text 17"/>
          <p:cNvSpPr txBox="1"/>
          <p:nvPr/>
        </p:nvSpPr>
        <p:spPr>
          <a:xfrm>
            <a:off x="9030614" y="5181905"/>
            <a:ext cx="2562149" cy="267005"/>
          </a:xfrm>
          <a:prstGeom prst="rect">
            <a:avLst/>
          </a:prstGeom>
          <a:noFill/>
          <a:ln/>
        </p:spPr>
        <p:txBody>
          <a:bodyPr wrap="square" lIns="0" tIns="0" rIns="0" bIns="0" rtlCol="0" anchor="ctr"/>
          <a:lstStyle/>
          <a:p>
            <a:pPr indent="0" marL="0">
              <a:buNone/>
            </a:pPr>
            <a:r>
              <a:rPr lang="en-US" sz="1150" dirty="0">
                <a:solidFill>
                  <a:srgbClr val="5A6068"/>
                </a:solidFill>
                <a:latin typeface="Arial" pitchFamily="34" charset="0"/>
                <a:ea typeface="Arial" pitchFamily="34" charset="-122"/>
                <a:cs typeface="Arial" pitchFamily="34" charset="-120"/>
              </a:rPr>
              <a:t>[Role]</a:t>
            </a:r>
            <a:endParaRPr lang="en-US" sz="1150" dirty="0"/>
          </a:p>
        </p:txBody>
      </p:sp>
      <p:pic>
        <p:nvPicPr>
          <p:cNvPr id="20"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21" name="Text 18"/>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8A8F98"/>
                </a:solidFill>
                <a:latin typeface="Arial" pitchFamily="34" charset="0"/>
                <a:ea typeface="Arial" pitchFamily="34" charset="-122"/>
                <a:cs typeface="Arial" pitchFamily="34" charset="-120"/>
              </a:rPr>
              <a:t>PARTNERS</a:t>
            </a:r>
            <a:endParaRPr lang="en-US" sz="950" dirty="0"/>
          </a:p>
        </p:txBody>
      </p:sp>
      <p:sp>
        <p:nvSpPr>
          <p:cNvPr id="3" name="Text 1"/>
          <p:cNvSpPr txBox="1"/>
          <p:nvPr/>
        </p:nvSpPr>
        <p:spPr>
          <a:xfrm>
            <a:off x="685800" y="800100"/>
            <a:ext cx="10820095" cy="666598"/>
          </a:xfrm>
          <a:prstGeom prst="rect">
            <a:avLst/>
          </a:prstGeom>
          <a:noFill/>
          <a:ln/>
        </p:spPr>
        <p:txBody>
          <a:bodyPr wrap="square" lIns="0" tIns="0" rIns="0" bIns="0" rtlCol="0" anchor="t"/>
          <a:lstStyle/>
          <a:p>
            <a:pPr indent="0" marL="0">
              <a:lnSpc>
                <a:spcPts val="4050"/>
              </a:lnSpc>
              <a:buNone/>
            </a:pPr>
            <a:r>
              <a:rPr lang="en-US" sz="2850" b="1" dirty="0">
                <a:solidFill>
                  <a:srgbClr val="111111"/>
                </a:solidFill>
                <a:latin typeface="Arial" pitchFamily="34" charset="0"/>
                <a:ea typeface="Arial" pitchFamily="34" charset="-122"/>
                <a:cs typeface="Arial" pitchFamily="34" charset="-120"/>
              </a:rPr>
              <a:t>Depth bought where it is better bought than built.</a:t>
            </a:r>
            <a:endParaRPr lang="en-US" sz="2850" dirty="0"/>
          </a:p>
        </p:txBody>
      </p:sp>
      <p:sp>
        <p:nvSpPr>
          <p:cNvPr id="4" name="Text 2"/>
          <p:cNvSpPr txBox="1"/>
          <p:nvPr/>
        </p:nvSpPr>
        <p:spPr>
          <a:xfrm>
            <a:off x="685800" y="1904695"/>
            <a:ext cx="8572500" cy="476402"/>
          </a:xfrm>
          <a:prstGeom prst="rect">
            <a:avLst/>
          </a:prstGeom>
          <a:noFill/>
          <a:ln/>
        </p:spPr>
        <p:txBody>
          <a:bodyPr wrap="square" lIns="0" tIns="0" rIns="0" bIns="0" rtlCol="0" anchor="t"/>
          <a:lstStyle/>
          <a:p>
            <a:pPr indent="0" marL="0">
              <a:lnSpc>
                <a:spcPts val="1950"/>
              </a:lnSpc>
              <a:buNone/>
            </a:pPr>
            <a:r>
              <a:rPr lang="en-US" sz="1300" dirty="0">
                <a:solidFill>
                  <a:srgbClr val="5A6068"/>
                </a:solidFill>
                <a:latin typeface="Arial" pitchFamily="34" charset="0"/>
                <a:ea typeface="Arial" pitchFamily="34" charset="-122"/>
                <a:cs typeface="Arial" pitchFamily="34" charset="-120"/>
              </a:rPr>
              <a:t>Capacity is the standing question asked of any agency this size. Named partners are disclosed on every engagement.</a:t>
            </a:r>
            <a:endParaRPr lang="en-US" sz="1300" dirty="0"/>
          </a:p>
        </p:txBody>
      </p:sp>
      <p:sp>
        <p:nvSpPr>
          <p:cNvPr id="5" name="Shape 3"/>
          <p:cNvSpPr/>
          <p:nvPr/>
        </p:nvSpPr>
        <p:spPr>
          <a:xfrm>
            <a:off x="685800" y="2857500"/>
            <a:ext cx="3400654" cy="1999793"/>
          </a:xfrm>
          <a:prstGeom prst="roundRect">
            <a:avLst>
              <a:gd name="adj" fmla="val 4755"/>
            </a:avLst>
          </a:prstGeom>
          <a:solidFill>
            <a:srgbClr val="F4F6F8"/>
          </a:solidFill>
          <a:ln/>
        </p:spPr>
      </p:sp>
      <p:sp>
        <p:nvSpPr>
          <p:cNvPr id="6" name="Text 4"/>
          <p:cNvSpPr txBox="1"/>
          <p:nvPr/>
        </p:nvSpPr>
        <p:spPr>
          <a:xfrm>
            <a:off x="914400" y="2857500"/>
            <a:ext cx="2943454" cy="1999793"/>
          </a:xfrm>
          <a:prstGeom prst="rect">
            <a:avLst/>
          </a:prstGeom>
          <a:noFill/>
          <a:ln/>
        </p:spPr>
        <p:txBody>
          <a:bodyPr wrap="square" rtlCol="0" anchor="ctr"/>
          <a:lstStyle/>
          <a:p>
            <a:pPr algn="ctr" indent="0" marL="0">
              <a:buNone/>
            </a:pPr>
            <a:r>
              <a:rPr lang="en-US" sz="1900" b="1" dirty="0">
                <a:solidFill>
                  <a:srgbClr val="111111"/>
                </a:solidFill>
                <a:latin typeface="Arial" pitchFamily="34" charset="0"/>
                <a:ea typeface="Arial" pitchFamily="34" charset="-122"/>
                <a:cs typeface="Arial" pitchFamily="34" charset="-120"/>
              </a:rPr>
              <a:t>Marcollin</a:t>
            </a:r>
            <a:endParaRPr lang="en-US" sz="1900" dirty="0"/>
          </a:p>
        </p:txBody>
      </p:sp>
      <p:sp>
        <p:nvSpPr>
          <p:cNvPr id="7" name="Shape 5"/>
          <p:cNvSpPr/>
          <p:nvPr/>
        </p:nvSpPr>
        <p:spPr>
          <a:xfrm>
            <a:off x="4362602" y="2857500"/>
            <a:ext cx="3400654" cy="1999793"/>
          </a:xfrm>
          <a:prstGeom prst="roundRect">
            <a:avLst>
              <a:gd name="adj" fmla="val 4755"/>
            </a:avLst>
          </a:prstGeom>
          <a:solidFill>
            <a:srgbClr val="F4F6F8"/>
          </a:solidFill>
          <a:ln/>
        </p:spPr>
      </p:sp>
      <p:sp>
        <p:nvSpPr>
          <p:cNvPr id="8" name="Text 6"/>
          <p:cNvSpPr txBox="1"/>
          <p:nvPr/>
        </p:nvSpPr>
        <p:spPr>
          <a:xfrm>
            <a:off x="4591202" y="2857500"/>
            <a:ext cx="2943454" cy="1999793"/>
          </a:xfrm>
          <a:prstGeom prst="rect">
            <a:avLst/>
          </a:prstGeom>
          <a:noFill/>
          <a:ln/>
        </p:spPr>
        <p:txBody>
          <a:bodyPr wrap="square" rtlCol="0" anchor="ctr"/>
          <a:lstStyle/>
          <a:p>
            <a:pPr algn="ctr" indent="0" marL="0">
              <a:buNone/>
            </a:pPr>
            <a:r>
              <a:rPr lang="en-US" sz="1900" b="1" dirty="0">
                <a:solidFill>
                  <a:srgbClr val="111111"/>
                </a:solidFill>
                <a:latin typeface="Arial" pitchFamily="34" charset="0"/>
                <a:ea typeface="Arial" pitchFamily="34" charset="-122"/>
                <a:cs typeface="Arial" pitchFamily="34" charset="-120"/>
              </a:rPr>
              <a:t>SAA</a:t>
            </a:r>
            <a:endParaRPr lang="en-US" sz="1900" dirty="0"/>
          </a:p>
        </p:txBody>
      </p:sp>
      <p:sp>
        <p:nvSpPr>
          <p:cNvPr id="9" name="Shape 7"/>
          <p:cNvSpPr/>
          <p:nvPr/>
        </p:nvSpPr>
        <p:spPr>
          <a:xfrm>
            <a:off x="8039405" y="2857500"/>
            <a:ext cx="3400654" cy="1999793"/>
          </a:xfrm>
          <a:prstGeom prst="roundRect">
            <a:avLst>
              <a:gd name="adj" fmla="val 4755"/>
            </a:avLst>
          </a:prstGeom>
          <a:solidFill>
            <a:srgbClr val="F4F6F8"/>
          </a:solidFill>
          <a:ln/>
        </p:spPr>
      </p:sp>
      <p:sp>
        <p:nvSpPr>
          <p:cNvPr id="10" name="Text 8"/>
          <p:cNvSpPr txBox="1"/>
          <p:nvPr/>
        </p:nvSpPr>
        <p:spPr>
          <a:xfrm>
            <a:off x="8268005" y="2857500"/>
            <a:ext cx="2943454" cy="1999793"/>
          </a:xfrm>
          <a:prstGeom prst="rect">
            <a:avLst/>
          </a:prstGeom>
          <a:noFill/>
          <a:ln/>
        </p:spPr>
        <p:txBody>
          <a:bodyPr wrap="square" rtlCol="0" anchor="ctr"/>
          <a:lstStyle/>
          <a:p>
            <a:pPr algn="ctr" indent="0" marL="0">
              <a:buNone/>
            </a:pPr>
            <a:r>
              <a:rPr lang="en-US" sz="1900" b="1" dirty="0">
                <a:solidFill>
                  <a:srgbClr val="111111"/>
                </a:solidFill>
                <a:latin typeface="Arial" pitchFamily="34" charset="0"/>
                <a:ea typeface="Arial" pitchFamily="34" charset="-122"/>
                <a:cs typeface="Arial" pitchFamily="34" charset="-120"/>
              </a:rPr>
              <a:t>Palo Alto Tribunal</a:t>
            </a:r>
            <a:endParaRPr lang="en-US" sz="1900" dirty="0"/>
          </a:p>
        </p:txBody>
      </p:sp>
      <p:pic>
        <p:nvPicPr>
          <p:cNvPr id="11" name="Image 0" descr="assets/eov-wordmark-black-sm.png">    </p:cNvPr>
          <p:cNvPicPr>
            <a:picLocks noChangeAspect="1"/>
          </p:cNvPicPr>
          <p:nvPr/>
        </p:nvPicPr>
        <p:blipFill>
          <a:blip r:embed="rId1"/>
          <a:stretch>
            <a:fillRect/>
          </a:stretch>
        </p:blipFill>
        <p:spPr>
          <a:xfrm>
            <a:off x="685800" y="6238951"/>
            <a:ext cx="571500" cy="190195"/>
          </a:xfrm>
          <a:prstGeom prst="rect">
            <a:avLst/>
          </a:prstGeom>
        </p:spPr>
      </p:pic>
      <p:sp>
        <p:nvSpPr>
          <p:cNvPr id="12" name="Text 9"/>
          <p:cNvSpPr txBox="1"/>
          <p:nvPr/>
        </p:nvSpPr>
        <p:spPr>
          <a:xfrm>
            <a:off x="10668305" y="6238951"/>
            <a:ext cx="838505" cy="190195"/>
          </a:xfrm>
          <a:prstGeom prst="rect">
            <a:avLst/>
          </a:prstGeom>
          <a:noFill/>
          <a:ln/>
        </p:spPr>
        <p:txBody>
          <a:bodyPr wrap="square" lIns="0" tIns="0" rIns="0" bIns="0" rtlCol="0" anchor="ctr"/>
          <a:lstStyle/>
          <a:p>
            <a:pPr algn="r" indent="0" marL="0">
              <a:buNone/>
            </a:pPr>
            <a:r>
              <a:rPr lang="en-US" sz="950" b="1" dirty="0">
                <a:solidFill>
                  <a:srgbClr val="8A8F98"/>
                </a:solidFill>
                <a:latin typeface="Arial" pitchFamily="34" charset="0"/>
                <a:ea typeface="Arial" pitchFamily="34" charset="-122"/>
                <a:cs typeface="Arial"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504749"/>
            <a:ext cx="10820095" cy="190195"/>
          </a:xfrm>
          <a:prstGeom prst="rect">
            <a:avLst/>
          </a:prstGeom>
          <a:noFill/>
          <a:ln/>
        </p:spPr>
        <p:txBody>
          <a:bodyPr wrap="square" lIns="0" tIns="0" rIns="0" bIns="0" rtlCol="0" anchor="ctr"/>
          <a:lstStyle/>
          <a:p>
            <a:pPr indent="0" marL="0">
              <a:buNone/>
            </a:pPr>
            <a:r>
              <a:rPr lang="en-US" sz="950" b="1" spc="300" kern="0" dirty="0">
                <a:solidFill>
                  <a:srgbClr val="54D2FE"/>
                </a:solidFill>
                <a:latin typeface="Arial" pitchFamily="34" charset="0"/>
                <a:ea typeface="Arial" pitchFamily="34" charset="-122"/>
                <a:cs typeface="Arial" pitchFamily="34" charset="-120"/>
              </a:rPr>
              <a:t>NEXT STEP</a:t>
            </a:r>
            <a:endParaRPr lang="en-US" sz="950" dirty="0"/>
          </a:p>
        </p:txBody>
      </p:sp>
      <p:sp>
        <p:nvSpPr>
          <p:cNvPr id="3" name="Text 1"/>
          <p:cNvSpPr txBox="1"/>
          <p:nvPr/>
        </p:nvSpPr>
        <p:spPr>
          <a:xfrm>
            <a:off x="685800" y="800100"/>
            <a:ext cx="10820095" cy="1809598"/>
          </a:xfrm>
          <a:prstGeom prst="rect">
            <a:avLst/>
          </a:prstGeom>
          <a:noFill/>
          <a:ln/>
        </p:spPr>
        <p:txBody>
          <a:bodyPr wrap="square" lIns="0" tIns="0" rIns="0" bIns="0" rtlCol="0" anchor="t"/>
          <a:lstStyle/>
          <a:p>
            <a:pPr indent="0" marL="0">
              <a:lnSpc>
                <a:spcPts val="4200"/>
              </a:lnSpc>
              <a:buNone/>
            </a:pPr>
            <a:r>
              <a:rPr lang="en-US" sz="3400" b="1" dirty="0">
                <a:solidFill>
                  <a:srgbClr val="FFFFFF"/>
                </a:solidFill>
                <a:latin typeface="Arial" pitchFamily="34" charset="0"/>
                <a:ea typeface="Arial" pitchFamily="34" charset="-122"/>
                <a:cs typeface="Arial" pitchFamily="34" charset="-120"/>
              </a:rPr>
              <a:t>The first conversation is about what cannot be done twice.</a:t>
            </a:r>
            <a:endParaRPr lang="en-US" sz="3400" dirty="0"/>
          </a:p>
        </p:txBody>
      </p:sp>
      <p:sp>
        <p:nvSpPr>
          <p:cNvPr id="4" name="Shape 2"/>
          <p:cNvSpPr/>
          <p:nvPr/>
        </p:nvSpPr>
        <p:spPr>
          <a:xfrm>
            <a:off x="685800" y="3619195"/>
            <a:ext cx="10820095" cy="1428293"/>
          </a:xfrm>
          <a:prstGeom prst="roundRect">
            <a:avLst>
              <a:gd name="adj" fmla="val 6658"/>
            </a:avLst>
          </a:prstGeom>
          <a:solidFill>
            <a:srgbClr val="111111"/>
          </a:solidFill>
          <a:ln/>
        </p:spPr>
      </p:sp>
      <p:sp>
        <p:nvSpPr>
          <p:cNvPr id="5" name="Text 3"/>
          <p:cNvSpPr txBox="1"/>
          <p:nvPr/>
        </p:nvSpPr>
        <p:spPr>
          <a:xfrm>
            <a:off x="1067105" y="3886200"/>
            <a:ext cx="4762195" cy="285293"/>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[NAME], [TITLE]</a:t>
            </a:r>
            <a:endParaRPr lang="en-US" sz="1400" dirty="0"/>
          </a:p>
        </p:txBody>
      </p:sp>
      <p:sp>
        <p:nvSpPr>
          <p:cNvPr id="6" name="Text 4"/>
          <p:cNvSpPr txBox="1"/>
          <p:nvPr/>
        </p:nvSpPr>
        <p:spPr>
          <a:xfrm>
            <a:off x="1067105" y="4229100"/>
            <a:ext cx="4762195" cy="267005"/>
          </a:xfrm>
          <a:prstGeom prst="rect">
            <a:avLst/>
          </a:prstGeom>
          <a:noFill/>
          <a:ln/>
        </p:spPr>
        <p:txBody>
          <a:bodyPr wrap="square" lIns="0" tIns="0" rIns="0" bIns="0" rtlCol="0" anchor="ctr"/>
          <a:lstStyle/>
          <a:p>
            <a:pPr indent="0" marL="0">
              <a:buNone/>
            </a:pPr>
            <a:r>
              <a:rPr lang="en-US" sz="1150" dirty="0">
                <a:solidFill>
                  <a:srgbClr val="C9CED4"/>
                </a:solidFill>
                <a:latin typeface="Arial" pitchFamily="34" charset="0"/>
                <a:ea typeface="Arial" pitchFamily="34" charset="-122"/>
                <a:cs typeface="Arial" pitchFamily="34" charset="-120"/>
              </a:rPr>
              <a:t>[EMAIL]  ·  [PHONE]</a:t>
            </a:r>
            <a:endParaRPr lang="en-US" sz="1150" dirty="0"/>
          </a:p>
        </p:txBody>
      </p:sp>
      <p:sp>
        <p:nvSpPr>
          <p:cNvPr id="7" name="Text 5"/>
          <p:cNvSpPr txBox="1"/>
          <p:nvPr/>
        </p:nvSpPr>
        <p:spPr>
          <a:xfrm>
            <a:off x="1067105" y="4552798"/>
            <a:ext cx="4762195" cy="267005"/>
          </a:xfrm>
          <a:prstGeom prst="rect">
            <a:avLst/>
          </a:prstGeom>
          <a:noFill/>
          <a:ln/>
        </p:spPr>
        <p:txBody>
          <a:bodyPr wrap="square" lIns="0" tIns="0" rIns="0" bIns="0" rtlCol="0" anchor="ctr"/>
          <a:lstStyle/>
          <a:p>
            <a:pPr indent="0" marL="0">
              <a:buNone/>
            </a:pPr>
            <a:r>
              <a:rPr lang="en-US" sz="1150" dirty="0">
                <a:solidFill>
                  <a:srgbClr val="6E7379"/>
                </a:solidFill>
                <a:latin typeface="Arial" pitchFamily="34" charset="0"/>
                <a:ea typeface="Arial" pitchFamily="34" charset="-122"/>
                <a:cs typeface="Arial" pitchFamily="34" charset="-120"/>
              </a:rPr>
              <a:t>eov.ae  ·  Abu Dhabi  ·  Dubai</a:t>
            </a:r>
            <a:endParaRPr lang="en-US" sz="1150" dirty="0"/>
          </a:p>
        </p:txBody>
      </p:sp>
      <p:pic>
        <p:nvPicPr>
          <p:cNvPr id="8" name="Image 0" descr="assets/eov-wordmark-white.png">    </p:cNvPr>
          <p:cNvPicPr>
            <a:picLocks noChangeAspect="1"/>
          </p:cNvPicPr>
          <p:nvPr/>
        </p:nvPicPr>
        <p:blipFill>
          <a:blip r:embed="rId1"/>
          <a:stretch>
            <a:fillRect/>
          </a:stretch>
        </p:blipFill>
        <p:spPr>
          <a:xfrm>
            <a:off x="8953805" y="4095598"/>
            <a:ext cx="1904695" cy="638251"/>
          </a:xfrm>
          <a:prstGeom prst="rect">
            <a:avLst/>
          </a:prstGeom>
        </p:spPr>
      </p:pic>
      <p:sp>
        <p:nvSpPr>
          <p:cNvPr id="9" name="Text 6"/>
          <p:cNvSpPr txBox="1"/>
          <p:nvPr/>
        </p:nvSpPr>
        <p:spPr>
          <a:xfrm>
            <a:off x="685800" y="6238951"/>
            <a:ext cx="10820095" cy="190195"/>
          </a:xfrm>
          <a:prstGeom prst="rect">
            <a:avLst/>
          </a:prstGeom>
          <a:noFill/>
          <a:ln/>
        </p:spPr>
        <p:txBody>
          <a:bodyPr wrap="square" lIns="0" tIns="0" rIns="0" bIns="0" rtlCol="0" anchor="ctr"/>
          <a:lstStyle/>
          <a:p>
            <a:pPr indent="0" marL="0">
              <a:buNone/>
            </a:pPr>
            <a:r>
              <a:rPr lang="en-US" sz="950" dirty="0">
                <a:solidFill>
                  <a:srgbClr val="6E7379"/>
                </a:solidFill>
                <a:latin typeface="Arial" pitchFamily="34" charset="0"/>
                <a:ea typeface="Arial" pitchFamily="34" charset="-122"/>
                <a:cs typeface="Arial" pitchFamily="34" charset="-120"/>
              </a:rPr>
              <a:t>EOV Technology Innovation  ·  Commercial-in-confidence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EOV Technology Innovation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EOV Credentials</dc:title>
  <dc:subject>PptxGenJS Presentation</dc:subject>
  <dc:creator>EOV</dc:creator>
  <cp:lastModifiedBy>EOV</cp:lastModifiedBy>
  <cp:revision>1</cp:revision>
  <dcterms:created xsi:type="dcterms:W3CDTF">2026-09-02T10:53:12Z</dcterms:created>
  <dcterms:modified xsi:type="dcterms:W3CDTF">2026-09-02T10:53:12Z</dcterms:modified>
</cp:coreProperties>
</file>